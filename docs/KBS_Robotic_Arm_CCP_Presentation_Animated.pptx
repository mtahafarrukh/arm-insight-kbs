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e506e87-794e-c083-854c-a6f56e846c61}">
          <p14:sldIdLst>
            <p14:sldId id="256"/>
          </p14:sldIdLst>
        </p14:section>
        <p14:section name="Problem" id="{c87ed5f3-0000-364f-23d2-1c8f0326b561}">
          <p14:sldIdLst>
            <p14:sldId id="257"/>
            <p14:sldId id="258"/>
          </p14:sldIdLst>
        </p14:section>
        <p14:section name="Knowledge and inference" id="{badbc0d1-812e-0f54-d61c-7881b0335080}">
          <p14:sldIdLst>
            <p14:sldId id="259"/>
            <p14:sldId id="260"/>
            <p14:sldId id="261"/>
            <p14:sldId id="262"/>
          </p14:sldIdLst>
        </p14:section>
        <p14:section name="Data and ETL" id="{7509f321-0c02-14f9-c39b-7d8bed97cac2}">
          <p14:sldIdLst>
            <p14:sldId id="263"/>
            <p14:sldId id="264"/>
          </p14:sldIdLst>
        </p14:section>
        <p14:section name="System" id="{4bab07ec-89cd-3ddc-27f0-42cd436e9978}">
          <p14:sldIdLst>
            <p14:sldId id="265"/>
            <p14:sldId id="266"/>
            <p14:sldId id="267"/>
          </p14:sldIdLst>
        </p14:section>
        <p14:section name="Evaluation" id="{e343f88f-8a5b-8d65-3638-eac9172e68d9}">
          <p14:sldIdLst>
            <p14:sldId id="268"/>
            <p14:sldId id="269"/>
            <p14:sldId id="270"/>
          </p14:sldIdLst>
        </p14:section>
        <p14:section name="Wrap-up" id="{5e459fdf-385a-dc18-242f-2e85efb8446e}">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0B1F33"/>
                </a:solidFill>
                <a:latin typeface="+mn-lt"/>
              </a:defRPr>
            </a:pPr>
            <a:r>
              <a:rPr sz="1500" b="0" i="0" u="none" strike="noStrike">
                <a:solidFill>
                  <a:srgbClr val="0B1F33"/>
                </a:solidFill>
                <a:latin typeface="+mn-lt"/>
              </a:rPr>
              <a:t>UCI instances by learning problem (n = 463)</a:t>
            </a:r>
          </a:p>
        </c:rich>
      </c:tx>
      <c:layout/>
      <c:overlay val="0"/>
    </c:title>
    <c:autoTitleDeleted val="0"/>
    <c:plotArea>
      <c:layout/>
      <c:barChart>
        <c:barDir val="bar"/>
        <c:grouping val="clustered"/>
        <c:varyColors val="0"/>
        <c:ser>
          <c:idx val="0"/>
          <c:order val="0"/>
          <c:tx>
            <c:strRef>
              <c:f>Sheet1!$B$1</c:f>
              <c:strCache>
                <c:ptCount val="1"/>
                <c:pt idx="0">
                  <c:v>Instances</c:v>
                </c:pt>
              </c:strCache>
            </c:strRef>
          </c:tx>
          <c:spPr>
            <a:solidFill>
              <a:srgbClr val="12A398"/>
            </a:solidFill>
            <a:effectLst/>
          </c:spPr>
          <c:invertIfNegative val="0"/>
          <c:dLbls>
            <c:numFmt formatCode="#,##0" sourceLinked="0"/>
            <c:txPr>
              <a:bodyPr/>
              <a:lstStyle/>
              <a:p>
                <a:pPr>
                  <a:defRPr b="0" i="0" strike="noStrike" sz="1300" u="none">
                    <a:solidFill>
                      <a:srgbClr val="0B1F33"/>
                    </a:solidFill>
                    <a:latin typeface="+mn-lt"/>
                  </a:defRPr>
                </a:pPr>
              </a:p>
            </c:txPr>
            <c:showLegendKey val="0"/>
            <c:showVal val="1"/>
            <c:showCatName val="0"/>
            <c:showSerName val="0"/>
            <c:showPercent val="0"/>
            <c:showBubbleSize val="0"/>
            <c:showLeaderLines val="0"/>
          </c:dLbls>
          <c:cat>
            <c:multiLvlStrRef>
              <c:f>Sheet1!$A$2:$A$6</c:f>
              <c:multiLvlStrCache>
                <c:ptCount val="5"/>
                <c:lvl>
                  <c:pt idx="0">
                    <c:v>LP1 grasp approach</c:v>
                  </c:pt>
                  <c:pt idx="1">
                    <c:v>LP2 transfer</c:v>
                  </c:pt>
                  <c:pt idx="2">
                    <c:v>LP3 part position</c:v>
                  </c:pt>
                  <c:pt idx="3">
                    <c:v>LP4 ungrasp approach</c:v>
                  </c:pt>
                  <c:pt idx="4">
                    <c:v>LP5 motion with part</c:v>
                  </c:pt>
                </c:lvl>
              </c:multiLvlStrCache>
            </c:multiLvlStrRef>
          </c:cat>
          <c:val>
            <c:numRef>
              <c:f>Sheet1!$B$2:$B$6</c:f>
              <c:numCache>
                <c:formatCode>General</c:formatCode>
                <c:ptCount val="5"/>
                <c:pt idx="0">
                  <c:v>88</c:v>
                </c:pt>
                <c:pt idx="1">
                  <c:v>47</c:v>
                </c:pt>
                <c:pt idx="2">
                  <c:v>47</c:v>
                </c:pt>
                <c:pt idx="3">
                  <c:v>117</c:v>
                </c:pt>
                <c:pt idx="4">
                  <c:v>164</c:v>
                </c:pt>
              </c:numCache>
            </c:numRef>
          </c:val>
        </c:ser>
        <c:dLbls>
          <c:numFmt formatCode="#,##0" sourceLinked="0"/>
          <c:txPr>
            <a:bodyPr/>
            <a:lstStyle/>
            <a:p>
              <a:pPr>
                <a:defRPr b="0" i="0" strike="noStrike" sz="1300" u="none">
                  <a:solidFill>
                    <a:srgbClr val="0B1F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B1F33"/>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DCE4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B7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Checks</c:v>
                </c:pt>
              </c:strCache>
            </c:strRef>
          </c:tx>
          <c:spPr>
            <a:solidFill>
              <a:schemeClr val="accent1"/>
            </a:solidFill>
            <a:ln w="9525" cap="flat">
              <a:solidFill>
                <a:srgbClr val="F9F9F9"/>
              </a:solidFill>
              <a:prstDash val="solid"/>
              <a:round/>
            </a:ln>
            <a:effectLst/>
          </c:spPr>
          <c:dPt>
            <c:idx val="0"/>
            <c:bubble3D val="0"/>
            <c:spPr>
              <a:solidFill>
                <a:srgbClr val="12A398"/>
              </a:solidFill>
              <a:effectLst/>
            </c:spPr>
          </c:dPt>
          <c:dPt>
            <c:idx val="1"/>
            <c:bubble3D val="0"/>
            <c:spPr>
              <a:solidFill>
                <a:srgbClr val="3B82C4"/>
              </a:solidFill>
              <a:effectLst/>
            </c:spPr>
          </c:dPt>
          <c:dPt>
            <c:idx val="2"/>
            <c:bubble3D val="0"/>
            <c:spPr>
              <a:solidFill>
                <a:srgbClr val="F2B84B"/>
              </a:solidFill>
              <a:effectLst/>
            </c:spPr>
          </c:dPt>
          <c:dLbls>
            <c:dLbl>
              <c:idx val="0"/>
              <c:numFmt formatCode="General" sourceLinked="0"/>
              <c:spPr/>
              <c:txPr>
                <a:bodyPr/>
                <a:lstStyle/>
                <a:p>
                  <a:pPr>
                    <a:defRPr sz="1100" b="0" i="0" u="none" strike="noStrike">
                      <a:solidFill>
                        <a:srgbClr val="FFFFFF"/>
                      </a:solidFill>
                      <a:latin typeface="+mn-lt"/>
                    </a:defRPr>
                  </a:pPr>
                </a:p>
              </c:txPr>
              <c:showLegendKey val="0"/>
              <c:showVal val="1"/>
              <c:showCatName val="0"/>
              <c:showSerName val="0"/>
              <c:showPercent val="0"/>
              <c:showBubbleSize val="0"/>
            </c:dLbl>
            <c:dLbl>
              <c:idx val="1"/>
              <c:numFmt formatCode="General" sourceLinked="0"/>
              <c:spPr/>
              <c:txPr>
                <a:bodyPr/>
                <a:lstStyle/>
                <a:p>
                  <a:pPr>
                    <a:defRPr sz="1100" b="0" i="0" u="none" strike="noStrike">
                      <a:solidFill>
                        <a:srgbClr val="FFFFFF"/>
                      </a:solidFill>
                      <a:latin typeface="+mn-lt"/>
                    </a:defRPr>
                  </a:pPr>
                </a:p>
              </c:txPr>
              <c:showLegendKey val="0"/>
              <c:showVal val="1"/>
              <c:showCatName val="0"/>
              <c:showSerName val="0"/>
              <c:showPercent val="0"/>
              <c:showBubbleSize val="0"/>
            </c:dLbl>
            <c:dLbl>
              <c:idx val="2"/>
              <c:numFmt formatCode="General" sourceLinked="0"/>
              <c:spPr/>
              <c:txPr>
                <a:bodyPr/>
                <a:lstStyle/>
                <a:p>
                  <a:pPr>
                    <a:defRPr sz="1100" b="0" i="0" u="none" strike="noStrike">
                      <a:solidFill>
                        <a:srgbClr val="FFFFFF"/>
                      </a:solidFill>
                      <a:latin typeface="+mn-lt"/>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Inference (test.mjs)</c:v>
                </c:pt>
                <c:pt idx="1">
                  <c:v>State (test-state.mjs)</c:v>
                </c:pt>
                <c:pt idx="2">
                  <c:v>Evidence (test-evidence.mjs)</c:v>
                </c:pt>
              </c:strCache>
            </c:strRef>
          </c:cat>
          <c:val>
            <c:numRef>
              <c:f>Sheet1!$B$2:$B$4</c:f>
              <c:numCache>
                <c:ptCount val="3"/>
                <c:pt idx="0">
                  <c:v>21</c:v>
                </c:pt>
                <c:pt idx="1">
                  <c:v>9</c:v>
                </c:pt>
                <c:pt idx="2">
                  <c:v>7</c:v>
                </c:pt>
              </c:numCache>
            </c:numRef>
          </c:val>
        </c:ser>
        <c:firstSliceAng val="0"/>
        <c:holeSize val="55"/>
      </c:doughnutChart>
      <c:spPr>
        <a:noFill/>
        <a:ln>
          <a:noFill/>
        </a:ln>
        <a:effectLst/>
      </c:spPr>
    </c:plotArea>
    <c:legend>
      <c:legendPos val="r"/>
      <c:overlay val="0"/>
      <c:txPr>
        <a:bodyPr/>
        <a:lstStyle/>
        <a:p>
          <a:pPr>
            <a:defRPr sz="1000">
              <a:solidFill>
                <a:srgbClr val="0B1F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ARM / INSIGHT is a rule-based Knowledge-Based System for robotic-arm fault diagnosis and maintenance decision support. Mention the four team members and that the system is demonstrable live. Source: Knowledge Based Systems CT-359 CCP brief, NED University,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operator needs to see why a hypothesis appeared and what observation is still missing. The system takes manual observations or source-tagged claims and outputs supported, possible, contradicted or conflicted hypotheses. Boundary: academic screening on a generic arm, no automated control. The three CLOs frame the whole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stakeholders pull in different directions. Safety officers need hazard escalation that cannot be skipped; supervisors want lower downtime and cost; technicians need auditable hypotheses. The four conflicts on the right are resolved explicitly in the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 1: the chain Equipment, Component, Symptom, Fault, Cause, Action is encoded as frames (structure) and production rules (logic). Observations take four states: yes, no, unknown, conflict. The knowledge base stays inspectable and editable for the demonstration. Concepts follow Universal Robots guidance; the exact conjunctions are author-created educational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fault is a frame with component, required conditions, severity, relative cost and downtime. Payload and abnormal-friction concepts follow Universal Robots guidance: https://www.universal-robots.com/articles/ur/robot-care-maintenance/understanding-protective-stops/ . All other conjunctions and all cost / downtime labels are author-created educational attributes.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 3: forward chaining fits the question "given these observations, what fires?". Observations are the initial facts; every satisfied rule adds a conclusion and an action to the trace. Status per rule: Supported when all conditions are Yes; Possible when some are Yes and none is No or Conflict; Conflicted when a condition is Conflict; Contradicted when any condition is No; Unassessed when nothing is Yes. Source: Universal Robots C162 documentation discusses an incorrect payload centre of gravity as a possible cause of a protective stop: https://www.universal-robots.com/manuals/EN/HTML/SW5_19/Content/prod-err-codes/topics/CODE_162.html . This is an illustrative rule, not model-specific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one source says Yes and another says No for the same symptom, the merged state is Conflict. A conflicted symptom cannot support a rule, so the hypothesis becomes Conflicted until a qualified person verifies the source. Both source records are preserved.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ETL is a must-have component. The authentic source is the UCI Robot Execution Failures dataset (DOI 10.24432/C5M89N, CC BY 4.0): force and torque samples after a failure is detected, five learning problems LP1 to LP5, 463 instances. Cleaning removed 4 extreme outliers and 8 duplicates, leaving 451 sensor rows. The knowledge-map step turns failure classes into KB symptom evidence (785 rows) so that rule-based prediction can run on 5 asset cases. Honesty note: UCI does not use our exact symptom strings, so the mapping is explicit and documented.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distribution of the 463 UCI instances over the five learning problems. LP5 (failures in motion with part) is the biggest at 164. Right: the noise-removed table — 4 extreme sensor outliers and 8 duplicates; the other drop reasons were zero. Evaluation-lab results measure software behaviour on authored scenarios, not UCI classification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knowledge and inference layers are independent of the user interface and are exercised directly by the Node regression tests. Presentation: six browser screens. Inference and evidence: engine.mjs, evidence.mjs, state.mjs. Knowledge: knowledge_base.json and sample cases. Data/ETL: raw UCI files, pandas notebook, cleaned outputs. Persistence and deployment: localStorage, optional Supabase, Vercel.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four-step workflow. The app runs locally through a small static-file server (serve.py) and is also hosted on Vercel at https://arm-insight-kbs-dist.vercel.app/ . Case data stays in browser storage; Supabase sync is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supported-fault view for the payload scenario: protective_stop = Yes and payload_mismatch = Yes fire the payload rule. The panel shows status and coverage (not a probability), the cause, a qualified maintenance action and a four-step reasoning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13 authored evaluation scenarios match the expected supported-fault sets; the three Node suites add 37 checks in total (21 inference/sample checks, 9 workspace/rule validation checks, 7 evidence-source tests). These counts are executable local regression checks, not an estimate of diagnostic accuracy. Test commands and scenarios are included in the source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against accuracy, explainability, safety, cost and system requirements. Forward chaining over explicit AND rules maximises explainability, handles incomplete and conflicting evidence conservatively and needs no unavailable probabilistic data. The cited UR references support selected protective-stop examples, not the whole generic rule base: https://www.universal-robots.com/manuals/EN/PDF/SW5_24/service-manual_e-series/e-Series_Service_Manual_en.pdf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in the viva: this proves software and KBS behaviour, not validated plant accuracy. A qualified engineer must approve any real maintenance action. Future work: bind to a specific robot model, collect expert-labelled incidents, import alarms, add authentication and audit logs, optionally add an ontology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order: 1) Dataset and ETL page — cite UCI, show cleaning, batch predict. 2) Load the payload scenario and open the reasoning timeline. 3) Add opposing source claims to show Conflict. 4) Run the evaluation lab, 13/13. Optionally show Supabase sync. Close with the honesty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ARM / INSIGHT demonstrates a transparent KBS for robotic-arm fault diagnosis. CLO 1 knowledge representation, CLO 2 analysis of incomplete stakeholder requirements, CLO 3 justified forward-chaining inference with conflict handling and explanations. Real deployment would need model-specific knowledge acquisition and independent validation.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external datasets, knowledge sources, libraries and tools used in the project are cited.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19088"/>
            <a:ext cx="4572000" cy="274320"/>
          </a:xfrm>
          <a:prstGeom prst="rect">
            <a:avLst/>
          </a:prstGeom>
          <a:noFill/>
          <a:ln/>
        </p:spPr>
        <p:txBody>
          <a:bodyPr wrap="square" lIns="0" tIns="0" rIns="0" bIns="0" rtlCol="0" anchor="ctr"/>
          <a:lstStyle/>
          <a:p>
            <a:pPr indent="0" marL="0">
              <a:buNone/>
            </a:pPr>
            <a:r>
              <a:rPr lang="en-US" sz="1000" spc="200" kern="0" dirty="0">
                <a:solidFill>
                  <a:srgbClr val="5B6B7C"/>
                </a:solidFill>
              </a:rPr>
              <a:t>KBS CT-359  /  ARM INSIGHT</a:t>
            </a:r>
            <a:endParaRPr lang="en-US" sz="1000" dirty="0"/>
          </a:p>
        </p:txBody>
      </p:sp>
      <p:sp>
        <p:nvSpPr>
          <p:cNvPr id="3" name="Text 1"/>
          <p:cNvSpPr/>
          <p:nvPr>
            <p:ph idx="101" type="title" hasCustomPrompt="1"/>
          </p:nvPr>
        </p:nvSpPr>
        <p:spPr>
          <a:xfrm>
            <a:off x="548640" y="365760"/>
            <a:ext cx="11064240" cy="77724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6419088"/>
            <a:ext cx="4572000" cy="274320"/>
          </a:xfrm>
          <a:prstGeom prst="rect">
            <a:avLst/>
          </a:prstGeom>
          <a:noFill/>
          <a:ln/>
        </p:spPr>
        <p:txBody>
          <a:bodyPr wrap="square" lIns="0" tIns="0" rIns="0" bIns="0" rtlCol="0" anchor="ctr"/>
          <a:lstStyle/>
          <a:p>
            <a:pPr indent="0" marL="0">
              <a:buNone/>
            </a:pPr>
            <a:r>
              <a:rPr lang="en-US" sz="1000" spc="200" kern="0" dirty="0">
                <a:solidFill>
                  <a:srgbClr val="A9BCCF"/>
                </a:solidFill>
              </a:rPr>
              <a:t>KBS CT-359  /  ARM INSIGHT</a:t>
            </a:r>
            <a:endParaRPr lang="en-US" sz="1000" dirty="0"/>
          </a:p>
        </p:txBody>
      </p:sp>
      <p:sp>
        <p:nvSpPr>
          <p:cNvPr id="3" name="Text 1"/>
          <p:cNvSpPr/>
          <p:nvPr>
            <p:ph idx="101" type="title" hasCustomPrompt="1"/>
          </p:nvPr>
        </p:nvSpPr>
        <p:spPr>
          <a:xfrm>
            <a:off x="548640" y="365760"/>
            <a:ext cx="11064240" cy="77724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CCF"/>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jp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3-1.jp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glow"/>
          <p:cNvSpPr/>
          <p:nvPr/>
        </p:nvSpPr>
        <p:spPr>
          <a:xfrm>
            <a:off x="6446520" y="777240"/>
            <a:ext cx="5303520" cy="5303520"/>
          </a:xfrm>
          <a:prstGeom prst="ellipse">
            <a:avLst/>
          </a:prstGeom>
          <a:solidFill>
            <a:schemeClr val="accent1">
              <a:alpha val="12000"/>
            </a:schemeClr>
          </a:solidFill>
          <a:ln w="12700">
            <a:solidFill>
              <a:schemeClr val="accent1">
                <a:alpha val="0"/>
              </a:schemeClr>
            </a:solidFill>
            <a:prstDash val="solid"/>
          </a:ln>
        </p:spPr>
      </p:sp>
      <p:sp>
        <p:nvSpPr>
          <p:cNvPr id="4" name="ring"/>
          <p:cNvSpPr/>
          <p:nvPr/>
        </p:nvSpPr>
        <p:spPr>
          <a:xfrm>
            <a:off x="6309360" y="640080"/>
            <a:ext cx="5577840" cy="5577840"/>
          </a:xfrm>
          <a:prstGeom prst="ellipse">
            <a:avLst/>
          </a:prstGeom>
          <a:solidFill>
            <a:schemeClr val="tx1">
              <a:alpha val="0"/>
            </a:schemeClr>
          </a:solidFill>
          <a:ln w="15875">
            <a:solidFill>
              <a:schemeClr val="accent1">
                <a:alpha val="65000"/>
              </a:schemeClr>
            </a:solidFill>
            <a:prstDash val="dash"/>
          </a:ln>
        </p:spPr>
      </p:sp>
      <p:sp>
        <p:nvSpPr>
          <p:cNvPr id="5" name="ring2"/>
          <p:cNvSpPr/>
          <p:nvPr/>
        </p:nvSpPr>
        <p:spPr>
          <a:xfrm>
            <a:off x="6702552" y="1033272"/>
            <a:ext cx="4791456" cy="4791456"/>
          </a:xfrm>
          <a:prstGeom prst="ellipse">
            <a:avLst/>
          </a:prstGeom>
          <a:solidFill>
            <a:schemeClr val="tx1">
              <a:alpha val="0"/>
            </a:schemeClr>
          </a:solidFill>
          <a:ln w="12700">
            <a:solidFill>
              <a:schemeClr val="accent2">
                <a:alpha val="60000"/>
              </a:schemeClr>
            </a:solidFill>
            <a:prstDash val="sysDot"/>
          </a:ln>
        </p:spPr>
      </p:sp>
      <p:pic>
        <p:nvPicPr>
          <p:cNvPr id="6" name="armimg" descr="Robotic arm component map from the ARM / INSIGHT application">    </p:cNvPr>
          <p:cNvPicPr>
            <a:picLocks noChangeAspect="1"/>
          </p:cNvPicPr>
          <p:nvPr/>
        </p:nvPicPr>
        <p:blipFill>
          <a:blip r:embed="rId1"/>
          <a:stretch>
            <a:fillRect/>
          </a:stretch>
        </p:blipFill>
        <p:spPr>
          <a:xfrm>
            <a:off x="6858000" y="1948815"/>
            <a:ext cx="4480560" cy="2960370"/>
          </a:xfrm>
          <a:prstGeom prst="rect">
            <a:avLst/>
          </a:prstGeom>
        </p:spPr>
      </p:pic>
      <p:sp>
        <p:nvSpPr>
          <p:cNvPr id="7" name="orb_1_1"/>
          <p:cNvSpPr/>
          <p:nvPr/>
        </p:nvSpPr>
        <p:spPr>
          <a:xfrm>
            <a:off x="8979408" y="521208"/>
            <a:ext cx="237744" cy="237744"/>
          </a:xfrm>
          <a:prstGeom prst="ellipse">
            <a:avLst/>
          </a:prstGeom>
          <a:solidFill>
            <a:schemeClr val="accent2"/>
          </a:solidFill>
          <a:ln w="12700">
            <a:solidFill>
              <a:schemeClr val="accent2"/>
            </a:solidFill>
            <a:prstDash val="solid"/>
          </a:ln>
        </p:spPr>
      </p:sp>
      <p:sp>
        <p:nvSpPr>
          <p:cNvPr id="8" name="orb_1_2"/>
          <p:cNvSpPr/>
          <p:nvPr/>
        </p:nvSpPr>
        <p:spPr>
          <a:xfrm>
            <a:off x="9015984" y="557784"/>
            <a:ext cx="164592" cy="164592"/>
          </a:xfrm>
          <a:prstGeom prst="ellipse">
            <a:avLst/>
          </a:prstGeom>
          <a:solidFill>
            <a:schemeClr val="accent1"/>
          </a:solidFill>
          <a:ln w="12700">
            <a:solidFill>
              <a:schemeClr val="accent1"/>
            </a:solidFill>
            <a:prstDash val="solid"/>
          </a:ln>
        </p:spPr>
      </p:sp>
      <p:sp>
        <p:nvSpPr>
          <p:cNvPr id="9" name="orb_1_3"/>
          <p:cNvSpPr/>
          <p:nvPr/>
        </p:nvSpPr>
        <p:spPr>
          <a:xfrm>
            <a:off x="9006840" y="941832"/>
            <a:ext cx="182880" cy="182880"/>
          </a:xfrm>
          <a:prstGeom prst="ellipse">
            <a:avLst/>
          </a:prstGeom>
          <a:solidFill>
            <a:schemeClr val="bg1"/>
          </a:solidFill>
          <a:ln w="12700">
            <a:solidFill>
              <a:schemeClr val="bg1"/>
            </a:solidFill>
            <a:prstDash val="solid"/>
          </a:ln>
        </p:spPr>
      </p:sp>
      <p:sp>
        <p:nvSpPr>
          <p:cNvPr id="10" name="text_1_4"/>
          <p:cNvSpPr txBox="1"/>
          <p:nvPr/>
        </p:nvSpPr>
        <p:spPr>
          <a:xfrm>
            <a:off x="640080" y="685800"/>
            <a:ext cx="6400800" cy="320040"/>
          </a:xfrm>
          <a:prstGeom prst="rect">
            <a:avLst/>
          </a:prstGeom>
          <a:noFill/>
          <a:ln/>
        </p:spPr>
        <p:txBody>
          <a:bodyPr wrap="square" lIns="0" tIns="0" rIns="0" bIns="0" rtlCol="0" anchor="ctr"/>
          <a:lstStyle/>
          <a:p>
            <a:pPr indent="0" marL="0">
              <a:buNone/>
            </a:pPr>
            <a:r>
              <a:rPr lang="en-US" sz="1400" b="1" spc="300" kern="0" dirty="0">
                <a:solidFill>
                  <a:schemeClr val="accent2"/>
                </a:solidFill>
              </a:rPr>
              <a:t>KNOWLEDGE-BASED SYSTEMS  ·  CT-359  ·  CCP</a:t>
            </a:r>
            <a:endParaRPr lang="en-US" sz="1400" dirty="0"/>
          </a:p>
        </p:txBody>
      </p:sp>
      <p:sp>
        <p:nvSpPr>
          <p:cNvPr id="11" name="text_1_5"/>
          <p:cNvSpPr txBox="1"/>
          <p:nvPr/>
        </p:nvSpPr>
        <p:spPr>
          <a:xfrm>
            <a:off x="640080" y="1188720"/>
            <a:ext cx="6583680" cy="2011680"/>
          </a:xfrm>
          <a:prstGeom prst="rect">
            <a:avLst/>
          </a:prstGeom>
          <a:noFill/>
          <a:ln/>
        </p:spPr>
        <p:txBody>
          <a:bodyPr wrap="square" lIns="0" tIns="0" rIns="0" bIns="0" rtlCol="0" anchor="t"/>
          <a:lstStyle/>
          <a:p>
            <a:pPr indent="0" marL="0">
              <a:buNone/>
            </a:pPr>
            <a:r>
              <a:rPr lang="en-US" sz="5400" b="1" dirty="0">
                <a:solidFill>
                  <a:schemeClr val="bg1"/>
                </a:solidFill>
                <a:latin typeface="Cambria" pitchFamily="34" charset="0"/>
                <a:ea typeface="Cambria" pitchFamily="34" charset="-122"/>
                <a:cs typeface="Cambria" pitchFamily="34" charset="-120"/>
              </a:rPr>
              <a:t>Robotic Arm</a:t>
            </a:r>
            <a:endParaRPr lang="en-US" sz="5400" dirty="0"/>
          </a:p>
          <a:p>
            <a:pPr indent="0" marL="0">
              <a:buNone/>
            </a:pPr>
            <a:r>
              <a:rPr lang="en-US" sz="5400" b="1" dirty="0">
                <a:solidFill>
                  <a:schemeClr val="bg1"/>
                </a:solidFill>
                <a:latin typeface="Cambria" pitchFamily="34" charset="0"/>
                <a:ea typeface="Cambria" pitchFamily="34" charset="-122"/>
                <a:cs typeface="Cambria" pitchFamily="34" charset="-120"/>
              </a:rPr>
              <a:t>Fault Diagnosis</a:t>
            </a:r>
            <a:endParaRPr lang="en-US" sz="5400" dirty="0"/>
          </a:p>
        </p:txBody>
      </p:sp>
      <p:sp>
        <p:nvSpPr>
          <p:cNvPr id="12" name="text_1_6"/>
          <p:cNvSpPr txBox="1"/>
          <p:nvPr/>
        </p:nvSpPr>
        <p:spPr>
          <a:xfrm>
            <a:off x="640080" y="3291840"/>
            <a:ext cx="6035040" cy="914400"/>
          </a:xfrm>
          <a:prstGeom prst="rect">
            <a:avLst/>
          </a:prstGeom>
          <a:noFill/>
          <a:ln/>
        </p:spPr>
        <p:txBody>
          <a:bodyPr wrap="square" lIns="0" tIns="0" rIns="0" bIns="0" rtlCol="0" anchor="t"/>
          <a:lstStyle/>
          <a:p>
            <a:pPr indent="0" marL="0">
              <a:buNone/>
            </a:pPr>
            <a:r>
              <a:rPr lang="en-US" sz="1800" b="1" dirty="0">
                <a:solidFill>
                  <a:schemeClr val="accent1"/>
                </a:solidFill>
              </a:rPr>
              <a:t>ARM / INSIGHT</a:t>
            </a:r>
            <a:endParaRPr lang="en-US" sz="1800" dirty="0"/>
          </a:p>
          <a:p>
            <a:pPr indent="0" marL="0">
              <a:buNone/>
            </a:pPr>
            <a:r>
              <a:rPr lang="en-US" sz="1800" dirty="0">
                <a:solidFill>
                  <a:srgbClr val="A9BCCF"/>
                </a:solidFill>
              </a:rPr>
              <a:t>Explainable rule engine · source-aware evidence · maintenance workflow</a:t>
            </a:r>
            <a:endParaRPr lang="en-US" sz="1800" dirty="0"/>
          </a:p>
        </p:txBody>
      </p:sp>
      <p:sp>
        <p:nvSpPr>
          <p:cNvPr id="13" name="shape_1_7"/>
          <p:cNvSpPr/>
          <p:nvPr/>
        </p:nvSpPr>
        <p:spPr>
          <a:xfrm>
            <a:off x="640080" y="4572000"/>
            <a:ext cx="2971800" cy="457200"/>
          </a:xfrm>
          <a:prstGeom prst="roundRect">
            <a:avLst>
              <a:gd name="adj" fmla="val 24000"/>
            </a:avLst>
          </a:prstGeom>
          <a:solidFill>
            <a:schemeClr val="bg1">
              <a:alpha val="9000"/>
            </a:schemeClr>
          </a:solidFill>
          <a:ln w="12700">
            <a:solidFill>
              <a:srgbClr val="FFFFFF">
                <a:alpha val="0"/>
              </a:srgbClr>
            </a:solidFill>
            <a:prstDash val="solid"/>
          </a:ln>
        </p:spPr>
      </p:sp>
      <p:sp>
        <p:nvSpPr>
          <p:cNvPr id="14" name="text_1_8"/>
          <p:cNvSpPr txBox="1"/>
          <p:nvPr/>
        </p:nvSpPr>
        <p:spPr>
          <a:xfrm>
            <a:off x="777240" y="4572000"/>
            <a:ext cx="2743200" cy="457200"/>
          </a:xfrm>
          <a:prstGeom prst="rect">
            <a:avLst/>
          </a:prstGeom>
          <a:noFill/>
          <a:ln/>
        </p:spPr>
        <p:txBody>
          <a:bodyPr wrap="square" lIns="0" tIns="0" rIns="0" bIns="0" rtlCol="0" anchor="ctr"/>
          <a:lstStyle/>
          <a:p>
            <a:pPr indent="0" marL="0">
              <a:buNone/>
            </a:pPr>
            <a:r>
              <a:rPr lang="en-US" sz="1400" b="1" dirty="0">
                <a:solidFill>
                  <a:schemeClr val="bg1"/>
                </a:solidFill>
              </a:rPr>
              <a:t>Saad Ali</a:t>
            </a:r>
            <a:pPr indent="0" marL="0">
              <a:buNone/>
            </a:pPr>
            <a:r>
              <a:rPr lang="en-US" sz="1200" dirty="0">
                <a:solidFill>
                  <a:schemeClr val="accent2"/>
                </a:solidFill>
              </a:rPr>
              <a:t>   CT-24221</a:t>
            </a:r>
            <a:endParaRPr lang="en-US" sz="1400" dirty="0"/>
          </a:p>
        </p:txBody>
      </p:sp>
      <p:sp>
        <p:nvSpPr>
          <p:cNvPr id="15" name="shape_1_9"/>
          <p:cNvSpPr/>
          <p:nvPr/>
        </p:nvSpPr>
        <p:spPr>
          <a:xfrm>
            <a:off x="3749040" y="4572000"/>
            <a:ext cx="2971800" cy="457200"/>
          </a:xfrm>
          <a:prstGeom prst="roundRect">
            <a:avLst>
              <a:gd name="adj" fmla="val 24000"/>
            </a:avLst>
          </a:prstGeom>
          <a:solidFill>
            <a:schemeClr val="bg1">
              <a:alpha val="9000"/>
            </a:schemeClr>
          </a:solidFill>
          <a:ln w="12700">
            <a:solidFill>
              <a:srgbClr val="FFFFFF">
                <a:alpha val="0"/>
              </a:srgbClr>
            </a:solidFill>
            <a:prstDash val="solid"/>
          </a:ln>
        </p:spPr>
      </p:sp>
      <p:sp>
        <p:nvSpPr>
          <p:cNvPr id="16" name="text_1_10"/>
          <p:cNvSpPr txBox="1"/>
          <p:nvPr/>
        </p:nvSpPr>
        <p:spPr>
          <a:xfrm>
            <a:off x="3886200" y="4572000"/>
            <a:ext cx="2743200" cy="457200"/>
          </a:xfrm>
          <a:prstGeom prst="rect">
            <a:avLst/>
          </a:prstGeom>
          <a:noFill/>
          <a:ln/>
        </p:spPr>
        <p:txBody>
          <a:bodyPr wrap="square" lIns="0" tIns="0" rIns="0" bIns="0" rtlCol="0" anchor="ctr"/>
          <a:lstStyle/>
          <a:p>
            <a:pPr indent="0" marL="0">
              <a:buNone/>
            </a:pPr>
            <a:r>
              <a:rPr lang="en-US" sz="1400" b="1" dirty="0">
                <a:solidFill>
                  <a:schemeClr val="bg1"/>
                </a:solidFill>
              </a:rPr>
              <a:t>Muhammad Taha Farrukh</a:t>
            </a:r>
            <a:pPr indent="0" marL="0">
              <a:buNone/>
            </a:pPr>
            <a:r>
              <a:rPr lang="en-US" sz="1200" dirty="0">
                <a:solidFill>
                  <a:schemeClr val="accent2"/>
                </a:solidFill>
              </a:rPr>
              <a:t>   CT-24224</a:t>
            </a:r>
            <a:endParaRPr lang="en-US" sz="1400" dirty="0"/>
          </a:p>
        </p:txBody>
      </p:sp>
      <p:sp>
        <p:nvSpPr>
          <p:cNvPr id="17" name="shape_1_11"/>
          <p:cNvSpPr/>
          <p:nvPr/>
        </p:nvSpPr>
        <p:spPr>
          <a:xfrm>
            <a:off x="640080" y="5138928"/>
            <a:ext cx="2971800" cy="457200"/>
          </a:xfrm>
          <a:prstGeom prst="roundRect">
            <a:avLst>
              <a:gd name="adj" fmla="val 24000"/>
            </a:avLst>
          </a:prstGeom>
          <a:solidFill>
            <a:schemeClr val="bg1">
              <a:alpha val="9000"/>
            </a:schemeClr>
          </a:solidFill>
          <a:ln w="12700">
            <a:solidFill>
              <a:srgbClr val="FFFFFF">
                <a:alpha val="0"/>
              </a:srgbClr>
            </a:solidFill>
            <a:prstDash val="solid"/>
          </a:ln>
        </p:spPr>
      </p:sp>
      <p:sp>
        <p:nvSpPr>
          <p:cNvPr id="18" name="text_1_12"/>
          <p:cNvSpPr txBox="1"/>
          <p:nvPr/>
        </p:nvSpPr>
        <p:spPr>
          <a:xfrm>
            <a:off x="777240" y="5138928"/>
            <a:ext cx="2743200" cy="457200"/>
          </a:xfrm>
          <a:prstGeom prst="rect">
            <a:avLst/>
          </a:prstGeom>
          <a:noFill/>
          <a:ln/>
        </p:spPr>
        <p:txBody>
          <a:bodyPr wrap="square" lIns="0" tIns="0" rIns="0" bIns="0" rtlCol="0" anchor="ctr"/>
          <a:lstStyle/>
          <a:p>
            <a:pPr indent="0" marL="0">
              <a:buNone/>
            </a:pPr>
            <a:r>
              <a:rPr lang="en-US" sz="1400" b="1" dirty="0">
                <a:solidFill>
                  <a:schemeClr val="bg1"/>
                </a:solidFill>
              </a:rPr>
              <a:t>Uzair Ahmed</a:t>
            </a:r>
            <a:pPr indent="0" marL="0">
              <a:buNone/>
            </a:pPr>
            <a:r>
              <a:rPr lang="en-US" sz="1200" dirty="0">
                <a:solidFill>
                  <a:schemeClr val="accent2"/>
                </a:solidFill>
              </a:rPr>
              <a:t>   CT-24244</a:t>
            </a:r>
            <a:endParaRPr lang="en-US" sz="1400" dirty="0"/>
          </a:p>
        </p:txBody>
      </p:sp>
      <p:sp>
        <p:nvSpPr>
          <p:cNvPr id="19" name="shape_1_13"/>
          <p:cNvSpPr/>
          <p:nvPr/>
        </p:nvSpPr>
        <p:spPr>
          <a:xfrm>
            <a:off x="3749040" y="5138928"/>
            <a:ext cx="2971800" cy="457200"/>
          </a:xfrm>
          <a:prstGeom prst="roundRect">
            <a:avLst>
              <a:gd name="adj" fmla="val 24000"/>
            </a:avLst>
          </a:prstGeom>
          <a:solidFill>
            <a:schemeClr val="bg1">
              <a:alpha val="9000"/>
            </a:schemeClr>
          </a:solidFill>
          <a:ln w="12700">
            <a:solidFill>
              <a:srgbClr val="FFFFFF">
                <a:alpha val="0"/>
              </a:srgbClr>
            </a:solidFill>
            <a:prstDash val="solid"/>
          </a:ln>
        </p:spPr>
      </p:sp>
      <p:sp>
        <p:nvSpPr>
          <p:cNvPr id="20" name="text_1_14"/>
          <p:cNvSpPr txBox="1"/>
          <p:nvPr/>
        </p:nvSpPr>
        <p:spPr>
          <a:xfrm>
            <a:off x="3886200" y="5138928"/>
            <a:ext cx="2743200" cy="457200"/>
          </a:xfrm>
          <a:prstGeom prst="rect">
            <a:avLst/>
          </a:prstGeom>
          <a:noFill/>
          <a:ln/>
        </p:spPr>
        <p:txBody>
          <a:bodyPr wrap="square" lIns="0" tIns="0" rIns="0" bIns="0" rtlCol="0" anchor="ctr"/>
          <a:lstStyle/>
          <a:p>
            <a:pPr indent="0" marL="0">
              <a:buNone/>
            </a:pPr>
            <a:r>
              <a:rPr lang="en-US" sz="1400" b="1" dirty="0">
                <a:solidFill>
                  <a:schemeClr val="bg1"/>
                </a:solidFill>
              </a:rPr>
              <a:t>UsaidUllah Qureshi</a:t>
            </a:r>
            <a:pPr indent="0" marL="0">
              <a:buNone/>
            </a:pPr>
            <a:r>
              <a:rPr lang="en-US" sz="1200" dirty="0">
                <a:solidFill>
                  <a:schemeClr val="accent2"/>
                </a:solidFill>
              </a:rPr>
              <a:t>   CT-24227</a:t>
            </a:r>
            <a:endParaRPr lang="en-US" sz="1400" dirty="0"/>
          </a:p>
        </p:txBody>
      </p:sp>
      <p:sp>
        <p:nvSpPr>
          <p:cNvPr id="21" name="text_1_15"/>
          <p:cNvSpPr txBox="1"/>
          <p:nvPr/>
        </p:nvSpPr>
        <p:spPr>
          <a:xfrm>
            <a:off x="640080" y="5989320"/>
            <a:ext cx="7315200" cy="320040"/>
          </a:xfrm>
          <a:prstGeom prst="rect">
            <a:avLst/>
          </a:prstGeom>
          <a:noFill/>
          <a:ln/>
        </p:spPr>
        <p:txBody>
          <a:bodyPr wrap="square" lIns="0" tIns="0" rIns="0" bIns="0" rtlCol="0" anchor="ctr"/>
          <a:lstStyle/>
          <a:p>
            <a:pPr indent="0" marL="0">
              <a:buNone/>
            </a:pPr>
            <a:r>
              <a:rPr lang="en-US" sz="1200" dirty="0">
                <a:solidFill>
                  <a:srgbClr val="A9BCCF"/>
                </a:solidFill>
              </a:rPr>
              <a:t>NED University of Engineering and Technology, Karachi  ·  Computer Science and Information Technology</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16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900"/>
                                        <p:tgtEl>
                                          <p:spTgt spid="3"/>
                                        </p:tgtEl>
                                      </p:cBhvr>
                                    </p:animEffect>
                                  </p:childTnLst>
                                </p:cTn>
                              </p:par>
                              <p:par>
                                <p:cTn id="8" presetID="22" presetClass="entr" presetSubtype="8" fill="hold" nodeType="withEffect">
                                  <p:stCondLst>
                                    <p:cond delay="10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0" dur="500"/>
                                        <p:tgtEl>
                                          <p:spTgt spid="10"/>
                                        </p:tgtEl>
                                      </p:cBhvr>
                                    </p:animEffect>
                                  </p:childTnLst>
                                </p:cTn>
                              </p:par>
                              <p:par>
                                <p:cTn id="11" presetID="10" presetClass="entr" presetSubtype="0" fill="hold" nodeType="withEffect">
                                  <p:stCondLst>
                                    <p:cond delay="2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00"/>
                                        <p:tgtEl>
                                          <p:spTgt spid="4"/>
                                        </p:tgtEl>
                                      </p:cBhvr>
                                    </p:animEffect>
                                  </p:childTnLst>
                                </p:cTn>
                              </p:par>
                              <p:par>
                                <p:cTn id="14" presetID="10" presetClass="entr" presetSubtype="0" fill="hold" nodeType="withEffect">
                                  <p:stCondLst>
                                    <p:cond delay="3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00"/>
                                        <p:tgtEl>
                                          <p:spTgt spid="5"/>
                                        </p:tgtEl>
                                      </p:cBhvr>
                                    </p:animEffect>
                                  </p:childTnLst>
                                </p:cTn>
                              </p:par>
                              <p:par>
                                <p:cTn id="17" presetID="22" presetClass="entr" presetSubtype="8" fill="hold" nodeType="withEffect">
                                  <p:stCondLst>
                                    <p:cond delay="30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700"/>
                                        <p:tgtEl>
                                          <p:spTgt spid="11"/>
                                        </p:tgtEl>
                                      </p:cBhvr>
                                    </p:animEffect>
                                  </p:childTnLst>
                                </p:cTn>
                              </p:par>
                              <p:par>
                                <p:cTn id="20" presetID="53" presetClass="entr" presetSubtype="16" fill="hold" nodeType="withEffect">
                                  <p:stCondLst>
                                    <p:cond delay="500"/>
                                  </p:stCondLst>
                                  <p:childTnLst>
                                    <p:set>
                                      <p:cBhvr>
                                        <p:cTn id="21" dur="1" fill="hold">
                                          <p:stCondLst>
                                            <p:cond delay="0"/>
                                          </p:stCondLst>
                                        </p:cTn>
                                        <p:tgtEl>
                                          <p:spTgt spid="6"/>
                                        </p:tgtEl>
                                        <p:attrNameLst>
                                          <p:attrName>style.visibility</p:attrName>
                                        </p:attrNameLst>
                                      </p:cBhvr>
                                      <p:to>
                                        <p:strVal val="visible"/>
                                      </p:to>
                                    </p:set>
                                    <p:anim calcmode="lin" valueType="num">
                                      <p:cBhvr>
                                        <p:cTn id="22" dur="800" fill="hold"/>
                                        <p:tgtEl>
                                          <p:spTgt spid="6"/>
                                        </p:tgtEl>
                                        <p:attrNameLst>
                                          <p:attrName>ppt_w</p:attrName>
                                        </p:attrNameLst>
                                      </p:cBhvr>
                                      <p:tavLst>
                                        <p:tav tm="0">
                                          <p:val>
                                            <p:fltVal val="0"/>
                                          </p:val>
                                        </p:tav>
                                        <p:tav tm="100000">
                                          <p:val>
                                            <p:strVal val="#ppt_w"/>
                                          </p:val>
                                        </p:tav>
                                      </p:tavLst>
                                    </p:anim>
                                    <p:anim calcmode="lin" valueType="num">
                                      <p:cBhvr>
                                        <p:cTn id="23" dur="800" fill="hold"/>
                                        <p:tgtEl>
                                          <p:spTgt spid="6"/>
                                        </p:tgtEl>
                                        <p:attrNameLst>
                                          <p:attrName>ppt_h</p:attrName>
                                        </p:attrNameLst>
                                      </p:cBhvr>
                                      <p:tavLst>
                                        <p:tav tm="0">
                                          <p:val>
                                            <p:fltVal val="0"/>
                                          </p:val>
                                        </p:tav>
                                        <p:tav tm="100000">
                                          <p:val>
                                            <p:strVal val="#ppt_h"/>
                                          </p:val>
                                        </p:tav>
                                      </p:tavLst>
                                    </p:anim>
                                    <p:animEffect transition="in" filter="fade">
                                      <p:cBhvr>
                                        <p:cTn id="24" dur="800"/>
                                        <p:tgtEl>
                                          <p:spTgt spid="6"/>
                                        </p:tgtEl>
                                      </p:cBhvr>
                                    </p:animEffect>
                                  </p:childTnLst>
                                </p:cTn>
                              </p:par>
                              <p:par>
                                <p:cTn id="25" presetID="10" presetClass="entr" presetSubtype="0" fill="hold" nodeType="withEffect">
                                  <p:stCondLst>
                                    <p:cond delay="60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300"/>
                                        <p:tgtEl>
                                          <p:spTgt spid="7"/>
                                        </p:tgtEl>
                                      </p:cBhvr>
                                    </p:animEffect>
                                  </p:childTnLst>
                                </p:cTn>
                              </p:par>
                              <p:par>
                                <p:cTn id="28" presetID="10" presetClass="entr" presetSubtype="0" fill="hold" nodeType="withEffect">
                                  <p:stCondLst>
                                    <p:cond delay="80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300"/>
                                        <p:tgtEl>
                                          <p:spTgt spid="9"/>
                                        </p:tgtEl>
                                      </p:cBhvr>
                                    </p:animEffect>
                                  </p:childTnLst>
                                </p:cTn>
                              </p:par>
                              <p:par>
                                <p:cTn id="31" presetID="10" presetClass="entr" presetSubtype="0" fill="hold" nodeType="withEffect">
                                  <p:stCondLst>
                                    <p:cond delay="80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par>
                                <p:cTn id="34" presetID="26" presetClass="emph" presetSubtype="0" repeatCount="indefinite" fill="hold" nodeType="withEffect">
                                  <p:stCondLst>
                                    <p:cond delay="900"/>
                                  </p:stCondLst>
                                  <p:childTnLst>
                                    <p:animScale>
                                      <p:cBhvr>
                                        <p:cTn id="35" dur="1300" autoRev="1" fill="hold"/>
                                        <p:tgtEl>
                                          <p:spTgt spid="3"/>
                                        </p:tgtEl>
                                      </p:cBhvr>
                                      <p:by x="106000" y="106000"/>
                                    </p:animScale>
                                  </p:childTnLst>
                                </p:cTn>
                              </p:par>
                              <p:par>
                                <p:cTn id="36" presetID="8" presetClass="emph" presetSubtype="0" repeatCount="indefinite" fill="hold" nodeType="withEffect">
                                  <p:stCondLst>
                                    <p:cond delay="900"/>
                                  </p:stCondLst>
                                  <p:childTnLst>
                                    <p:animRot by="21600000">
                                      <p:cBhvr>
                                        <p:cTn id="37" dur="36000" fill="hold"/>
                                        <p:tgtEl>
                                          <p:spTgt spid="4"/>
                                        </p:tgtEl>
                                        <p:attrNameLst>
                                          <p:attrName>r</p:attrName>
                                        </p:attrNameLst>
                                      </p:cBhvr>
                                    </p:animRot>
                                  </p:childTnLst>
                                </p:cTn>
                              </p:par>
                              <p:par>
                                <p:cTn id="38" presetID="8" presetClass="emph" presetSubtype="0" repeatCount="indefinite" fill="hold" nodeType="withEffect">
                                  <p:stCondLst>
                                    <p:cond delay="900"/>
                                  </p:stCondLst>
                                  <p:childTnLst>
                                    <p:animRot by="-21600000">
                                      <p:cBhvr>
                                        <p:cTn id="39" dur="24000" fill="hold"/>
                                        <p:tgtEl>
                                          <p:spTgt spid="5"/>
                                        </p:tgtEl>
                                        <p:attrNameLst>
                                          <p:attrName>r</p:attrName>
                                        </p:attrNameLst>
                                      </p:cBhvr>
                                    </p:animRot>
                                  </p:childTnLst>
                                </p:cTn>
                              </p:par>
                              <p:par>
                                <p:cTn id="40" presetID="0" presetClass="path" presetSubtype="0" repeatCount="indefinite" fill="hold" nodeType="withEffect">
                                  <p:stCondLst>
                                    <p:cond delay="1100"/>
                                  </p:stCondLst>
                                  <p:childTnLst>
                                    <p:animMotion origin="layout" path="M 0 0 C 0.12634 0.00000 0.22876 0.18206 0.22876 0.40667 C 0.22876 0.63127 0.12634 0.81333 0.00000 0.81333 C -0.12634 0.81333 -0.22876 0.63127 -0.22876 0.40667 C -0.22876 0.18206 -0.12634 0.00000 0.00000 0.00000 E" pathEditMode="relative" rAng="0">
                                      <p:cBhvr>
                                        <p:cTn id="41" dur="9000" fill="hold"/>
                                        <p:tgtEl>
                                          <p:spTgt spid="7"/>
                                        </p:tgtEl>
                                        <p:attrNameLst>
                                          <p:attrName>ppt_x</p:attrName>
                                          <p:attrName>ppt_y</p:attrName>
                                        </p:attrNameLst>
                                      </p:cBhvr>
                                    </p:animMotion>
                                  </p:childTnLst>
                                </p:cTn>
                              </p:par>
                              <p:par>
                                <p:cTn id="42" presetID="2" presetClass="entr" presetSubtype="4" fill="hold" nodeType="withEffect">
                                  <p:stCondLst>
                                    <p:cond delay="1100"/>
                                  </p:stCondLst>
                                  <p:childTnLst>
                                    <p:set>
                                      <p:cBhvr>
                                        <p:cTn id="43" dur="1" fill="hold">
                                          <p:stCondLst>
                                            <p:cond delay="0"/>
                                          </p:stCondLst>
                                        </p:cTn>
                                        <p:tgtEl>
                                          <p:spTgt spid="13"/>
                                        </p:tgtEl>
                                        <p:attrNameLst>
                                          <p:attrName>style.visibility</p:attrName>
                                        </p:attrNameLst>
                                      </p:cBhvr>
                                      <p:to>
                                        <p:strVal val="visible"/>
                                      </p:to>
                                    </p:set>
                                    <p:anim calcmode="lin" valueType="num">
                                      <p:cBhvr additive="base">
                                        <p:cTn id="44" dur="500" fill="hold"/>
                                        <p:tgtEl>
                                          <p:spTgt spid="13"/>
                                        </p:tgtEl>
                                        <p:attrNameLst>
                                          <p:attrName>ppt_x</p:attrName>
                                        </p:attrNameLst>
                                      </p:cBhvr>
                                      <p:tavLst>
                                        <p:tav tm="0">
                                          <p:val>
                                            <p:strVal val="#ppt_x"/>
                                          </p:val>
                                        </p:tav>
                                        <p:tav tm="100000">
                                          <p:val>
                                            <p:strVal val="#ppt_x"/>
                                          </p:val>
                                        </p:tav>
                                      </p:tavLst>
                                    </p:anim>
                                    <p:anim calcmode="lin" valueType="num">
                                      <p:cBhvr additive="base">
                                        <p:cTn id="45" dur="500" fill="hold"/>
                                        <p:tgtEl>
                                          <p:spTgt spid="13"/>
                                        </p:tgtEl>
                                        <p:attrNameLst>
                                          <p:attrName>ppt_y</p:attrName>
                                        </p:attrNameLst>
                                      </p:cBhvr>
                                      <p:tavLst>
                                        <p:tav tm="0">
                                          <p:val>
                                            <p:strVal val="1+#ppt_h/2"/>
                                          </p:val>
                                        </p:tav>
                                        <p:tav tm="100000">
                                          <p:val>
                                            <p:strVal val="#ppt_y"/>
                                          </p:val>
                                        </p:tav>
                                      </p:tavLst>
                                    </p:anim>
                                  </p:childTnLst>
                                </p:cTn>
                              </p:par>
                              <p:par>
                                <p:cTn id="46" presetID="2" presetClass="entr" presetSubtype="4" fill="hold" nodeType="withEffect">
                                  <p:stCondLst>
                                    <p:cond delay="1100"/>
                                  </p:stCondLst>
                                  <p:childTnLst>
                                    <p:set>
                                      <p:cBhvr>
                                        <p:cTn id="47" dur="1" fill="hold">
                                          <p:stCondLst>
                                            <p:cond delay="0"/>
                                          </p:stCondLst>
                                        </p:cTn>
                                        <p:tgtEl>
                                          <p:spTgt spid="14"/>
                                        </p:tgtEl>
                                        <p:attrNameLst>
                                          <p:attrName>style.visibility</p:attrName>
                                        </p:attrNameLst>
                                      </p:cBhvr>
                                      <p:to>
                                        <p:strVal val="visible"/>
                                      </p:to>
                                    </p:set>
                                    <p:anim calcmode="lin" valueType="num">
                                      <p:cBhvr additive="base">
                                        <p:cTn id="48" dur="500" fill="hold"/>
                                        <p:tgtEl>
                                          <p:spTgt spid="14"/>
                                        </p:tgtEl>
                                        <p:attrNameLst>
                                          <p:attrName>ppt_x</p:attrName>
                                        </p:attrNameLst>
                                      </p:cBhvr>
                                      <p:tavLst>
                                        <p:tav tm="0">
                                          <p:val>
                                            <p:strVal val="#ppt_x"/>
                                          </p:val>
                                        </p:tav>
                                        <p:tav tm="100000">
                                          <p:val>
                                            <p:strVal val="#ppt_x"/>
                                          </p:val>
                                        </p:tav>
                                      </p:tavLst>
                                    </p:anim>
                                    <p:anim calcmode="lin" valueType="num">
                                      <p:cBhvr additive="base">
                                        <p:cTn id="49" dur="500" fill="hold"/>
                                        <p:tgtEl>
                                          <p:spTgt spid="14"/>
                                        </p:tgtEl>
                                        <p:attrNameLst>
                                          <p:attrName>ppt_y</p:attrName>
                                        </p:attrNameLst>
                                      </p:cBhvr>
                                      <p:tavLst>
                                        <p:tav tm="0">
                                          <p:val>
                                            <p:strVal val="1+#ppt_h/2"/>
                                          </p:val>
                                        </p:tav>
                                        <p:tav tm="100000">
                                          <p:val>
                                            <p:strVal val="#ppt_y"/>
                                          </p:val>
                                        </p:tav>
                                      </p:tavLst>
                                    </p:anim>
                                  </p:childTnLst>
                                </p:cTn>
                              </p:par>
                              <p:par>
                                <p:cTn id="50" presetID="2" presetClass="entr" presetSubtype="4" fill="hold" nodeType="withEffect">
                                  <p:stCondLst>
                                    <p:cond delay="1250"/>
                                  </p:stCondLst>
                                  <p:childTnLst>
                                    <p:set>
                                      <p:cBhvr>
                                        <p:cTn id="51" dur="1" fill="hold">
                                          <p:stCondLst>
                                            <p:cond delay="0"/>
                                          </p:stCondLst>
                                        </p:cTn>
                                        <p:tgtEl>
                                          <p:spTgt spid="15"/>
                                        </p:tgtEl>
                                        <p:attrNameLst>
                                          <p:attrName>style.visibility</p:attrName>
                                        </p:attrNameLst>
                                      </p:cBhvr>
                                      <p:to>
                                        <p:strVal val="visible"/>
                                      </p:to>
                                    </p:set>
                                    <p:anim calcmode="lin" valueType="num">
                                      <p:cBhvr additive="base">
                                        <p:cTn id="52" dur="500" fill="hold"/>
                                        <p:tgtEl>
                                          <p:spTgt spid="15"/>
                                        </p:tgtEl>
                                        <p:attrNameLst>
                                          <p:attrName>ppt_x</p:attrName>
                                        </p:attrNameLst>
                                      </p:cBhvr>
                                      <p:tavLst>
                                        <p:tav tm="0">
                                          <p:val>
                                            <p:strVal val="#ppt_x"/>
                                          </p:val>
                                        </p:tav>
                                        <p:tav tm="100000">
                                          <p:val>
                                            <p:strVal val="#ppt_x"/>
                                          </p:val>
                                        </p:tav>
                                      </p:tavLst>
                                    </p:anim>
                                    <p:anim calcmode="lin" valueType="num">
                                      <p:cBhvr additive="base">
                                        <p:cTn id="53" dur="500" fill="hold"/>
                                        <p:tgtEl>
                                          <p:spTgt spid="15"/>
                                        </p:tgtEl>
                                        <p:attrNameLst>
                                          <p:attrName>ppt_y</p:attrName>
                                        </p:attrNameLst>
                                      </p:cBhvr>
                                      <p:tavLst>
                                        <p:tav tm="0">
                                          <p:val>
                                            <p:strVal val="1+#ppt_h/2"/>
                                          </p:val>
                                        </p:tav>
                                        <p:tav tm="100000">
                                          <p:val>
                                            <p:strVal val="#ppt_y"/>
                                          </p:val>
                                        </p:tav>
                                      </p:tavLst>
                                    </p:anim>
                                  </p:childTnLst>
                                </p:cTn>
                              </p:par>
                              <p:par>
                                <p:cTn id="54" presetID="2" presetClass="entr" presetSubtype="4" fill="hold" nodeType="withEffect">
                                  <p:stCondLst>
                                    <p:cond delay="1250"/>
                                  </p:stCondLst>
                                  <p:childTnLst>
                                    <p:set>
                                      <p:cBhvr>
                                        <p:cTn id="55" dur="1" fill="hold">
                                          <p:stCondLst>
                                            <p:cond delay="0"/>
                                          </p:stCondLst>
                                        </p:cTn>
                                        <p:tgtEl>
                                          <p:spTgt spid="16"/>
                                        </p:tgtEl>
                                        <p:attrNameLst>
                                          <p:attrName>style.visibility</p:attrName>
                                        </p:attrNameLst>
                                      </p:cBhvr>
                                      <p:to>
                                        <p:strVal val="visible"/>
                                      </p:to>
                                    </p:set>
                                    <p:anim calcmode="lin" valueType="num">
                                      <p:cBhvr additive="base">
                                        <p:cTn id="56" dur="500" fill="hold"/>
                                        <p:tgtEl>
                                          <p:spTgt spid="16"/>
                                        </p:tgtEl>
                                        <p:attrNameLst>
                                          <p:attrName>ppt_x</p:attrName>
                                        </p:attrNameLst>
                                      </p:cBhvr>
                                      <p:tavLst>
                                        <p:tav tm="0">
                                          <p:val>
                                            <p:strVal val="#ppt_x"/>
                                          </p:val>
                                        </p:tav>
                                        <p:tav tm="100000">
                                          <p:val>
                                            <p:strVal val="#ppt_x"/>
                                          </p:val>
                                        </p:tav>
                                      </p:tavLst>
                                    </p:anim>
                                    <p:anim calcmode="lin" valueType="num">
                                      <p:cBhvr additive="base">
                                        <p:cTn id="57" dur="500" fill="hold"/>
                                        <p:tgtEl>
                                          <p:spTgt spid="16"/>
                                        </p:tgtEl>
                                        <p:attrNameLst>
                                          <p:attrName>ppt_y</p:attrName>
                                        </p:attrNameLst>
                                      </p:cBhvr>
                                      <p:tavLst>
                                        <p:tav tm="0">
                                          <p:val>
                                            <p:strVal val="1+#ppt_h/2"/>
                                          </p:val>
                                        </p:tav>
                                        <p:tav tm="100000">
                                          <p:val>
                                            <p:strVal val="#ppt_y"/>
                                          </p:val>
                                        </p:tav>
                                      </p:tavLst>
                                    </p:anim>
                                  </p:childTnLst>
                                </p:cTn>
                              </p:par>
                              <p:par>
                                <p:cTn id="58" presetID="0" presetClass="path" presetSubtype="0" repeatCount="indefinite" fill="hold" nodeType="withEffect">
                                  <p:stCondLst>
                                    <p:cond delay="1300"/>
                                  </p:stCondLst>
                                  <p:childTnLst>
                                    <p:animMotion origin="layout" path="M 0 0 C -0.10853 0.00000 -0.19650 0.15640 -0.19650 0.34933 C -0.19650 0.54227 -0.10853 0.69867 0.00000 0.69867 C 0.10853 0.69867 0.19650 0.54227 0.19650 0.34933 C 0.19650 0.15640 0.10853 0.00000 0.00000 0.00000 E" pathEditMode="relative" rAng="0">
                                      <p:cBhvr>
                                        <p:cTn id="59" dur="7000" fill="hold"/>
                                        <p:tgtEl>
                                          <p:spTgt spid="9"/>
                                        </p:tgtEl>
                                        <p:attrNameLst>
                                          <p:attrName>ppt_x</p:attrName>
                                          <p:attrName>ppt_y</p:attrName>
                                        </p:attrNameLst>
                                      </p:cBhvr>
                                    </p:animMotion>
                                  </p:childTnLst>
                                </p:cTn>
                              </p:par>
                              <p:par>
                                <p:cTn id="60" presetID="2" presetClass="entr" presetSubtype="4" fill="hold" nodeType="withEffect">
                                  <p:stCondLst>
                                    <p:cond delay="1400"/>
                                  </p:stCondLst>
                                  <p:childTnLst>
                                    <p:set>
                                      <p:cBhvr>
                                        <p:cTn id="61" dur="1" fill="hold">
                                          <p:stCondLst>
                                            <p:cond delay="0"/>
                                          </p:stCondLst>
                                        </p:cTn>
                                        <p:tgtEl>
                                          <p:spTgt spid="17"/>
                                        </p:tgtEl>
                                        <p:attrNameLst>
                                          <p:attrName>style.visibility</p:attrName>
                                        </p:attrNameLst>
                                      </p:cBhvr>
                                      <p:to>
                                        <p:strVal val="visible"/>
                                      </p:to>
                                    </p:set>
                                    <p:anim calcmode="lin" valueType="num">
                                      <p:cBhvr additive="base">
                                        <p:cTn id="62" dur="500" fill="hold"/>
                                        <p:tgtEl>
                                          <p:spTgt spid="17"/>
                                        </p:tgtEl>
                                        <p:attrNameLst>
                                          <p:attrName>ppt_x</p:attrName>
                                        </p:attrNameLst>
                                      </p:cBhvr>
                                      <p:tavLst>
                                        <p:tav tm="0">
                                          <p:val>
                                            <p:strVal val="#ppt_x"/>
                                          </p:val>
                                        </p:tav>
                                        <p:tav tm="100000">
                                          <p:val>
                                            <p:strVal val="#ppt_x"/>
                                          </p:val>
                                        </p:tav>
                                      </p:tavLst>
                                    </p:anim>
                                    <p:anim calcmode="lin" valueType="num">
                                      <p:cBhvr additive="base">
                                        <p:cTn id="63" dur="500" fill="hold"/>
                                        <p:tgtEl>
                                          <p:spTgt spid="17"/>
                                        </p:tgtEl>
                                        <p:attrNameLst>
                                          <p:attrName>ppt_y</p:attrName>
                                        </p:attrNameLst>
                                      </p:cBhvr>
                                      <p:tavLst>
                                        <p:tav tm="0">
                                          <p:val>
                                            <p:strVal val="1+#ppt_h/2"/>
                                          </p:val>
                                        </p:tav>
                                        <p:tav tm="100000">
                                          <p:val>
                                            <p:strVal val="#ppt_y"/>
                                          </p:val>
                                        </p:tav>
                                      </p:tavLst>
                                    </p:anim>
                                  </p:childTnLst>
                                </p:cTn>
                              </p:par>
                              <p:par>
                                <p:cTn id="64" presetID="2" presetClass="entr" presetSubtype="4" fill="hold" nodeType="withEffect">
                                  <p:stCondLst>
                                    <p:cond delay="1400"/>
                                  </p:stCondLst>
                                  <p:childTnLst>
                                    <p:set>
                                      <p:cBhvr>
                                        <p:cTn id="65" dur="1" fill="hold">
                                          <p:stCondLst>
                                            <p:cond delay="0"/>
                                          </p:stCondLst>
                                        </p:cTn>
                                        <p:tgtEl>
                                          <p:spTgt spid="18"/>
                                        </p:tgtEl>
                                        <p:attrNameLst>
                                          <p:attrName>style.visibility</p:attrName>
                                        </p:attrNameLst>
                                      </p:cBhvr>
                                      <p:to>
                                        <p:strVal val="visible"/>
                                      </p:to>
                                    </p:set>
                                    <p:anim calcmode="lin" valueType="num">
                                      <p:cBhvr additive="base">
                                        <p:cTn id="66" dur="500" fill="hold"/>
                                        <p:tgtEl>
                                          <p:spTgt spid="18"/>
                                        </p:tgtEl>
                                        <p:attrNameLst>
                                          <p:attrName>ppt_x</p:attrName>
                                        </p:attrNameLst>
                                      </p:cBhvr>
                                      <p:tavLst>
                                        <p:tav tm="0">
                                          <p:val>
                                            <p:strVal val="#ppt_x"/>
                                          </p:val>
                                        </p:tav>
                                        <p:tav tm="100000">
                                          <p:val>
                                            <p:strVal val="#ppt_x"/>
                                          </p:val>
                                        </p:tav>
                                      </p:tavLst>
                                    </p:anim>
                                    <p:anim calcmode="lin" valueType="num">
                                      <p:cBhvr additive="base">
                                        <p:cTn id="67" dur="500" fill="hold"/>
                                        <p:tgtEl>
                                          <p:spTgt spid="18"/>
                                        </p:tgtEl>
                                        <p:attrNameLst>
                                          <p:attrName>ppt_y</p:attrName>
                                        </p:attrNameLst>
                                      </p:cBhvr>
                                      <p:tavLst>
                                        <p:tav tm="0">
                                          <p:val>
                                            <p:strVal val="1+#ppt_h/2"/>
                                          </p:val>
                                        </p:tav>
                                        <p:tav tm="100000">
                                          <p:val>
                                            <p:strVal val="#ppt_y"/>
                                          </p:val>
                                        </p:tav>
                                      </p:tavLst>
                                    </p:anim>
                                  </p:childTnLst>
                                </p:cTn>
                              </p:par>
                              <p:par>
                                <p:cTn id="68" presetID="2" presetClass="entr" presetSubtype="4" fill="hold" nodeType="withEffect">
                                  <p:stCondLst>
                                    <p:cond delay="1550"/>
                                  </p:stCondLst>
                                  <p:childTnLst>
                                    <p:set>
                                      <p:cBhvr>
                                        <p:cTn id="69" dur="1" fill="hold">
                                          <p:stCondLst>
                                            <p:cond delay="0"/>
                                          </p:stCondLst>
                                        </p:cTn>
                                        <p:tgtEl>
                                          <p:spTgt spid="19"/>
                                        </p:tgtEl>
                                        <p:attrNameLst>
                                          <p:attrName>style.visibility</p:attrName>
                                        </p:attrNameLst>
                                      </p:cBhvr>
                                      <p:to>
                                        <p:strVal val="visible"/>
                                      </p:to>
                                    </p:set>
                                    <p:anim calcmode="lin" valueType="num">
                                      <p:cBhvr additive="base">
                                        <p:cTn id="70" dur="500" fill="hold"/>
                                        <p:tgtEl>
                                          <p:spTgt spid="19"/>
                                        </p:tgtEl>
                                        <p:attrNameLst>
                                          <p:attrName>ppt_x</p:attrName>
                                        </p:attrNameLst>
                                      </p:cBhvr>
                                      <p:tavLst>
                                        <p:tav tm="0">
                                          <p:val>
                                            <p:strVal val="#ppt_x"/>
                                          </p:val>
                                        </p:tav>
                                        <p:tav tm="100000">
                                          <p:val>
                                            <p:strVal val="#ppt_x"/>
                                          </p:val>
                                        </p:tav>
                                      </p:tavLst>
                                    </p:anim>
                                    <p:anim calcmode="lin" valueType="num">
                                      <p:cBhvr additive="base">
                                        <p:cTn id="71" dur="500" fill="hold"/>
                                        <p:tgtEl>
                                          <p:spTgt spid="19"/>
                                        </p:tgtEl>
                                        <p:attrNameLst>
                                          <p:attrName>ppt_y</p:attrName>
                                        </p:attrNameLst>
                                      </p:cBhvr>
                                      <p:tavLst>
                                        <p:tav tm="0">
                                          <p:val>
                                            <p:strVal val="1+#ppt_h/2"/>
                                          </p:val>
                                        </p:tav>
                                        <p:tav tm="100000">
                                          <p:val>
                                            <p:strVal val="#ppt_y"/>
                                          </p:val>
                                        </p:tav>
                                      </p:tavLst>
                                    </p:anim>
                                  </p:childTnLst>
                                </p:cTn>
                              </p:par>
                              <p:par>
                                <p:cTn id="72" presetID="2" presetClass="entr" presetSubtype="4" fill="hold" nodeType="withEffect">
                                  <p:stCondLst>
                                    <p:cond delay="1550"/>
                                  </p:stCondLst>
                                  <p:childTnLst>
                                    <p:set>
                                      <p:cBhvr>
                                        <p:cTn id="73" dur="1" fill="hold">
                                          <p:stCondLst>
                                            <p:cond delay="0"/>
                                          </p:stCondLst>
                                        </p:cTn>
                                        <p:tgtEl>
                                          <p:spTgt spid="20"/>
                                        </p:tgtEl>
                                        <p:attrNameLst>
                                          <p:attrName>style.visibility</p:attrName>
                                        </p:attrNameLst>
                                      </p:cBhvr>
                                      <p:to>
                                        <p:strVal val="visible"/>
                                      </p:to>
                                    </p:set>
                                    <p:anim calcmode="lin" valueType="num">
                                      <p:cBhvr additive="base">
                                        <p:cTn id="74" dur="500" fill="hold"/>
                                        <p:tgtEl>
                                          <p:spTgt spid="20"/>
                                        </p:tgtEl>
                                        <p:attrNameLst>
                                          <p:attrName>ppt_x</p:attrName>
                                        </p:attrNameLst>
                                      </p:cBhvr>
                                      <p:tavLst>
                                        <p:tav tm="0">
                                          <p:val>
                                            <p:strVal val="#ppt_x"/>
                                          </p:val>
                                        </p:tav>
                                        <p:tav tm="100000">
                                          <p:val>
                                            <p:strVal val="#ppt_x"/>
                                          </p:val>
                                        </p:tav>
                                      </p:tavLst>
                                    </p:anim>
                                    <p:anim calcmode="lin" valueType="num">
                                      <p:cBhvr additive="base">
                                        <p:cTn id="75" dur="500" fill="hold"/>
                                        <p:tgtEl>
                                          <p:spTgt spid="20"/>
                                        </p:tgtEl>
                                        <p:attrNameLst>
                                          <p:attrName>ppt_y</p:attrName>
                                        </p:attrNameLst>
                                      </p:cBhvr>
                                      <p:tavLst>
                                        <p:tav tm="0">
                                          <p:val>
                                            <p:strVal val="1+#ppt_h/2"/>
                                          </p:val>
                                        </p:tav>
                                        <p:tav tm="100000">
                                          <p:val>
                                            <p:strVal val="#ppt_y"/>
                                          </p:val>
                                        </p:tav>
                                      </p:tavLst>
                                    </p:anim>
                                  </p:childTnLst>
                                </p:cTn>
                              </p:par>
                              <p:par>
                                <p:cTn id="76" presetID="10" presetClass="entr" presetSubtype="0" fill="hold" nodeType="withEffect">
                                  <p:stCondLst>
                                    <p:cond delay="190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600"/>
                                        <p:tgtEl>
                                          <p:spTgt spid="21"/>
                                        </p:tgtEl>
                                      </p:cBhvr>
                                    </p:animEffect>
                                  </p:childTnLst>
                                </p:cTn>
                              </p:par>
                              <p:par>
                                <p:cTn id="79" presetID="10" presetClass="entr" presetSubtype="0" fill="hold" nodeType="withEffect">
                                  <p:stCondLst>
                                    <p:cond delay="4300"/>
                                  </p:stCondLst>
                                  <p:childTnLst>
                                    <p:set>
                                      <p:cBhvr>
                                        <p:cTn id="80" dur="1" fill="hold">
                                          <p:stCondLst>
                                            <p:cond delay="0"/>
                                          </p:stCondLst>
                                        </p:cTn>
                                        <p:tgtEl>
                                          <p:spTgt spid="8"/>
                                        </p:tgtEl>
                                        <p:attrNameLst>
                                          <p:attrName>style.visibility</p:attrName>
                                        </p:attrNameLst>
                                      </p:cBhvr>
                                      <p:to>
                                        <p:strVal val="visible"/>
                                      </p:to>
                                    </p:set>
                                    <p:animEffect transition="in" filter="fade">
                                      <p:cBhvr>
                                        <p:cTn id="81" dur="300"/>
                                        <p:tgtEl>
                                          <p:spTgt spid="8"/>
                                        </p:tgtEl>
                                      </p:cBhvr>
                                    </p:animEffect>
                                  </p:childTnLst>
                                </p:cTn>
                              </p:par>
                              <p:par>
                                <p:cTn id="82" presetID="0" presetClass="path" presetSubtype="0" repeatCount="indefinite" fill="hold" nodeType="withEffect">
                                  <p:stCondLst>
                                    <p:cond delay="4800"/>
                                  </p:stCondLst>
                                  <p:childTnLst>
                                    <p:animMotion origin="layout" path="M 0 0 C 0.12634 0.00000 0.22876 0.18206 0.22876 0.40667 C 0.22876 0.63127 0.12634 0.81333 0.00000 0.81333 C -0.12634 0.81333 -0.22876 0.63127 -0.22876 0.40667 C -0.22876 0.18206 -0.12634 0.00000 0.00000 0.00000 E" pathEditMode="relative" rAng="0">
                                      <p:cBhvr>
                                        <p:cTn id="83" dur="9000" fill="hold"/>
                                        <p:tgtEl>
                                          <p:spTgt spid="8"/>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A protective stop can have several plausible causes</a:t>
            </a:r>
            <a:endParaRPr lang="en-US" sz="3200" dirty="0"/>
          </a:p>
        </p:txBody>
      </p:sp>
      <p:sp>
        <p:nvSpPr>
          <p:cNvPr id="4" name="text_2_1"/>
          <p:cNvSpPr txBox="1"/>
          <p:nvPr/>
        </p:nvSpPr>
        <p:spPr>
          <a:xfrm>
            <a:off x="548640" y="1234440"/>
            <a:ext cx="11064240" cy="548640"/>
          </a:xfrm>
          <a:prstGeom prst="rect">
            <a:avLst/>
          </a:prstGeom>
          <a:noFill/>
          <a:ln/>
        </p:spPr>
        <p:txBody>
          <a:bodyPr wrap="square" lIns="0" tIns="0" rIns="0" bIns="0" rtlCol="0" anchor="ctr"/>
          <a:lstStyle/>
          <a:p>
            <a:pPr indent="0" marL="0">
              <a:buNone/>
            </a:pPr>
            <a:r>
              <a:rPr lang="en-US" sz="2000" i="1" dirty="0">
                <a:solidFill>
                  <a:srgbClr val="5B6B7C"/>
                </a:solidFill>
              </a:rPr>
              <a:t>An operator needs to see why a hypothesis appeared — and which observation is still missing.</a:t>
            </a:r>
            <a:endParaRPr lang="en-US" sz="2000" dirty="0"/>
          </a:p>
        </p:txBody>
      </p:sp>
      <p:sp>
        <p:nvSpPr>
          <p:cNvPr id="5" name="shape_2_2"/>
          <p:cNvSpPr/>
          <p:nvPr/>
        </p:nvSpPr>
        <p:spPr>
          <a:xfrm>
            <a:off x="548640" y="1965960"/>
            <a:ext cx="3566160" cy="1965960"/>
          </a:xfrm>
          <a:prstGeom prst="roundRect">
            <a:avLst>
              <a:gd name="adj" fmla="val 5581"/>
            </a:avLst>
          </a:prstGeom>
          <a:solidFill>
            <a:schemeClr val="bg2"/>
          </a:solidFill>
          <a:ln w="12700">
            <a:solidFill>
              <a:srgbClr val="FFFFFF">
                <a:alpha val="0"/>
              </a:srgbClr>
            </a:solidFill>
            <a:prstDash val="solid"/>
          </a:ln>
        </p:spPr>
      </p:sp>
      <p:sp>
        <p:nvSpPr>
          <p:cNvPr id="6" name="shape_2_3"/>
          <p:cNvSpPr/>
          <p:nvPr/>
        </p:nvSpPr>
        <p:spPr>
          <a:xfrm>
            <a:off x="822960" y="2221992"/>
            <a:ext cx="731520" cy="731520"/>
          </a:xfrm>
          <a:prstGeom prst="ellipse">
            <a:avLst/>
          </a:prstGeom>
          <a:solidFill>
            <a:schemeClr val="accent1"/>
          </a:solidFill>
          <a:ln w="12700">
            <a:solidFill>
              <a:schemeClr val="accent1"/>
            </a:solidFill>
            <a:prstDash val="solid"/>
          </a:ln>
        </p:spPr>
      </p:sp>
      <p:pic>
        <p:nvPicPr>
          <p:cNvPr id="7" name="pic_2_4" descr="FaClipboardList">    </p:cNvPr>
          <p:cNvPicPr>
            <a:picLocks noChangeAspect="1"/>
          </p:cNvPicPr>
          <p:nvPr/>
        </p:nvPicPr>
        <p:blipFill>
          <a:blip r:embed="rId1"/>
          <a:stretch>
            <a:fillRect/>
          </a:stretch>
        </p:blipFill>
        <p:spPr>
          <a:xfrm>
            <a:off x="1005840" y="2404872"/>
            <a:ext cx="365760" cy="365760"/>
          </a:xfrm>
          <a:prstGeom prst="rect">
            <a:avLst/>
          </a:prstGeom>
        </p:spPr>
      </p:pic>
      <p:sp>
        <p:nvSpPr>
          <p:cNvPr id="8" name="text_2_5"/>
          <p:cNvSpPr txBox="1"/>
          <p:nvPr/>
        </p:nvSpPr>
        <p:spPr>
          <a:xfrm>
            <a:off x="1737360" y="2258568"/>
            <a:ext cx="2194560" cy="64008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Input</a:t>
            </a:r>
            <a:endParaRPr lang="en-US" sz="2200" dirty="0"/>
          </a:p>
        </p:txBody>
      </p:sp>
      <p:sp>
        <p:nvSpPr>
          <p:cNvPr id="9" name="text_2_6"/>
          <p:cNvSpPr txBox="1"/>
          <p:nvPr/>
        </p:nvSpPr>
        <p:spPr>
          <a:xfrm>
            <a:off x="822960" y="3017520"/>
            <a:ext cx="3017520" cy="822960"/>
          </a:xfrm>
          <a:prstGeom prst="rect">
            <a:avLst/>
          </a:prstGeom>
          <a:noFill/>
          <a:ln/>
        </p:spPr>
        <p:txBody>
          <a:bodyPr wrap="square" lIns="0" tIns="0" rIns="0" bIns="0" rtlCol="0" anchor="t"/>
          <a:lstStyle/>
          <a:p>
            <a:pPr indent="0" marL="0">
              <a:buNone/>
            </a:pPr>
            <a:r>
              <a:rPr lang="en-US" sz="1400" dirty="0">
                <a:solidFill>
                  <a:schemeClr val="tx1"/>
                </a:solidFill>
              </a:rPr>
              <a:t>Manual observations or source-tagged claims (Yes / No / Unknown / Conflict)</a:t>
            </a:r>
            <a:endParaRPr lang="en-US" sz="1400" dirty="0"/>
          </a:p>
        </p:txBody>
      </p:sp>
      <p:sp>
        <p:nvSpPr>
          <p:cNvPr id="10" name="shape_2_7"/>
          <p:cNvSpPr/>
          <p:nvPr/>
        </p:nvSpPr>
        <p:spPr>
          <a:xfrm>
            <a:off x="4297680" y="1965960"/>
            <a:ext cx="3566160" cy="1965960"/>
          </a:xfrm>
          <a:prstGeom prst="roundRect">
            <a:avLst>
              <a:gd name="adj" fmla="val 5581"/>
            </a:avLst>
          </a:prstGeom>
          <a:solidFill>
            <a:schemeClr val="bg2"/>
          </a:solidFill>
          <a:ln w="12700">
            <a:solidFill>
              <a:srgbClr val="FFFFFF">
                <a:alpha val="0"/>
              </a:srgbClr>
            </a:solidFill>
            <a:prstDash val="solid"/>
          </a:ln>
        </p:spPr>
      </p:sp>
      <p:sp>
        <p:nvSpPr>
          <p:cNvPr id="11" name="shape_2_8"/>
          <p:cNvSpPr/>
          <p:nvPr/>
        </p:nvSpPr>
        <p:spPr>
          <a:xfrm>
            <a:off x="4572000" y="2221992"/>
            <a:ext cx="731520" cy="731520"/>
          </a:xfrm>
          <a:prstGeom prst="ellipse">
            <a:avLst/>
          </a:prstGeom>
          <a:solidFill>
            <a:schemeClr val="accent5"/>
          </a:solidFill>
          <a:ln w="12700">
            <a:solidFill>
              <a:schemeClr val="accent5"/>
            </a:solidFill>
            <a:prstDash val="solid"/>
          </a:ln>
        </p:spPr>
      </p:sp>
      <p:pic>
        <p:nvPicPr>
          <p:cNvPr id="12" name="pic_2_9" descr="FaProjectDiagram">    </p:cNvPr>
          <p:cNvPicPr>
            <a:picLocks noChangeAspect="1"/>
          </p:cNvPicPr>
          <p:nvPr/>
        </p:nvPicPr>
        <p:blipFill>
          <a:blip r:embed="rId2"/>
          <a:stretch>
            <a:fillRect/>
          </a:stretch>
        </p:blipFill>
        <p:spPr>
          <a:xfrm>
            <a:off x="4754880" y="2404872"/>
            <a:ext cx="365760" cy="365760"/>
          </a:xfrm>
          <a:prstGeom prst="rect">
            <a:avLst/>
          </a:prstGeom>
        </p:spPr>
      </p:pic>
      <p:sp>
        <p:nvSpPr>
          <p:cNvPr id="13" name="text_2_10"/>
          <p:cNvSpPr txBox="1"/>
          <p:nvPr/>
        </p:nvSpPr>
        <p:spPr>
          <a:xfrm>
            <a:off x="5486400" y="2258568"/>
            <a:ext cx="2194560" cy="64008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Output</a:t>
            </a:r>
            <a:endParaRPr lang="en-US" sz="2200" dirty="0"/>
          </a:p>
        </p:txBody>
      </p:sp>
      <p:sp>
        <p:nvSpPr>
          <p:cNvPr id="14" name="text_2_11"/>
          <p:cNvSpPr txBox="1"/>
          <p:nvPr/>
        </p:nvSpPr>
        <p:spPr>
          <a:xfrm>
            <a:off x="4572000" y="3017520"/>
            <a:ext cx="3017520" cy="822960"/>
          </a:xfrm>
          <a:prstGeom prst="rect">
            <a:avLst/>
          </a:prstGeom>
          <a:noFill/>
          <a:ln/>
        </p:spPr>
        <p:txBody>
          <a:bodyPr wrap="square" lIns="0" tIns="0" rIns="0" bIns="0" rtlCol="0" anchor="t"/>
          <a:lstStyle/>
          <a:p>
            <a:pPr indent="0" marL="0">
              <a:buNone/>
            </a:pPr>
            <a:r>
              <a:rPr lang="en-US" sz="1400" dirty="0">
                <a:solidFill>
                  <a:schemeClr val="tx1"/>
                </a:solidFill>
              </a:rPr>
              <a:t>Supported, possible, contradicted or conflicted hypotheses with a reasoning trace</a:t>
            </a:r>
            <a:endParaRPr lang="en-US" sz="1400" dirty="0"/>
          </a:p>
        </p:txBody>
      </p:sp>
      <p:sp>
        <p:nvSpPr>
          <p:cNvPr id="15" name="shape_2_12"/>
          <p:cNvSpPr/>
          <p:nvPr/>
        </p:nvSpPr>
        <p:spPr>
          <a:xfrm>
            <a:off x="8046720" y="1965960"/>
            <a:ext cx="3566160" cy="1965960"/>
          </a:xfrm>
          <a:prstGeom prst="roundRect">
            <a:avLst>
              <a:gd name="adj" fmla="val 5581"/>
            </a:avLst>
          </a:prstGeom>
          <a:solidFill>
            <a:schemeClr val="bg2"/>
          </a:solidFill>
          <a:ln w="12700">
            <a:solidFill>
              <a:srgbClr val="FFFFFF">
                <a:alpha val="0"/>
              </a:srgbClr>
            </a:solidFill>
            <a:prstDash val="solid"/>
          </a:ln>
        </p:spPr>
      </p:sp>
      <p:sp>
        <p:nvSpPr>
          <p:cNvPr id="16" name="shape_2_13"/>
          <p:cNvSpPr/>
          <p:nvPr/>
        </p:nvSpPr>
        <p:spPr>
          <a:xfrm>
            <a:off x="8321040" y="2221992"/>
            <a:ext cx="731520" cy="731520"/>
          </a:xfrm>
          <a:prstGeom prst="ellipse">
            <a:avLst/>
          </a:prstGeom>
          <a:solidFill>
            <a:schemeClr val="accent3"/>
          </a:solidFill>
          <a:ln w="12700">
            <a:solidFill>
              <a:schemeClr val="accent3"/>
            </a:solidFill>
            <a:prstDash val="solid"/>
          </a:ln>
        </p:spPr>
      </p:sp>
      <p:pic>
        <p:nvPicPr>
          <p:cNvPr id="17" name="pic_2_14" descr="FaShieldAlt">    </p:cNvPr>
          <p:cNvPicPr>
            <a:picLocks noChangeAspect="1"/>
          </p:cNvPicPr>
          <p:nvPr/>
        </p:nvPicPr>
        <p:blipFill>
          <a:blip r:embed="rId3"/>
          <a:stretch>
            <a:fillRect/>
          </a:stretch>
        </p:blipFill>
        <p:spPr>
          <a:xfrm>
            <a:off x="8503920" y="2404872"/>
            <a:ext cx="365760" cy="365760"/>
          </a:xfrm>
          <a:prstGeom prst="rect">
            <a:avLst/>
          </a:prstGeom>
        </p:spPr>
      </p:pic>
      <p:sp>
        <p:nvSpPr>
          <p:cNvPr id="18" name="text_2_15"/>
          <p:cNvSpPr txBox="1"/>
          <p:nvPr/>
        </p:nvSpPr>
        <p:spPr>
          <a:xfrm>
            <a:off x="9235440" y="2258568"/>
            <a:ext cx="2194560" cy="64008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Boundary</a:t>
            </a:r>
            <a:endParaRPr lang="en-US" sz="2200" dirty="0"/>
          </a:p>
        </p:txBody>
      </p:sp>
      <p:sp>
        <p:nvSpPr>
          <p:cNvPr id="19" name="text_2_16"/>
          <p:cNvSpPr txBox="1"/>
          <p:nvPr/>
        </p:nvSpPr>
        <p:spPr>
          <a:xfrm>
            <a:off x="8321040" y="3017520"/>
            <a:ext cx="3017520" cy="822960"/>
          </a:xfrm>
          <a:prstGeom prst="rect">
            <a:avLst/>
          </a:prstGeom>
          <a:noFill/>
          <a:ln/>
        </p:spPr>
        <p:txBody>
          <a:bodyPr wrap="square" lIns="0" tIns="0" rIns="0" bIns="0" rtlCol="0" anchor="t"/>
          <a:lstStyle/>
          <a:p>
            <a:pPr indent="0" marL="0">
              <a:buNone/>
            </a:pPr>
            <a:r>
              <a:rPr lang="en-US" sz="1400" dirty="0">
                <a:solidFill>
                  <a:schemeClr val="tx1"/>
                </a:solidFill>
              </a:rPr>
              <a:t>Academic screening on a generic arm — no automated control, no certification</a:t>
            </a:r>
            <a:endParaRPr lang="en-US" sz="1400" dirty="0"/>
          </a:p>
        </p:txBody>
      </p:sp>
      <p:sp>
        <p:nvSpPr>
          <p:cNvPr id="20" name="text_2_17"/>
          <p:cNvSpPr txBox="1"/>
          <p:nvPr/>
        </p:nvSpPr>
        <p:spPr>
          <a:xfrm>
            <a:off x="548640" y="4206240"/>
            <a:ext cx="7315200" cy="365760"/>
          </a:xfrm>
          <a:prstGeom prst="rect">
            <a:avLst/>
          </a:prstGeom>
          <a:noFill/>
          <a:ln/>
        </p:spPr>
        <p:txBody>
          <a:bodyPr wrap="square" lIns="0" tIns="0" rIns="0" bIns="0" rtlCol="0" anchor="ctr"/>
          <a:lstStyle/>
          <a:p>
            <a:pPr indent="0" marL="0">
              <a:buNone/>
            </a:pPr>
            <a:r>
              <a:rPr lang="en-US" sz="1800" b="1" dirty="0">
                <a:solidFill>
                  <a:schemeClr val="tx1"/>
                </a:solidFill>
              </a:rPr>
              <a:t>Course learning outcomes addressed</a:t>
            </a:r>
            <a:endParaRPr lang="en-US" sz="1800" dirty="0"/>
          </a:p>
        </p:txBody>
      </p:sp>
      <p:sp>
        <p:nvSpPr>
          <p:cNvPr id="21" name="shape_2_18"/>
          <p:cNvSpPr/>
          <p:nvPr/>
        </p:nvSpPr>
        <p:spPr>
          <a:xfrm>
            <a:off x="548640" y="4663440"/>
            <a:ext cx="3566160" cy="1508760"/>
          </a:xfrm>
          <a:prstGeom prst="roundRect">
            <a:avLst>
              <a:gd name="adj" fmla="val 7273"/>
            </a:avLst>
          </a:prstGeom>
          <a:solidFill>
            <a:schemeClr val="tx2"/>
          </a:solidFill>
          <a:ln w="12700">
            <a:solidFill>
              <a:srgbClr val="FFFFFF">
                <a:alpha val="0"/>
              </a:srgbClr>
            </a:solidFill>
            <a:prstDash val="solid"/>
          </a:ln>
        </p:spPr>
      </p:sp>
      <p:sp>
        <p:nvSpPr>
          <p:cNvPr id="22" name="text_2_19"/>
          <p:cNvSpPr txBox="1"/>
          <p:nvPr/>
        </p:nvSpPr>
        <p:spPr>
          <a:xfrm>
            <a:off x="822960" y="4846320"/>
            <a:ext cx="1280160" cy="457200"/>
          </a:xfrm>
          <a:prstGeom prst="rect">
            <a:avLst/>
          </a:prstGeom>
          <a:noFill/>
          <a:ln/>
        </p:spPr>
        <p:txBody>
          <a:bodyPr wrap="square" lIns="0" tIns="0" rIns="0" bIns="0" rtlCol="0" anchor="ctr"/>
          <a:lstStyle/>
          <a:p>
            <a:pPr indent="0" marL="0">
              <a:buNone/>
            </a:pPr>
            <a:r>
              <a:rPr lang="en-US" sz="2400" b="1" dirty="0">
                <a:solidFill>
                  <a:schemeClr val="accent2"/>
                </a:solidFill>
                <a:latin typeface="Cambria" pitchFamily="34" charset="0"/>
                <a:ea typeface="Cambria" pitchFamily="34" charset="-122"/>
                <a:cs typeface="Cambria" pitchFamily="34" charset="-120"/>
              </a:rPr>
              <a:t>CLO 1</a:t>
            </a:r>
            <a:endParaRPr lang="en-US" sz="2400" dirty="0"/>
          </a:p>
        </p:txBody>
      </p:sp>
      <p:sp>
        <p:nvSpPr>
          <p:cNvPr id="23" name="text_2_20"/>
          <p:cNvSpPr txBox="1"/>
          <p:nvPr/>
        </p:nvSpPr>
        <p:spPr>
          <a:xfrm>
            <a:off x="822960" y="5349240"/>
            <a:ext cx="3017520" cy="731520"/>
          </a:xfrm>
          <a:prstGeom prst="rect">
            <a:avLst/>
          </a:prstGeom>
          <a:noFill/>
          <a:ln/>
        </p:spPr>
        <p:txBody>
          <a:bodyPr wrap="square" lIns="0" tIns="0" rIns="0" bIns="0" rtlCol="0" anchor="t"/>
          <a:lstStyle/>
          <a:p>
            <a:pPr indent="0" marL="0">
              <a:buNone/>
            </a:pPr>
            <a:r>
              <a:rPr lang="en-US" sz="1600" b="1" dirty="0">
                <a:solidFill>
                  <a:schemeClr val="bg1"/>
                </a:solidFill>
              </a:rPr>
              <a:t>Represent equipment knowledge</a:t>
            </a:r>
            <a:endParaRPr lang="en-US" sz="1600" dirty="0"/>
          </a:p>
          <a:p>
            <a:pPr indent="0" marL="0">
              <a:buNone/>
            </a:pPr>
            <a:r>
              <a:rPr lang="en-US" sz="1300" dirty="0">
                <a:solidFill>
                  <a:srgbClr val="A9BCCF"/>
                </a:solidFill>
              </a:rPr>
              <a:t>Frames + production rules in JSON</a:t>
            </a:r>
            <a:endParaRPr lang="en-US" sz="1600" dirty="0"/>
          </a:p>
        </p:txBody>
      </p:sp>
      <p:sp>
        <p:nvSpPr>
          <p:cNvPr id="24" name="shape_2_21"/>
          <p:cNvSpPr/>
          <p:nvPr/>
        </p:nvSpPr>
        <p:spPr>
          <a:xfrm>
            <a:off x="4297680" y="4663440"/>
            <a:ext cx="3566160" cy="1508760"/>
          </a:xfrm>
          <a:prstGeom prst="roundRect">
            <a:avLst>
              <a:gd name="adj" fmla="val 7273"/>
            </a:avLst>
          </a:prstGeom>
          <a:solidFill>
            <a:schemeClr val="tx2"/>
          </a:solidFill>
          <a:ln w="12700">
            <a:solidFill>
              <a:srgbClr val="FFFFFF">
                <a:alpha val="0"/>
              </a:srgbClr>
            </a:solidFill>
            <a:prstDash val="solid"/>
          </a:ln>
        </p:spPr>
      </p:sp>
      <p:sp>
        <p:nvSpPr>
          <p:cNvPr id="25" name="text_2_22"/>
          <p:cNvSpPr txBox="1"/>
          <p:nvPr/>
        </p:nvSpPr>
        <p:spPr>
          <a:xfrm>
            <a:off x="4572000" y="4846320"/>
            <a:ext cx="1280160" cy="457200"/>
          </a:xfrm>
          <a:prstGeom prst="rect">
            <a:avLst/>
          </a:prstGeom>
          <a:noFill/>
          <a:ln/>
        </p:spPr>
        <p:txBody>
          <a:bodyPr wrap="square" lIns="0" tIns="0" rIns="0" bIns="0" rtlCol="0" anchor="ctr"/>
          <a:lstStyle/>
          <a:p>
            <a:pPr indent="0" marL="0">
              <a:buNone/>
            </a:pPr>
            <a:r>
              <a:rPr lang="en-US" sz="2400" b="1" dirty="0">
                <a:solidFill>
                  <a:schemeClr val="accent2"/>
                </a:solidFill>
                <a:latin typeface="Cambria" pitchFamily="34" charset="0"/>
                <a:ea typeface="Cambria" pitchFamily="34" charset="-122"/>
                <a:cs typeface="Cambria" pitchFamily="34" charset="-120"/>
              </a:rPr>
              <a:t>CLO 2</a:t>
            </a:r>
            <a:endParaRPr lang="en-US" sz="2400" dirty="0"/>
          </a:p>
        </p:txBody>
      </p:sp>
      <p:sp>
        <p:nvSpPr>
          <p:cNvPr id="26" name="text_2_23"/>
          <p:cNvSpPr txBox="1"/>
          <p:nvPr/>
        </p:nvSpPr>
        <p:spPr>
          <a:xfrm>
            <a:off x="4572000" y="5349240"/>
            <a:ext cx="3017520" cy="731520"/>
          </a:xfrm>
          <a:prstGeom prst="rect">
            <a:avLst/>
          </a:prstGeom>
          <a:noFill/>
          <a:ln/>
        </p:spPr>
        <p:txBody>
          <a:bodyPr wrap="square" lIns="0" tIns="0" rIns="0" bIns="0" rtlCol="0" anchor="t"/>
          <a:lstStyle/>
          <a:p>
            <a:pPr indent="0" marL="0">
              <a:buNone/>
            </a:pPr>
            <a:r>
              <a:rPr lang="en-US" sz="1600" b="1" dirty="0">
                <a:solidFill>
                  <a:schemeClr val="bg1"/>
                </a:solidFill>
              </a:rPr>
              <a:t>Analyse the problem</a:t>
            </a:r>
            <a:endParaRPr lang="en-US" sz="1600" dirty="0"/>
          </a:p>
          <a:p>
            <a:pPr indent="0" marL="0">
              <a:buNone/>
            </a:pPr>
            <a:r>
              <a:rPr lang="en-US" sz="1300" dirty="0">
                <a:solidFill>
                  <a:srgbClr val="A9BCCF"/>
                </a:solidFill>
              </a:rPr>
              <a:t>Stakeholders, constraints, incomplete requirements</a:t>
            </a:r>
            <a:endParaRPr lang="en-US" sz="1600" dirty="0"/>
          </a:p>
        </p:txBody>
      </p:sp>
      <p:sp>
        <p:nvSpPr>
          <p:cNvPr id="27" name="shape_2_24"/>
          <p:cNvSpPr/>
          <p:nvPr/>
        </p:nvSpPr>
        <p:spPr>
          <a:xfrm>
            <a:off x="8046720" y="4663440"/>
            <a:ext cx="3566160" cy="1508760"/>
          </a:xfrm>
          <a:prstGeom prst="roundRect">
            <a:avLst>
              <a:gd name="adj" fmla="val 7273"/>
            </a:avLst>
          </a:prstGeom>
          <a:solidFill>
            <a:schemeClr val="tx2"/>
          </a:solidFill>
          <a:ln w="12700">
            <a:solidFill>
              <a:srgbClr val="FFFFFF">
                <a:alpha val="0"/>
              </a:srgbClr>
            </a:solidFill>
            <a:prstDash val="solid"/>
          </a:ln>
        </p:spPr>
      </p:sp>
      <p:sp>
        <p:nvSpPr>
          <p:cNvPr id="28" name="text_2_25"/>
          <p:cNvSpPr txBox="1"/>
          <p:nvPr/>
        </p:nvSpPr>
        <p:spPr>
          <a:xfrm>
            <a:off x="8321040" y="4846320"/>
            <a:ext cx="1280160" cy="457200"/>
          </a:xfrm>
          <a:prstGeom prst="rect">
            <a:avLst/>
          </a:prstGeom>
          <a:noFill/>
          <a:ln/>
        </p:spPr>
        <p:txBody>
          <a:bodyPr wrap="square" lIns="0" tIns="0" rIns="0" bIns="0" rtlCol="0" anchor="ctr"/>
          <a:lstStyle/>
          <a:p>
            <a:pPr indent="0" marL="0">
              <a:buNone/>
            </a:pPr>
            <a:r>
              <a:rPr lang="en-US" sz="2400" b="1" dirty="0">
                <a:solidFill>
                  <a:schemeClr val="accent2"/>
                </a:solidFill>
                <a:latin typeface="Cambria" pitchFamily="34" charset="0"/>
                <a:ea typeface="Cambria" pitchFamily="34" charset="-122"/>
                <a:cs typeface="Cambria" pitchFamily="34" charset="-120"/>
              </a:rPr>
              <a:t>CLO 3</a:t>
            </a:r>
            <a:endParaRPr lang="en-US" sz="2400" dirty="0"/>
          </a:p>
        </p:txBody>
      </p:sp>
      <p:sp>
        <p:nvSpPr>
          <p:cNvPr id="29" name="text_2_26"/>
          <p:cNvSpPr txBox="1"/>
          <p:nvPr/>
        </p:nvSpPr>
        <p:spPr>
          <a:xfrm>
            <a:off x="8321040" y="5349240"/>
            <a:ext cx="3017520" cy="731520"/>
          </a:xfrm>
          <a:prstGeom prst="rect">
            <a:avLst/>
          </a:prstGeom>
          <a:noFill/>
          <a:ln/>
        </p:spPr>
        <p:txBody>
          <a:bodyPr wrap="square" lIns="0" tIns="0" rIns="0" bIns="0" rtlCol="0" anchor="t"/>
          <a:lstStyle/>
          <a:p>
            <a:pPr indent="0" marL="0">
              <a:buNone/>
            </a:pPr>
            <a:r>
              <a:rPr lang="en-US" sz="1600" b="1" dirty="0">
                <a:solidFill>
                  <a:schemeClr val="bg1"/>
                </a:solidFill>
              </a:rPr>
              <a:t>Evaluate and justify</a:t>
            </a:r>
            <a:endParaRPr lang="en-US" sz="1600" dirty="0"/>
          </a:p>
          <a:p>
            <a:pPr indent="0" marL="0">
              <a:buNone/>
            </a:pPr>
            <a:r>
              <a:rPr lang="en-US" sz="1300" dirty="0">
                <a:solidFill>
                  <a:srgbClr val="A9BCCF"/>
                </a:solidFill>
              </a:rPr>
              <a:t>Forward chaining vs alternatives, safety first</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2</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2" presetClass="entr" presetSubtype="4" fill="hold" nodeType="withEffect">
                                  <p:stCondLst>
                                    <p:cond delay="300"/>
                                  </p:stCondLst>
                                  <p:childTnLst>
                                    <p:set>
                                      <p:cBhvr>
                                        <p:cTn id="9" dur="1" fill="hold">
                                          <p:stCondLst>
                                            <p:cond delay="0"/>
                                          </p:stCondLst>
                                        </p:cTn>
                                        <p:tgtEl>
                                          <p:spTgt spid="5"/>
                                        </p:tgtEl>
                                        <p:attrNameLst>
                                          <p:attrName>style.visibility</p:attrName>
                                        </p:attrNameLst>
                                      </p:cBhvr>
                                      <p:to>
                                        <p:strVal val="visible"/>
                                      </p:to>
                                    </p:set>
                                    <p:anim calcmode="lin" valueType="num">
                                      <p:cBhvr additive="base">
                                        <p:cTn id="10" dur="500" fill="hold"/>
                                        <p:tgtEl>
                                          <p:spTgt spid="5"/>
                                        </p:tgtEl>
                                        <p:attrNameLst>
                                          <p:attrName>ppt_x</p:attrName>
                                        </p:attrNameLst>
                                      </p:cBhvr>
                                      <p:tavLst>
                                        <p:tav tm="0">
                                          <p:val>
                                            <p:strVal val="#ppt_x"/>
                                          </p:val>
                                        </p:tav>
                                        <p:tav tm="100000">
                                          <p:val>
                                            <p:strVal val="#ppt_x"/>
                                          </p:val>
                                        </p:tav>
                                      </p:tavLst>
                                    </p:anim>
                                    <p:anim calcmode="lin" valueType="num">
                                      <p:cBhvr additive="base">
                                        <p:cTn id="11" dur="500" fill="hold"/>
                                        <p:tgtEl>
                                          <p:spTgt spid="5"/>
                                        </p:tgtEl>
                                        <p:attrNameLst>
                                          <p:attrName>ppt_y</p:attrName>
                                        </p:attrNameLst>
                                      </p:cBhvr>
                                      <p:tavLst>
                                        <p:tav tm="0">
                                          <p:val>
                                            <p:strVal val="1+#ppt_h/2"/>
                                          </p:val>
                                        </p:tav>
                                        <p:tav tm="100000">
                                          <p:val>
                                            <p:strVal val="#ppt_y"/>
                                          </p:val>
                                        </p:tav>
                                      </p:tavLst>
                                    </p:anim>
                                  </p:childTnLst>
                                </p:cTn>
                              </p:par>
                              <p:par>
                                <p:cTn id="12" presetID="53" presetClass="entr" presetSubtype="16" fill="hold" nodeType="withEffect">
                                  <p:stCondLst>
                                    <p:cond delay="450"/>
                                  </p:stCondLst>
                                  <p:childTnLst>
                                    <p:set>
                                      <p:cBhvr>
                                        <p:cTn id="13" dur="1" fill="hold">
                                          <p:stCondLst>
                                            <p:cond delay="0"/>
                                          </p:stCondLst>
                                        </p:cTn>
                                        <p:tgtEl>
                                          <p:spTgt spid="6"/>
                                        </p:tgtEl>
                                        <p:attrNameLst>
                                          <p:attrName>style.visibility</p:attrName>
                                        </p:attrNameLst>
                                      </p:cBhvr>
                                      <p:to>
                                        <p:strVal val="visible"/>
                                      </p:to>
                                    </p:set>
                                    <p:anim calcmode="lin" valueType="num">
                                      <p:cBhvr>
                                        <p:cTn id="14" dur="350" fill="hold"/>
                                        <p:tgtEl>
                                          <p:spTgt spid="6"/>
                                        </p:tgtEl>
                                        <p:attrNameLst>
                                          <p:attrName>ppt_w</p:attrName>
                                        </p:attrNameLst>
                                      </p:cBhvr>
                                      <p:tavLst>
                                        <p:tav tm="0">
                                          <p:val>
                                            <p:fltVal val="0"/>
                                          </p:val>
                                        </p:tav>
                                        <p:tav tm="100000">
                                          <p:val>
                                            <p:strVal val="#ppt_w"/>
                                          </p:val>
                                        </p:tav>
                                      </p:tavLst>
                                    </p:anim>
                                    <p:anim calcmode="lin" valueType="num">
                                      <p:cBhvr>
                                        <p:cTn id="15" dur="350" fill="hold"/>
                                        <p:tgtEl>
                                          <p:spTgt spid="6"/>
                                        </p:tgtEl>
                                        <p:attrNameLst>
                                          <p:attrName>ppt_h</p:attrName>
                                        </p:attrNameLst>
                                      </p:cBhvr>
                                      <p:tavLst>
                                        <p:tav tm="0">
                                          <p:val>
                                            <p:fltVal val="0"/>
                                          </p:val>
                                        </p:tav>
                                        <p:tav tm="100000">
                                          <p:val>
                                            <p:strVal val="#ppt_h"/>
                                          </p:val>
                                        </p:tav>
                                      </p:tavLst>
                                    </p:anim>
                                    <p:animEffect transition="in" filter="fade">
                                      <p:cBhvr>
                                        <p:cTn id="16" dur="350"/>
                                        <p:tgtEl>
                                          <p:spTgt spid="6"/>
                                        </p:tgtEl>
                                      </p:cBhvr>
                                    </p:animEffect>
                                  </p:childTnLst>
                                </p:cTn>
                              </p:par>
                              <p:par>
                                <p:cTn id="17" presetID="53" presetClass="entr" presetSubtype="16" fill="hold" nodeType="withEffect">
                                  <p:stCondLst>
                                    <p:cond delay="450"/>
                                  </p:stCondLst>
                                  <p:childTnLst>
                                    <p:set>
                                      <p:cBhvr>
                                        <p:cTn id="18" dur="1" fill="hold">
                                          <p:stCondLst>
                                            <p:cond delay="0"/>
                                          </p:stCondLst>
                                        </p:cTn>
                                        <p:tgtEl>
                                          <p:spTgt spid="7"/>
                                        </p:tgtEl>
                                        <p:attrNameLst>
                                          <p:attrName>style.visibility</p:attrName>
                                        </p:attrNameLst>
                                      </p:cBhvr>
                                      <p:to>
                                        <p:strVal val="visible"/>
                                      </p:to>
                                    </p:set>
                                    <p:anim calcmode="lin" valueType="num">
                                      <p:cBhvr>
                                        <p:cTn id="19" dur="350" fill="hold"/>
                                        <p:tgtEl>
                                          <p:spTgt spid="7"/>
                                        </p:tgtEl>
                                        <p:attrNameLst>
                                          <p:attrName>ppt_w</p:attrName>
                                        </p:attrNameLst>
                                      </p:cBhvr>
                                      <p:tavLst>
                                        <p:tav tm="0">
                                          <p:val>
                                            <p:fltVal val="0"/>
                                          </p:val>
                                        </p:tav>
                                        <p:tav tm="100000">
                                          <p:val>
                                            <p:strVal val="#ppt_w"/>
                                          </p:val>
                                        </p:tav>
                                      </p:tavLst>
                                    </p:anim>
                                    <p:anim calcmode="lin" valueType="num">
                                      <p:cBhvr>
                                        <p:cTn id="20" dur="350" fill="hold"/>
                                        <p:tgtEl>
                                          <p:spTgt spid="7"/>
                                        </p:tgtEl>
                                        <p:attrNameLst>
                                          <p:attrName>ppt_h</p:attrName>
                                        </p:attrNameLst>
                                      </p:cBhvr>
                                      <p:tavLst>
                                        <p:tav tm="0">
                                          <p:val>
                                            <p:fltVal val="0"/>
                                          </p:val>
                                        </p:tav>
                                        <p:tav tm="100000">
                                          <p:val>
                                            <p:strVal val="#ppt_h"/>
                                          </p:val>
                                        </p:tav>
                                      </p:tavLst>
                                    </p:anim>
                                    <p:animEffect transition="in" filter="fade">
                                      <p:cBhvr>
                                        <p:cTn id="21" dur="350"/>
                                        <p:tgtEl>
                                          <p:spTgt spid="7"/>
                                        </p:tgtEl>
                                      </p:cBhvr>
                                    </p:animEffect>
                                  </p:childTnLst>
                                </p:cTn>
                              </p:par>
                              <p:par>
                                <p:cTn id="22" presetID="10" presetClass="entr" presetSubtype="0" fill="hold" nodeType="withEffect">
                                  <p:stCondLst>
                                    <p:cond delay="50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2" presetClass="entr" presetSubtype="4" fill="hold" nodeType="withEffect">
                                  <p:stCondLst>
                                    <p:cond delay="50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par>
                                <p:cTn id="29" presetID="10" presetClass="entr" presetSubtype="0" fill="hold" nodeType="withEffect">
                                  <p:stCondLst>
                                    <p:cond delay="60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par>
                                <p:cTn id="32" presetID="53" presetClass="entr" presetSubtype="16" fill="hold" nodeType="withEffect">
                                  <p:stCondLst>
                                    <p:cond delay="650"/>
                                  </p:stCondLst>
                                  <p:childTnLst>
                                    <p:set>
                                      <p:cBhvr>
                                        <p:cTn id="33" dur="1" fill="hold">
                                          <p:stCondLst>
                                            <p:cond delay="0"/>
                                          </p:stCondLst>
                                        </p:cTn>
                                        <p:tgtEl>
                                          <p:spTgt spid="11"/>
                                        </p:tgtEl>
                                        <p:attrNameLst>
                                          <p:attrName>style.visibility</p:attrName>
                                        </p:attrNameLst>
                                      </p:cBhvr>
                                      <p:to>
                                        <p:strVal val="visible"/>
                                      </p:to>
                                    </p:set>
                                    <p:anim calcmode="lin" valueType="num">
                                      <p:cBhvr>
                                        <p:cTn id="34" dur="350" fill="hold"/>
                                        <p:tgtEl>
                                          <p:spTgt spid="11"/>
                                        </p:tgtEl>
                                        <p:attrNameLst>
                                          <p:attrName>ppt_w</p:attrName>
                                        </p:attrNameLst>
                                      </p:cBhvr>
                                      <p:tavLst>
                                        <p:tav tm="0">
                                          <p:val>
                                            <p:fltVal val="0"/>
                                          </p:val>
                                        </p:tav>
                                        <p:tav tm="100000">
                                          <p:val>
                                            <p:strVal val="#ppt_w"/>
                                          </p:val>
                                        </p:tav>
                                      </p:tavLst>
                                    </p:anim>
                                    <p:anim calcmode="lin" valueType="num">
                                      <p:cBhvr>
                                        <p:cTn id="35" dur="350" fill="hold"/>
                                        <p:tgtEl>
                                          <p:spTgt spid="11"/>
                                        </p:tgtEl>
                                        <p:attrNameLst>
                                          <p:attrName>ppt_h</p:attrName>
                                        </p:attrNameLst>
                                      </p:cBhvr>
                                      <p:tavLst>
                                        <p:tav tm="0">
                                          <p:val>
                                            <p:fltVal val="0"/>
                                          </p:val>
                                        </p:tav>
                                        <p:tav tm="100000">
                                          <p:val>
                                            <p:strVal val="#ppt_h"/>
                                          </p:val>
                                        </p:tav>
                                      </p:tavLst>
                                    </p:anim>
                                    <p:animEffect transition="in" filter="fade">
                                      <p:cBhvr>
                                        <p:cTn id="36" dur="350"/>
                                        <p:tgtEl>
                                          <p:spTgt spid="11"/>
                                        </p:tgtEl>
                                      </p:cBhvr>
                                    </p:animEffect>
                                  </p:childTnLst>
                                </p:cTn>
                              </p:par>
                              <p:par>
                                <p:cTn id="37" presetID="53" presetClass="entr" presetSubtype="16" fill="hold" nodeType="withEffect">
                                  <p:stCondLst>
                                    <p:cond delay="650"/>
                                  </p:stCondLst>
                                  <p:childTnLst>
                                    <p:set>
                                      <p:cBhvr>
                                        <p:cTn id="38" dur="1" fill="hold">
                                          <p:stCondLst>
                                            <p:cond delay="0"/>
                                          </p:stCondLst>
                                        </p:cTn>
                                        <p:tgtEl>
                                          <p:spTgt spid="12"/>
                                        </p:tgtEl>
                                        <p:attrNameLst>
                                          <p:attrName>style.visibility</p:attrName>
                                        </p:attrNameLst>
                                      </p:cBhvr>
                                      <p:to>
                                        <p:strVal val="visible"/>
                                      </p:to>
                                    </p:set>
                                    <p:anim calcmode="lin" valueType="num">
                                      <p:cBhvr>
                                        <p:cTn id="39" dur="350" fill="hold"/>
                                        <p:tgtEl>
                                          <p:spTgt spid="12"/>
                                        </p:tgtEl>
                                        <p:attrNameLst>
                                          <p:attrName>ppt_w</p:attrName>
                                        </p:attrNameLst>
                                      </p:cBhvr>
                                      <p:tavLst>
                                        <p:tav tm="0">
                                          <p:val>
                                            <p:fltVal val="0"/>
                                          </p:val>
                                        </p:tav>
                                        <p:tav tm="100000">
                                          <p:val>
                                            <p:strVal val="#ppt_w"/>
                                          </p:val>
                                        </p:tav>
                                      </p:tavLst>
                                    </p:anim>
                                    <p:anim calcmode="lin" valueType="num">
                                      <p:cBhvr>
                                        <p:cTn id="40" dur="350" fill="hold"/>
                                        <p:tgtEl>
                                          <p:spTgt spid="12"/>
                                        </p:tgtEl>
                                        <p:attrNameLst>
                                          <p:attrName>ppt_h</p:attrName>
                                        </p:attrNameLst>
                                      </p:cBhvr>
                                      <p:tavLst>
                                        <p:tav tm="0">
                                          <p:val>
                                            <p:fltVal val="0"/>
                                          </p:val>
                                        </p:tav>
                                        <p:tav tm="100000">
                                          <p:val>
                                            <p:strVal val="#ppt_h"/>
                                          </p:val>
                                        </p:tav>
                                      </p:tavLst>
                                    </p:anim>
                                    <p:animEffect transition="in" filter="fade">
                                      <p:cBhvr>
                                        <p:cTn id="41" dur="350"/>
                                        <p:tgtEl>
                                          <p:spTgt spid="12"/>
                                        </p:tgtEl>
                                      </p:cBhvr>
                                    </p:animEffect>
                                  </p:childTnLst>
                                </p:cTn>
                              </p:par>
                              <p:par>
                                <p:cTn id="42" presetID="10" presetClass="entr" presetSubtype="0" fill="hold" nodeType="withEffect">
                                  <p:stCondLst>
                                    <p:cond delay="70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500"/>
                                        <p:tgtEl>
                                          <p:spTgt spid="13"/>
                                        </p:tgtEl>
                                      </p:cBhvr>
                                    </p:animEffect>
                                  </p:childTnLst>
                                </p:cTn>
                              </p:par>
                              <p:par>
                                <p:cTn id="45" presetID="2" presetClass="entr" presetSubtype="4" fill="hold" nodeType="withEffect">
                                  <p:stCondLst>
                                    <p:cond delay="70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fill="hold"/>
                                        <p:tgtEl>
                                          <p:spTgt spid="15"/>
                                        </p:tgtEl>
                                        <p:attrNameLst>
                                          <p:attrName>ppt_x</p:attrName>
                                        </p:attrNameLst>
                                      </p:cBhvr>
                                      <p:tavLst>
                                        <p:tav tm="0">
                                          <p:val>
                                            <p:strVal val="#ppt_x"/>
                                          </p:val>
                                        </p:tav>
                                        <p:tav tm="100000">
                                          <p:val>
                                            <p:strVal val="#ppt_x"/>
                                          </p:val>
                                        </p:tav>
                                      </p:tavLst>
                                    </p:anim>
                                    <p:anim calcmode="lin" valueType="num">
                                      <p:cBhvr additive="base">
                                        <p:cTn id="48" dur="500" fill="hold"/>
                                        <p:tgtEl>
                                          <p:spTgt spid="15"/>
                                        </p:tgtEl>
                                        <p:attrNameLst>
                                          <p:attrName>ppt_y</p:attrName>
                                        </p:attrNameLst>
                                      </p:cBhvr>
                                      <p:tavLst>
                                        <p:tav tm="0">
                                          <p:val>
                                            <p:strVal val="1+#ppt_h/2"/>
                                          </p:val>
                                        </p:tav>
                                        <p:tav tm="100000">
                                          <p:val>
                                            <p:strVal val="#ppt_y"/>
                                          </p:val>
                                        </p:tav>
                                      </p:tavLst>
                                    </p:anim>
                                  </p:childTnLst>
                                </p:cTn>
                              </p:par>
                              <p:par>
                                <p:cTn id="49" presetID="10" presetClass="entr" presetSubtype="0" fill="hold" nodeType="withEffect">
                                  <p:stCondLst>
                                    <p:cond delay="80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500"/>
                                        <p:tgtEl>
                                          <p:spTgt spid="14"/>
                                        </p:tgtEl>
                                      </p:cBhvr>
                                    </p:animEffect>
                                  </p:childTnLst>
                                </p:cTn>
                              </p:par>
                              <p:par>
                                <p:cTn id="52" presetID="53" presetClass="entr" presetSubtype="16" fill="hold" nodeType="withEffect">
                                  <p:stCondLst>
                                    <p:cond delay="850"/>
                                  </p:stCondLst>
                                  <p:childTnLst>
                                    <p:set>
                                      <p:cBhvr>
                                        <p:cTn id="53" dur="1" fill="hold">
                                          <p:stCondLst>
                                            <p:cond delay="0"/>
                                          </p:stCondLst>
                                        </p:cTn>
                                        <p:tgtEl>
                                          <p:spTgt spid="16"/>
                                        </p:tgtEl>
                                        <p:attrNameLst>
                                          <p:attrName>style.visibility</p:attrName>
                                        </p:attrNameLst>
                                      </p:cBhvr>
                                      <p:to>
                                        <p:strVal val="visible"/>
                                      </p:to>
                                    </p:set>
                                    <p:anim calcmode="lin" valueType="num">
                                      <p:cBhvr>
                                        <p:cTn id="54" dur="350" fill="hold"/>
                                        <p:tgtEl>
                                          <p:spTgt spid="16"/>
                                        </p:tgtEl>
                                        <p:attrNameLst>
                                          <p:attrName>ppt_w</p:attrName>
                                        </p:attrNameLst>
                                      </p:cBhvr>
                                      <p:tavLst>
                                        <p:tav tm="0">
                                          <p:val>
                                            <p:fltVal val="0"/>
                                          </p:val>
                                        </p:tav>
                                        <p:tav tm="100000">
                                          <p:val>
                                            <p:strVal val="#ppt_w"/>
                                          </p:val>
                                        </p:tav>
                                      </p:tavLst>
                                    </p:anim>
                                    <p:anim calcmode="lin" valueType="num">
                                      <p:cBhvr>
                                        <p:cTn id="55" dur="350" fill="hold"/>
                                        <p:tgtEl>
                                          <p:spTgt spid="16"/>
                                        </p:tgtEl>
                                        <p:attrNameLst>
                                          <p:attrName>ppt_h</p:attrName>
                                        </p:attrNameLst>
                                      </p:cBhvr>
                                      <p:tavLst>
                                        <p:tav tm="0">
                                          <p:val>
                                            <p:fltVal val="0"/>
                                          </p:val>
                                        </p:tav>
                                        <p:tav tm="100000">
                                          <p:val>
                                            <p:strVal val="#ppt_h"/>
                                          </p:val>
                                        </p:tav>
                                      </p:tavLst>
                                    </p:anim>
                                    <p:animEffect transition="in" filter="fade">
                                      <p:cBhvr>
                                        <p:cTn id="56" dur="350"/>
                                        <p:tgtEl>
                                          <p:spTgt spid="16"/>
                                        </p:tgtEl>
                                      </p:cBhvr>
                                    </p:animEffect>
                                  </p:childTnLst>
                                </p:cTn>
                              </p:par>
                              <p:par>
                                <p:cTn id="57" presetID="53" presetClass="entr" presetSubtype="16" fill="hold" nodeType="withEffect">
                                  <p:stCondLst>
                                    <p:cond delay="850"/>
                                  </p:stCondLst>
                                  <p:childTnLst>
                                    <p:set>
                                      <p:cBhvr>
                                        <p:cTn id="58" dur="1" fill="hold">
                                          <p:stCondLst>
                                            <p:cond delay="0"/>
                                          </p:stCondLst>
                                        </p:cTn>
                                        <p:tgtEl>
                                          <p:spTgt spid="17"/>
                                        </p:tgtEl>
                                        <p:attrNameLst>
                                          <p:attrName>style.visibility</p:attrName>
                                        </p:attrNameLst>
                                      </p:cBhvr>
                                      <p:to>
                                        <p:strVal val="visible"/>
                                      </p:to>
                                    </p:set>
                                    <p:anim calcmode="lin" valueType="num">
                                      <p:cBhvr>
                                        <p:cTn id="59" dur="350" fill="hold"/>
                                        <p:tgtEl>
                                          <p:spTgt spid="17"/>
                                        </p:tgtEl>
                                        <p:attrNameLst>
                                          <p:attrName>ppt_w</p:attrName>
                                        </p:attrNameLst>
                                      </p:cBhvr>
                                      <p:tavLst>
                                        <p:tav tm="0">
                                          <p:val>
                                            <p:fltVal val="0"/>
                                          </p:val>
                                        </p:tav>
                                        <p:tav tm="100000">
                                          <p:val>
                                            <p:strVal val="#ppt_w"/>
                                          </p:val>
                                        </p:tav>
                                      </p:tavLst>
                                    </p:anim>
                                    <p:anim calcmode="lin" valueType="num">
                                      <p:cBhvr>
                                        <p:cTn id="60" dur="350" fill="hold"/>
                                        <p:tgtEl>
                                          <p:spTgt spid="17"/>
                                        </p:tgtEl>
                                        <p:attrNameLst>
                                          <p:attrName>ppt_h</p:attrName>
                                        </p:attrNameLst>
                                      </p:cBhvr>
                                      <p:tavLst>
                                        <p:tav tm="0">
                                          <p:val>
                                            <p:fltVal val="0"/>
                                          </p:val>
                                        </p:tav>
                                        <p:tav tm="100000">
                                          <p:val>
                                            <p:strVal val="#ppt_h"/>
                                          </p:val>
                                        </p:tav>
                                      </p:tavLst>
                                    </p:anim>
                                    <p:animEffect transition="in" filter="fade">
                                      <p:cBhvr>
                                        <p:cTn id="61" dur="350"/>
                                        <p:tgtEl>
                                          <p:spTgt spid="17"/>
                                        </p:tgtEl>
                                      </p:cBhvr>
                                    </p:animEffect>
                                  </p:childTnLst>
                                </p:cTn>
                              </p:par>
                              <p:par>
                                <p:cTn id="62" presetID="10" presetClass="entr" presetSubtype="0" fill="hold" nodeType="withEffect">
                                  <p:stCondLst>
                                    <p:cond delay="90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00"/>
                                        <p:tgtEl>
                                          <p:spTgt spid="18"/>
                                        </p:tgtEl>
                                      </p:cBhvr>
                                    </p:animEffect>
                                  </p:childTnLst>
                                </p:cTn>
                              </p:par>
                              <p:par>
                                <p:cTn id="65" presetID="10" presetClass="entr" presetSubtype="0" fill="hold" nodeType="withEffect">
                                  <p:stCondLst>
                                    <p:cond delay="100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500"/>
                                        <p:tgtEl>
                                          <p:spTgt spid="19"/>
                                        </p:tgtEl>
                                      </p:cBhvr>
                                    </p:animEffect>
                                  </p:childTnLst>
                                </p:cTn>
                              </p:par>
                              <p:par>
                                <p:cTn id="68" presetID="10" presetClass="entr" presetSubtype="0" fill="hold" nodeType="withEffect">
                                  <p:stCondLst>
                                    <p:cond delay="120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00"/>
                                        <p:tgtEl>
                                          <p:spTgt spid="20"/>
                                        </p:tgtEl>
                                      </p:cBhvr>
                                    </p:animEffect>
                                  </p:childTnLst>
                                </p:cTn>
                              </p:par>
                              <p:par>
                                <p:cTn id="71" presetID="2" presetClass="entr" presetSubtype="4" fill="hold" nodeType="withEffect">
                                  <p:stCondLst>
                                    <p:cond delay="1300"/>
                                  </p:stCondLst>
                                  <p:childTnLst>
                                    <p:set>
                                      <p:cBhvr>
                                        <p:cTn id="72" dur="1" fill="hold">
                                          <p:stCondLst>
                                            <p:cond delay="0"/>
                                          </p:stCondLst>
                                        </p:cTn>
                                        <p:tgtEl>
                                          <p:spTgt spid="21"/>
                                        </p:tgtEl>
                                        <p:attrNameLst>
                                          <p:attrName>style.visibility</p:attrName>
                                        </p:attrNameLst>
                                      </p:cBhvr>
                                      <p:to>
                                        <p:strVal val="visible"/>
                                      </p:to>
                                    </p:set>
                                    <p:anim calcmode="lin" valueType="num">
                                      <p:cBhvr additive="base">
                                        <p:cTn id="73" dur="500" fill="hold"/>
                                        <p:tgtEl>
                                          <p:spTgt spid="21"/>
                                        </p:tgtEl>
                                        <p:attrNameLst>
                                          <p:attrName>ppt_x</p:attrName>
                                        </p:attrNameLst>
                                      </p:cBhvr>
                                      <p:tavLst>
                                        <p:tav tm="0">
                                          <p:val>
                                            <p:strVal val="#ppt_x"/>
                                          </p:val>
                                        </p:tav>
                                        <p:tav tm="100000">
                                          <p:val>
                                            <p:strVal val="#ppt_x"/>
                                          </p:val>
                                        </p:tav>
                                      </p:tavLst>
                                    </p:anim>
                                    <p:anim calcmode="lin" valueType="num">
                                      <p:cBhvr additive="base">
                                        <p:cTn id="74" dur="500" fill="hold"/>
                                        <p:tgtEl>
                                          <p:spTgt spid="21"/>
                                        </p:tgtEl>
                                        <p:attrNameLst>
                                          <p:attrName>ppt_y</p:attrName>
                                        </p:attrNameLst>
                                      </p:cBhvr>
                                      <p:tavLst>
                                        <p:tav tm="0">
                                          <p:val>
                                            <p:strVal val="1+#ppt_h/2"/>
                                          </p:val>
                                        </p:tav>
                                        <p:tav tm="100000">
                                          <p:val>
                                            <p:strVal val="#ppt_y"/>
                                          </p:val>
                                        </p:tav>
                                      </p:tavLst>
                                    </p:anim>
                                  </p:childTnLst>
                                </p:cTn>
                              </p:par>
                              <p:par>
                                <p:cTn id="75" presetID="10" presetClass="entr" presetSubtype="0" fill="hold" nodeType="withEffect">
                                  <p:stCondLst>
                                    <p:cond delay="140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400"/>
                                        <p:tgtEl>
                                          <p:spTgt spid="22"/>
                                        </p:tgtEl>
                                      </p:cBhvr>
                                    </p:animEffect>
                                  </p:childTnLst>
                                </p:cTn>
                              </p:par>
                              <p:par>
                                <p:cTn id="78" presetID="10" presetClass="entr" presetSubtype="0" fill="hold" nodeType="withEffect">
                                  <p:stCondLst>
                                    <p:cond delay="1500"/>
                                  </p:stCondLst>
                                  <p:childTnLst>
                                    <p:set>
                                      <p:cBhvr>
                                        <p:cTn id="79" dur="1" fill="hold">
                                          <p:stCondLst>
                                            <p:cond delay="0"/>
                                          </p:stCondLst>
                                        </p:cTn>
                                        <p:tgtEl>
                                          <p:spTgt spid="23"/>
                                        </p:tgtEl>
                                        <p:attrNameLst>
                                          <p:attrName>style.visibility</p:attrName>
                                        </p:attrNameLst>
                                      </p:cBhvr>
                                      <p:to>
                                        <p:strVal val="visible"/>
                                      </p:to>
                                    </p:set>
                                    <p:animEffect transition="in" filter="fade">
                                      <p:cBhvr>
                                        <p:cTn id="80" dur="400"/>
                                        <p:tgtEl>
                                          <p:spTgt spid="23"/>
                                        </p:tgtEl>
                                      </p:cBhvr>
                                    </p:animEffect>
                                  </p:childTnLst>
                                </p:cTn>
                              </p:par>
                              <p:par>
                                <p:cTn id="81" presetID="2" presetClass="entr" presetSubtype="4" fill="hold" nodeType="withEffect">
                                  <p:stCondLst>
                                    <p:cond delay="1500"/>
                                  </p:stCondLst>
                                  <p:childTnLst>
                                    <p:set>
                                      <p:cBhvr>
                                        <p:cTn id="82" dur="1" fill="hold">
                                          <p:stCondLst>
                                            <p:cond delay="0"/>
                                          </p:stCondLst>
                                        </p:cTn>
                                        <p:tgtEl>
                                          <p:spTgt spid="24"/>
                                        </p:tgtEl>
                                        <p:attrNameLst>
                                          <p:attrName>style.visibility</p:attrName>
                                        </p:attrNameLst>
                                      </p:cBhvr>
                                      <p:to>
                                        <p:strVal val="visible"/>
                                      </p:to>
                                    </p:set>
                                    <p:anim calcmode="lin" valueType="num">
                                      <p:cBhvr additive="base">
                                        <p:cTn id="83" dur="500" fill="hold"/>
                                        <p:tgtEl>
                                          <p:spTgt spid="24"/>
                                        </p:tgtEl>
                                        <p:attrNameLst>
                                          <p:attrName>ppt_x</p:attrName>
                                        </p:attrNameLst>
                                      </p:cBhvr>
                                      <p:tavLst>
                                        <p:tav tm="0">
                                          <p:val>
                                            <p:strVal val="#ppt_x"/>
                                          </p:val>
                                        </p:tav>
                                        <p:tav tm="100000">
                                          <p:val>
                                            <p:strVal val="#ppt_x"/>
                                          </p:val>
                                        </p:tav>
                                      </p:tavLst>
                                    </p:anim>
                                    <p:anim calcmode="lin" valueType="num">
                                      <p:cBhvr additive="base">
                                        <p:cTn id="84" dur="500" fill="hold"/>
                                        <p:tgtEl>
                                          <p:spTgt spid="24"/>
                                        </p:tgtEl>
                                        <p:attrNameLst>
                                          <p:attrName>ppt_y</p:attrName>
                                        </p:attrNameLst>
                                      </p:cBhvr>
                                      <p:tavLst>
                                        <p:tav tm="0">
                                          <p:val>
                                            <p:strVal val="1+#ppt_h/2"/>
                                          </p:val>
                                        </p:tav>
                                        <p:tav tm="100000">
                                          <p:val>
                                            <p:strVal val="#ppt_y"/>
                                          </p:val>
                                        </p:tav>
                                      </p:tavLst>
                                    </p:anim>
                                  </p:childTnLst>
                                </p:cTn>
                              </p:par>
                              <p:par>
                                <p:cTn id="85" presetID="10" presetClass="entr" presetSubtype="0" fill="hold" nodeType="withEffect">
                                  <p:stCondLst>
                                    <p:cond delay="1600"/>
                                  </p:stCondLst>
                                  <p:childTnLst>
                                    <p:set>
                                      <p:cBhvr>
                                        <p:cTn id="86" dur="1" fill="hold">
                                          <p:stCondLst>
                                            <p:cond delay="0"/>
                                          </p:stCondLst>
                                        </p:cTn>
                                        <p:tgtEl>
                                          <p:spTgt spid="25"/>
                                        </p:tgtEl>
                                        <p:attrNameLst>
                                          <p:attrName>style.visibility</p:attrName>
                                        </p:attrNameLst>
                                      </p:cBhvr>
                                      <p:to>
                                        <p:strVal val="visible"/>
                                      </p:to>
                                    </p:set>
                                    <p:animEffect transition="in" filter="fade">
                                      <p:cBhvr>
                                        <p:cTn id="87" dur="400"/>
                                        <p:tgtEl>
                                          <p:spTgt spid="25"/>
                                        </p:tgtEl>
                                      </p:cBhvr>
                                    </p:animEffect>
                                  </p:childTnLst>
                                </p:cTn>
                              </p:par>
                              <p:par>
                                <p:cTn id="88" presetID="10" presetClass="entr" presetSubtype="0" fill="hold" nodeType="withEffect">
                                  <p:stCondLst>
                                    <p:cond delay="1700"/>
                                  </p:stCondLst>
                                  <p:childTnLst>
                                    <p:set>
                                      <p:cBhvr>
                                        <p:cTn id="89" dur="1" fill="hold">
                                          <p:stCondLst>
                                            <p:cond delay="0"/>
                                          </p:stCondLst>
                                        </p:cTn>
                                        <p:tgtEl>
                                          <p:spTgt spid="26"/>
                                        </p:tgtEl>
                                        <p:attrNameLst>
                                          <p:attrName>style.visibility</p:attrName>
                                        </p:attrNameLst>
                                      </p:cBhvr>
                                      <p:to>
                                        <p:strVal val="visible"/>
                                      </p:to>
                                    </p:set>
                                    <p:animEffect transition="in" filter="fade">
                                      <p:cBhvr>
                                        <p:cTn id="90" dur="400"/>
                                        <p:tgtEl>
                                          <p:spTgt spid="26"/>
                                        </p:tgtEl>
                                      </p:cBhvr>
                                    </p:animEffect>
                                  </p:childTnLst>
                                </p:cTn>
                              </p:par>
                              <p:par>
                                <p:cTn id="91" presetID="2" presetClass="entr" presetSubtype="4" fill="hold" nodeType="withEffect">
                                  <p:stCondLst>
                                    <p:cond delay="1700"/>
                                  </p:stCondLst>
                                  <p:childTnLst>
                                    <p:set>
                                      <p:cBhvr>
                                        <p:cTn id="92" dur="1" fill="hold">
                                          <p:stCondLst>
                                            <p:cond delay="0"/>
                                          </p:stCondLst>
                                        </p:cTn>
                                        <p:tgtEl>
                                          <p:spTgt spid="27"/>
                                        </p:tgtEl>
                                        <p:attrNameLst>
                                          <p:attrName>style.visibility</p:attrName>
                                        </p:attrNameLst>
                                      </p:cBhvr>
                                      <p:to>
                                        <p:strVal val="visible"/>
                                      </p:to>
                                    </p:set>
                                    <p:anim calcmode="lin" valueType="num">
                                      <p:cBhvr additive="base">
                                        <p:cTn id="93" dur="500" fill="hold"/>
                                        <p:tgtEl>
                                          <p:spTgt spid="27"/>
                                        </p:tgtEl>
                                        <p:attrNameLst>
                                          <p:attrName>ppt_x</p:attrName>
                                        </p:attrNameLst>
                                      </p:cBhvr>
                                      <p:tavLst>
                                        <p:tav tm="0">
                                          <p:val>
                                            <p:strVal val="#ppt_x"/>
                                          </p:val>
                                        </p:tav>
                                        <p:tav tm="100000">
                                          <p:val>
                                            <p:strVal val="#ppt_x"/>
                                          </p:val>
                                        </p:tav>
                                      </p:tavLst>
                                    </p:anim>
                                    <p:anim calcmode="lin" valueType="num">
                                      <p:cBhvr additive="base">
                                        <p:cTn id="94" dur="500" fill="hold"/>
                                        <p:tgtEl>
                                          <p:spTgt spid="27"/>
                                        </p:tgtEl>
                                        <p:attrNameLst>
                                          <p:attrName>ppt_y</p:attrName>
                                        </p:attrNameLst>
                                      </p:cBhvr>
                                      <p:tavLst>
                                        <p:tav tm="0">
                                          <p:val>
                                            <p:strVal val="1+#ppt_h/2"/>
                                          </p:val>
                                        </p:tav>
                                        <p:tav tm="100000">
                                          <p:val>
                                            <p:strVal val="#ppt_y"/>
                                          </p:val>
                                        </p:tav>
                                      </p:tavLst>
                                    </p:anim>
                                  </p:childTnLst>
                                </p:cTn>
                              </p:par>
                              <p:par>
                                <p:cTn id="95" presetID="10" presetClass="entr" presetSubtype="0" fill="hold" nodeType="withEffect">
                                  <p:stCondLst>
                                    <p:cond delay="1800"/>
                                  </p:stCondLst>
                                  <p:childTnLst>
                                    <p:set>
                                      <p:cBhvr>
                                        <p:cTn id="96" dur="1" fill="hold">
                                          <p:stCondLst>
                                            <p:cond delay="0"/>
                                          </p:stCondLst>
                                        </p:cTn>
                                        <p:tgtEl>
                                          <p:spTgt spid="28"/>
                                        </p:tgtEl>
                                        <p:attrNameLst>
                                          <p:attrName>style.visibility</p:attrName>
                                        </p:attrNameLst>
                                      </p:cBhvr>
                                      <p:to>
                                        <p:strVal val="visible"/>
                                      </p:to>
                                    </p:set>
                                    <p:animEffect transition="in" filter="fade">
                                      <p:cBhvr>
                                        <p:cTn id="97" dur="400"/>
                                        <p:tgtEl>
                                          <p:spTgt spid="28"/>
                                        </p:tgtEl>
                                      </p:cBhvr>
                                    </p:animEffect>
                                  </p:childTnLst>
                                </p:cTn>
                              </p:par>
                              <p:par>
                                <p:cTn id="98" presetID="10" presetClass="entr" presetSubtype="0" fill="hold" nodeType="withEffect">
                                  <p:stCondLst>
                                    <p:cond delay="1900"/>
                                  </p:stCondLst>
                                  <p:childTnLst>
                                    <p:set>
                                      <p:cBhvr>
                                        <p:cTn id="99" dur="1" fill="hold">
                                          <p:stCondLst>
                                            <p:cond delay="0"/>
                                          </p:stCondLst>
                                        </p:cTn>
                                        <p:tgtEl>
                                          <p:spTgt spid="29"/>
                                        </p:tgtEl>
                                        <p:attrNameLst>
                                          <p:attrName>style.visibility</p:attrName>
                                        </p:attrNameLst>
                                      </p:cBhvr>
                                      <p:to>
                                        <p:strVal val="visible"/>
                                      </p:to>
                                    </p:set>
                                    <p:animEffect transition="in" filter="fade">
                                      <p:cBhvr>
                                        <p:cTn id="100"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Who needs what — and where requirements collide</a:t>
            </a:r>
            <a:endParaRPr lang="en-US" sz="3200" dirty="0"/>
          </a:p>
        </p:txBody>
      </p:sp>
      <p:sp>
        <p:nvSpPr>
          <p:cNvPr id="4" name="shape_3_1"/>
          <p:cNvSpPr/>
          <p:nvPr/>
        </p:nvSpPr>
        <p:spPr>
          <a:xfrm>
            <a:off x="548640" y="1371600"/>
            <a:ext cx="3291840" cy="1463040"/>
          </a:xfrm>
          <a:prstGeom prst="roundRect">
            <a:avLst>
              <a:gd name="adj" fmla="val 7500"/>
            </a:avLst>
          </a:prstGeom>
          <a:solidFill>
            <a:schemeClr val="bg2"/>
          </a:solidFill>
          <a:ln w="12700">
            <a:solidFill>
              <a:srgbClr val="FFFFFF">
                <a:alpha val="0"/>
              </a:srgbClr>
            </a:solidFill>
            <a:prstDash val="solid"/>
          </a:ln>
        </p:spPr>
      </p:sp>
      <p:sp>
        <p:nvSpPr>
          <p:cNvPr id="5" name="shape_3_2"/>
          <p:cNvSpPr/>
          <p:nvPr/>
        </p:nvSpPr>
        <p:spPr>
          <a:xfrm>
            <a:off x="777240" y="1600200"/>
            <a:ext cx="594360" cy="594360"/>
          </a:xfrm>
          <a:prstGeom prst="ellipse">
            <a:avLst/>
          </a:prstGeom>
          <a:solidFill>
            <a:schemeClr val="accent1"/>
          </a:solidFill>
          <a:ln w="12700">
            <a:solidFill>
              <a:schemeClr val="accent1"/>
            </a:solidFill>
            <a:prstDash val="solid"/>
          </a:ln>
        </p:spPr>
      </p:sp>
      <p:pic>
        <p:nvPicPr>
          <p:cNvPr id="6" name="pic_3_3" descr="FaUser">    </p:cNvPr>
          <p:cNvPicPr>
            <a:picLocks noChangeAspect="1"/>
          </p:cNvPicPr>
          <p:nvPr/>
        </p:nvPicPr>
        <p:blipFill>
          <a:blip r:embed="rId1"/>
          <a:stretch>
            <a:fillRect/>
          </a:stretch>
        </p:blipFill>
        <p:spPr>
          <a:xfrm>
            <a:off x="925830" y="1748790"/>
            <a:ext cx="297180" cy="297180"/>
          </a:xfrm>
          <a:prstGeom prst="rect">
            <a:avLst/>
          </a:prstGeom>
        </p:spPr>
      </p:pic>
      <p:sp>
        <p:nvSpPr>
          <p:cNvPr id="7" name="text_3_4"/>
          <p:cNvSpPr txBox="1"/>
          <p:nvPr/>
        </p:nvSpPr>
        <p:spPr>
          <a:xfrm>
            <a:off x="1554480" y="1600200"/>
            <a:ext cx="2148840" cy="594360"/>
          </a:xfrm>
          <a:prstGeom prst="rect">
            <a:avLst/>
          </a:prstGeom>
          <a:noFill/>
          <a:ln/>
        </p:spPr>
        <p:txBody>
          <a:bodyPr wrap="square" lIns="0" tIns="0" rIns="0" bIns="0" rtlCol="0" anchor="ctr"/>
          <a:lstStyle/>
          <a:p>
            <a:pPr indent="0" marL="0">
              <a:buNone/>
            </a:pPr>
            <a:r>
              <a:rPr lang="en-US" sz="1700" b="1" dirty="0">
                <a:solidFill>
                  <a:schemeClr val="tx1"/>
                </a:solidFill>
              </a:rPr>
              <a:t>Operator</a:t>
            </a:r>
            <a:endParaRPr lang="en-US" sz="1700" dirty="0"/>
          </a:p>
        </p:txBody>
      </p:sp>
      <p:sp>
        <p:nvSpPr>
          <p:cNvPr id="8" name="text_3_5"/>
          <p:cNvSpPr txBox="1"/>
          <p:nvPr/>
        </p:nvSpPr>
        <p:spPr>
          <a:xfrm>
            <a:off x="777240" y="2286000"/>
            <a:ext cx="2834640" cy="457200"/>
          </a:xfrm>
          <a:prstGeom prst="rect">
            <a:avLst/>
          </a:prstGeom>
          <a:noFill/>
          <a:ln/>
        </p:spPr>
        <p:txBody>
          <a:bodyPr wrap="square" lIns="0" tIns="0" rIns="0" bIns="0" rtlCol="0" anchor="t"/>
          <a:lstStyle/>
          <a:p>
            <a:pPr indent="0" marL="0">
              <a:buNone/>
            </a:pPr>
            <a:r>
              <a:rPr lang="en-US" sz="1400" dirty="0">
                <a:solidFill>
                  <a:srgbClr val="5B6B7C"/>
                </a:solidFill>
              </a:rPr>
              <a:t>Records symptoms and source notes</a:t>
            </a:r>
            <a:endParaRPr lang="en-US" sz="1400" dirty="0"/>
          </a:p>
        </p:txBody>
      </p:sp>
      <p:sp>
        <p:nvSpPr>
          <p:cNvPr id="9" name="shape_3_6"/>
          <p:cNvSpPr/>
          <p:nvPr/>
        </p:nvSpPr>
        <p:spPr>
          <a:xfrm>
            <a:off x="3977640" y="1371600"/>
            <a:ext cx="3291840" cy="1463040"/>
          </a:xfrm>
          <a:prstGeom prst="roundRect">
            <a:avLst>
              <a:gd name="adj" fmla="val 7500"/>
            </a:avLst>
          </a:prstGeom>
          <a:solidFill>
            <a:schemeClr val="bg2"/>
          </a:solidFill>
          <a:ln w="12700">
            <a:solidFill>
              <a:srgbClr val="FFFFFF">
                <a:alpha val="0"/>
              </a:srgbClr>
            </a:solidFill>
            <a:prstDash val="solid"/>
          </a:ln>
        </p:spPr>
      </p:sp>
      <p:sp>
        <p:nvSpPr>
          <p:cNvPr id="10" name="shape_3_7"/>
          <p:cNvSpPr/>
          <p:nvPr/>
        </p:nvSpPr>
        <p:spPr>
          <a:xfrm>
            <a:off x="4206240" y="1600200"/>
            <a:ext cx="594360" cy="594360"/>
          </a:xfrm>
          <a:prstGeom prst="ellipse">
            <a:avLst/>
          </a:prstGeom>
          <a:solidFill>
            <a:schemeClr val="accent5"/>
          </a:solidFill>
          <a:ln w="12700">
            <a:solidFill>
              <a:schemeClr val="accent5"/>
            </a:solidFill>
            <a:prstDash val="solid"/>
          </a:ln>
        </p:spPr>
      </p:sp>
      <p:pic>
        <p:nvPicPr>
          <p:cNvPr id="11" name="pic_3_8" descr="FaWrench">    </p:cNvPr>
          <p:cNvPicPr>
            <a:picLocks noChangeAspect="1"/>
          </p:cNvPicPr>
          <p:nvPr/>
        </p:nvPicPr>
        <p:blipFill>
          <a:blip r:embed="rId2"/>
          <a:stretch>
            <a:fillRect/>
          </a:stretch>
        </p:blipFill>
        <p:spPr>
          <a:xfrm>
            <a:off x="4354830" y="1748790"/>
            <a:ext cx="297180" cy="297180"/>
          </a:xfrm>
          <a:prstGeom prst="rect">
            <a:avLst/>
          </a:prstGeom>
        </p:spPr>
      </p:pic>
      <p:sp>
        <p:nvSpPr>
          <p:cNvPr id="12" name="text_3_9"/>
          <p:cNvSpPr txBox="1"/>
          <p:nvPr/>
        </p:nvSpPr>
        <p:spPr>
          <a:xfrm>
            <a:off x="4983480" y="1600200"/>
            <a:ext cx="2148840" cy="594360"/>
          </a:xfrm>
          <a:prstGeom prst="rect">
            <a:avLst/>
          </a:prstGeom>
          <a:noFill/>
          <a:ln/>
        </p:spPr>
        <p:txBody>
          <a:bodyPr wrap="square" lIns="0" tIns="0" rIns="0" bIns="0" rtlCol="0" anchor="ctr"/>
          <a:lstStyle/>
          <a:p>
            <a:pPr indent="0" marL="0">
              <a:buNone/>
            </a:pPr>
            <a:r>
              <a:rPr lang="en-US" sz="1700" b="1" dirty="0">
                <a:solidFill>
                  <a:schemeClr val="tx1"/>
                </a:solidFill>
              </a:rPr>
              <a:t>Technician</a:t>
            </a:r>
            <a:endParaRPr lang="en-US" sz="1700" dirty="0"/>
          </a:p>
        </p:txBody>
      </p:sp>
      <p:sp>
        <p:nvSpPr>
          <p:cNvPr id="13" name="text_3_10"/>
          <p:cNvSpPr txBox="1"/>
          <p:nvPr/>
        </p:nvSpPr>
        <p:spPr>
          <a:xfrm>
            <a:off x="4206240" y="2286000"/>
            <a:ext cx="2834640" cy="457200"/>
          </a:xfrm>
          <a:prstGeom prst="rect">
            <a:avLst/>
          </a:prstGeom>
          <a:noFill/>
          <a:ln/>
        </p:spPr>
        <p:txBody>
          <a:bodyPr wrap="square" lIns="0" tIns="0" rIns="0" bIns="0" rtlCol="0" anchor="t"/>
          <a:lstStyle/>
          <a:p>
            <a:pPr indent="0" marL="0">
              <a:buNone/>
            </a:pPr>
            <a:r>
              <a:rPr lang="en-US" sz="1400" dirty="0">
                <a:solidFill>
                  <a:srgbClr val="5B6B7C"/>
                </a:solidFill>
              </a:rPr>
              <a:t>Sees evidence, cause and a safe next action</a:t>
            </a:r>
            <a:endParaRPr lang="en-US" sz="1400" dirty="0"/>
          </a:p>
        </p:txBody>
      </p:sp>
      <p:sp>
        <p:nvSpPr>
          <p:cNvPr id="14" name="shape_3_11"/>
          <p:cNvSpPr/>
          <p:nvPr/>
        </p:nvSpPr>
        <p:spPr>
          <a:xfrm>
            <a:off x="548640" y="2971800"/>
            <a:ext cx="3291840" cy="1463040"/>
          </a:xfrm>
          <a:prstGeom prst="roundRect">
            <a:avLst>
              <a:gd name="adj" fmla="val 7500"/>
            </a:avLst>
          </a:prstGeom>
          <a:solidFill>
            <a:schemeClr val="bg2"/>
          </a:solidFill>
          <a:ln w="12700">
            <a:solidFill>
              <a:srgbClr val="FFFFFF">
                <a:alpha val="0"/>
              </a:srgbClr>
            </a:solidFill>
            <a:prstDash val="solid"/>
          </a:ln>
        </p:spPr>
      </p:sp>
      <p:sp>
        <p:nvSpPr>
          <p:cNvPr id="15" name="shape_3_12"/>
          <p:cNvSpPr/>
          <p:nvPr/>
        </p:nvSpPr>
        <p:spPr>
          <a:xfrm>
            <a:off x="777240" y="3200400"/>
            <a:ext cx="594360" cy="594360"/>
          </a:xfrm>
          <a:prstGeom prst="ellipse">
            <a:avLst/>
          </a:prstGeom>
          <a:solidFill>
            <a:schemeClr val="accent3"/>
          </a:solidFill>
          <a:ln w="12700">
            <a:solidFill>
              <a:schemeClr val="accent3"/>
            </a:solidFill>
            <a:prstDash val="solid"/>
          </a:ln>
        </p:spPr>
      </p:sp>
      <p:pic>
        <p:nvPicPr>
          <p:cNvPr id="16" name="pic_3_13" descr="FaShieldAlt">    </p:cNvPr>
          <p:cNvPicPr>
            <a:picLocks noChangeAspect="1"/>
          </p:cNvPicPr>
          <p:nvPr/>
        </p:nvPicPr>
        <p:blipFill>
          <a:blip r:embed="rId3"/>
          <a:stretch>
            <a:fillRect/>
          </a:stretch>
        </p:blipFill>
        <p:spPr>
          <a:xfrm>
            <a:off x="925830" y="3348990"/>
            <a:ext cx="297180" cy="297180"/>
          </a:xfrm>
          <a:prstGeom prst="rect">
            <a:avLst/>
          </a:prstGeom>
        </p:spPr>
      </p:pic>
      <p:sp>
        <p:nvSpPr>
          <p:cNvPr id="17" name="text_3_14"/>
          <p:cNvSpPr txBox="1"/>
          <p:nvPr/>
        </p:nvSpPr>
        <p:spPr>
          <a:xfrm>
            <a:off x="1554480" y="3200400"/>
            <a:ext cx="2148840" cy="594360"/>
          </a:xfrm>
          <a:prstGeom prst="rect">
            <a:avLst/>
          </a:prstGeom>
          <a:noFill/>
          <a:ln/>
        </p:spPr>
        <p:txBody>
          <a:bodyPr wrap="square" lIns="0" tIns="0" rIns="0" bIns="0" rtlCol="0" anchor="ctr"/>
          <a:lstStyle/>
          <a:p>
            <a:pPr indent="0" marL="0">
              <a:buNone/>
            </a:pPr>
            <a:r>
              <a:rPr lang="en-US" sz="1700" b="1" dirty="0">
                <a:solidFill>
                  <a:schemeClr val="tx1"/>
                </a:solidFill>
              </a:rPr>
              <a:t>Safety officer</a:t>
            </a:r>
            <a:endParaRPr lang="en-US" sz="1700" dirty="0"/>
          </a:p>
        </p:txBody>
      </p:sp>
      <p:sp>
        <p:nvSpPr>
          <p:cNvPr id="18" name="text_3_15"/>
          <p:cNvSpPr txBox="1"/>
          <p:nvPr/>
        </p:nvSpPr>
        <p:spPr>
          <a:xfrm>
            <a:off x="777240" y="3886200"/>
            <a:ext cx="2834640" cy="457200"/>
          </a:xfrm>
          <a:prstGeom prst="rect">
            <a:avLst/>
          </a:prstGeom>
          <a:noFill/>
          <a:ln/>
        </p:spPr>
        <p:txBody>
          <a:bodyPr wrap="square" lIns="0" tIns="0" rIns="0" bIns="0" rtlCol="0" anchor="t"/>
          <a:lstStyle/>
          <a:p>
            <a:pPr indent="0" marL="0">
              <a:buNone/>
            </a:pPr>
            <a:r>
              <a:rPr lang="en-US" sz="1400" dirty="0">
                <a:solidFill>
                  <a:srgbClr val="5B6B7C"/>
                </a:solidFill>
              </a:rPr>
              <a:t>Immediate hazard escalation</a:t>
            </a:r>
            <a:endParaRPr lang="en-US" sz="1400" dirty="0"/>
          </a:p>
        </p:txBody>
      </p:sp>
      <p:sp>
        <p:nvSpPr>
          <p:cNvPr id="19" name="shape_3_16"/>
          <p:cNvSpPr/>
          <p:nvPr/>
        </p:nvSpPr>
        <p:spPr>
          <a:xfrm>
            <a:off x="3977640" y="2971800"/>
            <a:ext cx="3291840" cy="1463040"/>
          </a:xfrm>
          <a:prstGeom prst="roundRect">
            <a:avLst>
              <a:gd name="adj" fmla="val 7500"/>
            </a:avLst>
          </a:prstGeom>
          <a:solidFill>
            <a:schemeClr val="bg2"/>
          </a:solidFill>
          <a:ln w="12700">
            <a:solidFill>
              <a:srgbClr val="FFFFFF">
                <a:alpha val="0"/>
              </a:srgbClr>
            </a:solidFill>
            <a:prstDash val="solid"/>
          </a:ln>
        </p:spPr>
      </p:sp>
      <p:sp>
        <p:nvSpPr>
          <p:cNvPr id="20" name="shape_3_17"/>
          <p:cNvSpPr/>
          <p:nvPr/>
        </p:nvSpPr>
        <p:spPr>
          <a:xfrm>
            <a:off x="4206240" y="3200400"/>
            <a:ext cx="594360" cy="594360"/>
          </a:xfrm>
          <a:prstGeom prst="ellipse">
            <a:avLst/>
          </a:prstGeom>
          <a:solidFill>
            <a:schemeClr val="accent2"/>
          </a:solidFill>
          <a:ln w="12700">
            <a:solidFill>
              <a:schemeClr val="accent2"/>
            </a:solidFill>
            <a:prstDash val="solid"/>
          </a:ln>
        </p:spPr>
      </p:sp>
      <p:pic>
        <p:nvPicPr>
          <p:cNvPr id="21" name="pic_3_18" descr="FaChartLine">    </p:cNvPr>
          <p:cNvPicPr>
            <a:picLocks noChangeAspect="1"/>
          </p:cNvPicPr>
          <p:nvPr/>
        </p:nvPicPr>
        <p:blipFill>
          <a:blip r:embed="rId4"/>
          <a:stretch>
            <a:fillRect/>
          </a:stretch>
        </p:blipFill>
        <p:spPr>
          <a:xfrm>
            <a:off x="4354830" y="3348990"/>
            <a:ext cx="297180" cy="297180"/>
          </a:xfrm>
          <a:prstGeom prst="rect">
            <a:avLst/>
          </a:prstGeom>
        </p:spPr>
      </p:pic>
      <p:sp>
        <p:nvSpPr>
          <p:cNvPr id="22" name="text_3_19"/>
          <p:cNvSpPr txBox="1"/>
          <p:nvPr/>
        </p:nvSpPr>
        <p:spPr>
          <a:xfrm>
            <a:off x="4983480" y="3200400"/>
            <a:ext cx="2148840" cy="594360"/>
          </a:xfrm>
          <a:prstGeom prst="rect">
            <a:avLst/>
          </a:prstGeom>
          <a:noFill/>
          <a:ln/>
        </p:spPr>
        <p:txBody>
          <a:bodyPr wrap="square" lIns="0" tIns="0" rIns="0" bIns="0" rtlCol="0" anchor="ctr"/>
          <a:lstStyle/>
          <a:p>
            <a:pPr indent="0" marL="0">
              <a:buNone/>
            </a:pPr>
            <a:r>
              <a:rPr lang="en-US" sz="1700" b="1" dirty="0">
                <a:solidFill>
                  <a:schemeClr val="tx1"/>
                </a:solidFill>
              </a:rPr>
              <a:t>Supervisor</a:t>
            </a:r>
            <a:endParaRPr lang="en-US" sz="1700" dirty="0"/>
          </a:p>
        </p:txBody>
      </p:sp>
      <p:sp>
        <p:nvSpPr>
          <p:cNvPr id="23" name="text_3_20"/>
          <p:cNvSpPr txBox="1"/>
          <p:nvPr/>
        </p:nvSpPr>
        <p:spPr>
          <a:xfrm>
            <a:off x="4206240" y="3886200"/>
            <a:ext cx="2834640" cy="457200"/>
          </a:xfrm>
          <a:prstGeom prst="rect">
            <a:avLst/>
          </a:prstGeom>
          <a:noFill/>
          <a:ln/>
        </p:spPr>
        <p:txBody>
          <a:bodyPr wrap="square" lIns="0" tIns="0" rIns="0" bIns="0" rtlCol="0" anchor="t"/>
          <a:lstStyle/>
          <a:p>
            <a:pPr indent="0" marL="0">
              <a:buNone/>
            </a:pPr>
            <a:r>
              <a:rPr lang="en-US" sz="1400" dirty="0">
                <a:solidFill>
                  <a:srgbClr val="5B6B7C"/>
                </a:solidFill>
              </a:rPr>
              <a:t>Compares cost and downtime</a:t>
            </a:r>
            <a:endParaRPr lang="en-US" sz="1400" dirty="0"/>
          </a:p>
        </p:txBody>
      </p:sp>
      <p:sp>
        <p:nvSpPr>
          <p:cNvPr id="24" name="shape_3_21"/>
          <p:cNvSpPr/>
          <p:nvPr/>
        </p:nvSpPr>
        <p:spPr>
          <a:xfrm>
            <a:off x="548640" y="4572000"/>
            <a:ext cx="3291840" cy="1463040"/>
          </a:xfrm>
          <a:prstGeom prst="roundRect">
            <a:avLst>
              <a:gd name="adj" fmla="val 7500"/>
            </a:avLst>
          </a:prstGeom>
          <a:solidFill>
            <a:schemeClr val="bg2"/>
          </a:solidFill>
          <a:ln w="12700">
            <a:solidFill>
              <a:srgbClr val="FFFFFF">
                <a:alpha val="0"/>
              </a:srgbClr>
            </a:solidFill>
            <a:prstDash val="solid"/>
          </a:ln>
        </p:spPr>
      </p:sp>
      <p:sp>
        <p:nvSpPr>
          <p:cNvPr id="25" name="shape_3_22"/>
          <p:cNvSpPr/>
          <p:nvPr/>
        </p:nvSpPr>
        <p:spPr>
          <a:xfrm>
            <a:off x="777240" y="4800600"/>
            <a:ext cx="594360" cy="594360"/>
          </a:xfrm>
          <a:prstGeom prst="ellipse">
            <a:avLst/>
          </a:prstGeom>
          <a:solidFill>
            <a:schemeClr val="accent6"/>
          </a:solidFill>
          <a:ln w="12700">
            <a:solidFill>
              <a:schemeClr val="accent6"/>
            </a:solidFill>
            <a:prstDash val="solid"/>
          </a:ln>
        </p:spPr>
      </p:sp>
      <p:pic>
        <p:nvPicPr>
          <p:cNvPr id="26" name="pic_3_23" descr="FaCogs">    </p:cNvPr>
          <p:cNvPicPr>
            <a:picLocks noChangeAspect="1"/>
          </p:cNvPicPr>
          <p:nvPr/>
        </p:nvPicPr>
        <p:blipFill>
          <a:blip r:embed="rId5"/>
          <a:stretch>
            <a:fillRect/>
          </a:stretch>
        </p:blipFill>
        <p:spPr>
          <a:xfrm>
            <a:off x="925830" y="4949190"/>
            <a:ext cx="297180" cy="297180"/>
          </a:xfrm>
          <a:prstGeom prst="rect">
            <a:avLst/>
          </a:prstGeom>
        </p:spPr>
      </p:pic>
      <p:sp>
        <p:nvSpPr>
          <p:cNvPr id="27" name="text_3_24"/>
          <p:cNvSpPr txBox="1"/>
          <p:nvPr/>
        </p:nvSpPr>
        <p:spPr>
          <a:xfrm>
            <a:off x="1554480" y="4800600"/>
            <a:ext cx="2148840" cy="594360"/>
          </a:xfrm>
          <a:prstGeom prst="rect">
            <a:avLst/>
          </a:prstGeom>
          <a:noFill/>
          <a:ln/>
        </p:spPr>
        <p:txBody>
          <a:bodyPr wrap="square" lIns="0" tIns="0" rIns="0" bIns="0" rtlCol="0" anchor="ctr"/>
          <a:lstStyle/>
          <a:p>
            <a:pPr indent="0" marL="0">
              <a:buNone/>
            </a:pPr>
            <a:r>
              <a:rPr lang="en-US" sz="1700" b="1" dirty="0">
                <a:solidFill>
                  <a:schemeClr val="tx1"/>
                </a:solidFill>
              </a:rPr>
              <a:t>Knowledge engineer</a:t>
            </a:r>
            <a:endParaRPr lang="en-US" sz="1700" dirty="0"/>
          </a:p>
        </p:txBody>
      </p:sp>
      <p:sp>
        <p:nvSpPr>
          <p:cNvPr id="28" name="text_3_25"/>
          <p:cNvSpPr txBox="1"/>
          <p:nvPr/>
        </p:nvSpPr>
        <p:spPr>
          <a:xfrm>
            <a:off x="777240" y="5486400"/>
            <a:ext cx="2834640" cy="457200"/>
          </a:xfrm>
          <a:prstGeom prst="rect">
            <a:avLst/>
          </a:prstGeom>
          <a:noFill/>
          <a:ln/>
        </p:spPr>
        <p:txBody>
          <a:bodyPr wrap="square" lIns="0" tIns="0" rIns="0" bIns="0" rtlCol="0" anchor="t"/>
          <a:lstStyle/>
          <a:p>
            <a:pPr indent="0" marL="0">
              <a:buNone/>
            </a:pPr>
            <a:r>
              <a:rPr lang="en-US" sz="1400" dirty="0">
                <a:solidFill>
                  <a:srgbClr val="5B6B7C"/>
                </a:solidFill>
              </a:rPr>
              <a:t>Inspects and edits rules</a:t>
            </a:r>
            <a:endParaRPr lang="en-US" sz="1400" dirty="0"/>
          </a:p>
        </p:txBody>
      </p:sp>
      <p:sp>
        <p:nvSpPr>
          <p:cNvPr id="29" name="shape_3_26"/>
          <p:cNvSpPr/>
          <p:nvPr/>
        </p:nvSpPr>
        <p:spPr>
          <a:xfrm>
            <a:off x="3977640" y="4572000"/>
            <a:ext cx="3291840" cy="1463040"/>
          </a:xfrm>
          <a:prstGeom prst="roundRect">
            <a:avLst>
              <a:gd name="adj" fmla="val 7500"/>
            </a:avLst>
          </a:prstGeom>
          <a:solidFill>
            <a:schemeClr val="bg2"/>
          </a:solidFill>
          <a:ln w="12700">
            <a:solidFill>
              <a:srgbClr val="FFFFFF">
                <a:alpha val="0"/>
              </a:srgbClr>
            </a:solidFill>
            <a:prstDash val="solid"/>
          </a:ln>
        </p:spPr>
      </p:sp>
      <p:sp>
        <p:nvSpPr>
          <p:cNvPr id="30" name="shape_3_27"/>
          <p:cNvSpPr/>
          <p:nvPr/>
        </p:nvSpPr>
        <p:spPr>
          <a:xfrm>
            <a:off x="4206240" y="4800600"/>
            <a:ext cx="594360" cy="594360"/>
          </a:xfrm>
          <a:prstGeom prst="ellipse">
            <a:avLst/>
          </a:prstGeom>
          <a:solidFill>
            <a:schemeClr val="accent4"/>
          </a:solidFill>
          <a:ln w="12700">
            <a:solidFill>
              <a:schemeClr val="accent4"/>
            </a:solidFill>
            <a:prstDash val="solid"/>
          </a:ln>
        </p:spPr>
      </p:sp>
      <p:pic>
        <p:nvPicPr>
          <p:cNvPr id="31" name="pic_3_28" descr="FaGraduationCap">    </p:cNvPr>
          <p:cNvPicPr>
            <a:picLocks noChangeAspect="1"/>
          </p:cNvPicPr>
          <p:nvPr/>
        </p:nvPicPr>
        <p:blipFill>
          <a:blip r:embed="rId6"/>
          <a:stretch>
            <a:fillRect/>
          </a:stretch>
        </p:blipFill>
        <p:spPr>
          <a:xfrm>
            <a:off x="4354830" y="4949190"/>
            <a:ext cx="297180" cy="297180"/>
          </a:xfrm>
          <a:prstGeom prst="rect">
            <a:avLst/>
          </a:prstGeom>
        </p:spPr>
      </p:pic>
      <p:sp>
        <p:nvSpPr>
          <p:cNvPr id="32" name="text_3_29"/>
          <p:cNvSpPr txBox="1"/>
          <p:nvPr/>
        </p:nvSpPr>
        <p:spPr>
          <a:xfrm>
            <a:off x="4983480" y="4800600"/>
            <a:ext cx="2148840" cy="594360"/>
          </a:xfrm>
          <a:prstGeom prst="rect">
            <a:avLst/>
          </a:prstGeom>
          <a:noFill/>
          <a:ln/>
        </p:spPr>
        <p:txBody>
          <a:bodyPr wrap="square" lIns="0" tIns="0" rIns="0" bIns="0" rtlCol="0" anchor="ctr"/>
          <a:lstStyle/>
          <a:p>
            <a:pPr indent="0" marL="0">
              <a:buNone/>
            </a:pPr>
            <a:r>
              <a:rPr lang="en-US" sz="1700" b="1" dirty="0">
                <a:solidFill>
                  <a:schemeClr val="tx1"/>
                </a:solidFill>
              </a:rPr>
              <a:t>Examiner</a:t>
            </a:r>
            <a:endParaRPr lang="en-US" sz="1700" dirty="0"/>
          </a:p>
        </p:txBody>
      </p:sp>
      <p:sp>
        <p:nvSpPr>
          <p:cNvPr id="33" name="text_3_30"/>
          <p:cNvSpPr txBox="1"/>
          <p:nvPr/>
        </p:nvSpPr>
        <p:spPr>
          <a:xfrm>
            <a:off x="4206240" y="5486400"/>
            <a:ext cx="2834640" cy="457200"/>
          </a:xfrm>
          <a:prstGeom prst="rect">
            <a:avLst/>
          </a:prstGeom>
          <a:noFill/>
          <a:ln/>
        </p:spPr>
        <p:txBody>
          <a:bodyPr wrap="square" lIns="0" tIns="0" rIns="0" bIns="0" rtlCol="0" anchor="t"/>
          <a:lstStyle/>
          <a:p>
            <a:pPr indent="0" marL="0">
              <a:buNone/>
            </a:pPr>
            <a:r>
              <a:rPr lang="en-US" sz="1400" dirty="0">
                <a:solidFill>
                  <a:srgbClr val="5B6B7C"/>
                </a:solidFill>
              </a:rPr>
              <a:t>Explainable, demonstrable KBS</a:t>
            </a:r>
            <a:endParaRPr lang="en-US" sz="1400" dirty="0"/>
          </a:p>
        </p:txBody>
      </p:sp>
      <p:sp>
        <p:nvSpPr>
          <p:cNvPr id="34" name="shape_3_31"/>
          <p:cNvSpPr/>
          <p:nvPr/>
        </p:nvSpPr>
        <p:spPr>
          <a:xfrm>
            <a:off x="7635240" y="1371600"/>
            <a:ext cx="4023360" cy="4663440"/>
          </a:xfrm>
          <a:prstGeom prst="roundRect">
            <a:avLst>
              <a:gd name="adj" fmla="val 2727"/>
            </a:avLst>
          </a:prstGeom>
          <a:solidFill>
            <a:schemeClr val="tx2"/>
          </a:solidFill>
          <a:ln w="12700">
            <a:solidFill>
              <a:srgbClr val="FFFFFF">
                <a:alpha val="0"/>
              </a:srgbClr>
            </a:solidFill>
            <a:prstDash val="solid"/>
          </a:ln>
        </p:spPr>
      </p:sp>
      <p:sp>
        <p:nvSpPr>
          <p:cNvPr id="35" name="text_3_32"/>
          <p:cNvSpPr txBox="1"/>
          <p:nvPr/>
        </p:nvSpPr>
        <p:spPr>
          <a:xfrm>
            <a:off x="7909560" y="1554480"/>
            <a:ext cx="3566160" cy="45720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Conflicts we resolve</a:t>
            </a:r>
            <a:endParaRPr lang="en-US" sz="2000" dirty="0"/>
          </a:p>
        </p:txBody>
      </p:sp>
      <p:sp>
        <p:nvSpPr>
          <p:cNvPr id="36" name="text_3_33"/>
          <p:cNvSpPr txBox="1"/>
          <p:nvPr/>
        </p:nvSpPr>
        <p:spPr>
          <a:xfrm>
            <a:off x="7909560" y="2194560"/>
            <a:ext cx="3566160" cy="822960"/>
          </a:xfrm>
          <a:prstGeom prst="rect">
            <a:avLst/>
          </a:prstGeom>
          <a:noFill/>
          <a:ln/>
        </p:spPr>
        <p:txBody>
          <a:bodyPr wrap="square" lIns="0" tIns="0" rIns="0" bIns="0" rtlCol="0" anchor="t"/>
          <a:lstStyle/>
          <a:p>
            <a:pPr indent="0" marL="0">
              <a:buNone/>
            </a:pPr>
            <a:r>
              <a:rPr lang="en-US" sz="1500" b="1" dirty="0">
                <a:solidFill>
                  <a:schemeClr val="bg1"/>
                </a:solidFill>
              </a:rPr>
              <a:t>Safety  vs  quick restart</a:t>
            </a:r>
            <a:endParaRPr lang="en-US" sz="1500" dirty="0"/>
          </a:p>
          <a:p>
            <a:pPr indent="0" marL="0">
              <a:buNone/>
            </a:pPr>
            <a:r>
              <a:rPr lang="en-US" sz="1500" dirty="0">
                <a:solidFill>
                  <a:schemeClr val="accent1"/>
                </a:solidFill>
              </a:rPr>
              <a:t>→ Hazards escalate independently</a:t>
            </a:r>
            <a:endParaRPr lang="en-US" sz="1500" dirty="0"/>
          </a:p>
        </p:txBody>
      </p:sp>
      <p:sp>
        <p:nvSpPr>
          <p:cNvPr id="37" name="text_3_34"/>
          <p:cNvSpPr txBox="1"/>
          <p:nvPr/>
        </p:nvSpPr>
        <p:spPr>
          <a:xfrm>
            <a:off x="7909560" y="3127248"/>
            <a:ext cx="3566160" cy="822960"/>
          </a:xfrm>
          <a:prstGeom prst="rect">
            <a:avLst/>
          </a:prstGeom>
          <a:noFill/>
          <a:ln/>
        </p:spPr>
        <p:txBody>
          <a:bodyPr wrap="square" lIns="0" tIns="0" rIns="0" bIns="0" rtlCol="0" anchor="t"/>
          <a:lstStyle/>
          <a:p>
            <a:pPr indent="0" marL="0">
              <a:buNone/>
            </a:pPr>
            <a:r>
              <a:rPr lang="en-US" sz="1500" b="1" dirty="0">
                <a:solidFill>
                  <a:schemeClr val="bg1"/>
                </a:solidFill>
              </a:rPr>
              <a:t>Low cost  vs  reliability</a:t>
            </a:r>
            <a:endParaRPr lang="en-US" sz="1500" dirty="0"/>
          </a:p>
          <a:p>
            <a:pPr indent="0" marL="0">
              <a:buNone/>
            </a:pPr>
            <a:r>
              <a:rPr lang="en-US" sz="1500" dirty="0">
                <a:solidFill>
                  <a:schemeClr val="accent1"/>
                </a:solidFill>
              </a:rPr>
              <a:t>→ Cost is a secondary sort key</a:t>
            </a:r>
            <a:endParaRPr lang="en-US" sz="1500" dirty="0"/>
          </a:p>
        </p:txBody>
      </p:sp>
      <p:sp>
        <p:nvSpPr>
          <p:cNvPr id="38" name="text_3_35"/>
          <p:cNvSpPr txBox="1"/>
          <p:nvPr/>
        </p:nvSpPr>
        <p:spPr>
          <a:xfrm>
            <a:off x="7909560" y="4059936"/>
            <a:ext cx="3566160" cy="822960"/>
          </a:xfrm>
          <a:prstGeom prst="rect">
            <a:avLst/>
          </a:prstGeom>
          <a:noFill/>
          <a:ln/>
        </p:spPr>
        <p:txBody>
          <a:bodyPr wrap="square" lIns="0" tIns="0" rIns="0" bIns="0" rtlCol="0" anchor="t"/>
          <a:lstStyle/>
          <a:p>
            <a:pPr indent="0" marL="0">
              <a:buNone/>
            </a:pPr>
            <a:r>
              <a:rPr lang="en-US" sz="1500" b="1" dirty="0">
                <a:solidFill>
                  <a:schemeClr val="bg1"/>
                </a:solidFill>
              </a:rPr>
              <a:t>Decision  vs  missing data</a:t>
            </a:r>
            <a:endParaRPr lang="en-US" sz="1500" dirty="0"/>
          </a:p>
          <a:p>
            <a:pPr indent="0" marL="0">
              <a:buNone/>
            </a:pPr>
            <a:r>
              <a:rPr lang="en-US" sz="1500" dirty="0">
                <a:solidFill>
                  <a:schemeClr val="accent1"/>
                </a:solidFill>
              </a:rPr>
              <a:t>→ Unknown is never counted as No</a:t>
            </a:r>
            <a:endParaRPr lang="en-US" sz="1500" dirty="0"/>
          </a:p>
        </p:txBody>
      </p:sp>
      <p:sp>
        <p:nvSpPr>
          <p:cNvPr id="39" name="text_3_36"/>
          <p:cNvSpPr txBox="1"/>
          <p:nvPr/>
        </p:nvSpPr>
        <p:spPr>
          <a:xfrm>
            <a:off x="7909560" y="4992624"/>
            <a:ext cx="3566160" cy="822960"/>
          </a:xfrm>
          <a:prstGeom prst="rect">
            <a:avLst/>
          </a:prstGeom>
          <a:noFill/>
          <a:ln/>
        </p:spPr>
        <p:txBody>
          <a:bodyPr wrap="square" lIns="0" tIns="0" rIns="0" bIns="0" rtlCol="0" anchor="t"/>
          <a:lstStyle/>
          <a:p>
            <a:pPr indent="0" marL="0">
              <a:buNone/>
            </a:pPr>
            <a:r>
              <a:rPr lang="en-US" sz="1500" b="1" dirty="0">
                <a:solidFill>
                  <a:schemeClr val="bg1"/>
                </a:solidFill>
              </a:rPr>
              <a:t>Operator  vs  sensor</a:t>
            </a:r>
            <a:endParaRPr lang="en-US" sz="1500" dirty="0"/>
          </a:p>
          <a:p>
            <a:pPr indent="0" marL="0">
              <a:buNone/>
            </a:pPr>
            <a:r>
              <a:rPr lang="en-US" sz="1500" dirty="0">
                <a:solidFill>
                  <a:schemeClr val="accent1"/>
                </a:solidFill>
              </a:rPr>
              <a:t>→ Opposing claims become Conflict</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53" presetClass="entr" presetSubtype="16" fill="hold" nodeType="withEffect">
                                  <p:stCondLst>
                                    <p:cond delay="300"/>
                                  </p:stCondLst>
                                  <p:childTnLst>
                                    <p:set>
                                      <p:cBhvr>
                                        <p:cTn id="10" dur="1" fill="hold">
                                          <p:stCondLst>
                                            <p:cond delay="0"/>
                                          </p:stCondLst>
                                        </p:cTn>
                                        <p:tgtEl>
                                          <p:spTgt spid="5"/>
                                        </p:tgtEl>
                                        <p:attrNameLst>
                                          <p:attrName>style.visibility</p:attrName>
                                        </p:attrNameLst>
                                      </p:cBhvr>
                                      <p:to>
                                        <p:strVal val="visible"/>
                                      </p:to>
                                    </p:set>
                                    <p:anim calcmode="lin" valueType="num">
                                      <p:cBhvr>
                                        <p:cTn id="11" dur="350" fill="hold"/>
                                        <p:tgtEl>
                                          <p:spTgt spid="5"/>
                                        </p:tgtEl>
                                        <p:attrNameLst>
                                          <p:attrName>ppt_w</p:attrName>
                                        </p:attrNameLst>
                                      </p:cBhvr>
                                      <p:tavLst>
                                        <p:tav tm="0">
                                          <p:val>
                                            <p:fltVal val="0"/>
                                          </p:val>
                                        </p:tav>
                                        <p:tav tm="100000">
                                          <p:val>
                                            <p:strVal val="#ppt_w"/>
                                          </p:val>
                                        </p:tav>
                                      </p:tavLst>
                                    </p:anim>
                                    <p:anim calcmode="lin" valueType="num">
                                      <p:cBhvr>
                                        <p:cTn id="12" dur="350" fill="hold"/>
                                        <p:tgtEl>
                                          <p:spTgt spid="5"/>
                                        </p:tgtEl>
                                        <p:attrNameLst>
                                          <p:attrName>ppt_h</p:attrName>
                                        </p:attrNameLst>
                                      </p:cBhvr>
                                      <p:tavLst>
                                        <p:tav tm="0">
                                          <p:val>
                                            <p:fltVal val="0"/>
                                          </p:val>
                                        </p:tav>
                                        <p:tav tm="100000">
                                          <p:val>
                                            <p:strVal val="#ppt_h"/>
                                          </p:val>
                                        </p:tav>
                                      </p:tavLst>
                                    </p:anim>
                                    <p:animEffect transition="in" filter="fade">
                                      <p:cBhvr>
                                        <p:cTn id="13" dur="350"/>
                                        <p:tgtEl>
                                          <p:spTgt spid="5"/>
                                        </p:tgtEl>
                                      </p:cBhvr>
                                    </p:animEffect>
                                  </p:childTnLst>
                                </p:cTn>
                              </p:par>
                              <p:par>
                                <p:cTn id="14" presetID="53" presetClass="entr" presetSubtype="16" fill="hold" nodeType="withEffect">
                                  <p:stCondLst>
                                    <p:cond delay="300"/>
                                  </p:stCondLst>
                                  <p:childTnLst>
                                    <p:set>
                                      <p:cBhvr>
                                        <p:cTn id="15" dur="1" fill="hold">
                                          <p:stCondLst>
                                            <p:cond delay="0"/>
                                          </p:stCondLst>
                                        </p:cTn>
                                        <p:tgtEl>
                                          <p:spTgt spid="6"/>
                                        </p:tgtEl>
                                        <p:attrNameLst>
                                          <p:attrName>style.visibility</p:attrName>
                                        </p:attrNameLst>
                                      </p:cBhvr>
                                      <p:to>
                                        <p:strVal val="visible"/>
                                      </p:to>
                                    </p:set>
                                    <p:anim calcmode="lin" valueType="num">
                                      <p:cBhvr>
                                        <p:cTn id="16" dur="350" fill="hold"/>
                                        <p:tgtEl>
                                          <p:spTgt spid="6"/>
                                        </p:tgtEl>
                                        <p:attrNameLst>
                                          <p:attrName>ppt_w</p:attrName>
                                        </p:attrNameLst>
                                      </p:cBhvr>
                                      <p:tavLst>
                                        <p:tav tm="0">
                                          <p:val>
                                            <p:fltVal val="0"/>
                                          </p:val>
                                        </p:tav>
                                        <p:tav tm="100000">
                                          <p:val>
                                            <p:strVal val="#ppt_w"/>
                                          </p:val>
                                        </p:tav>
                                      </p:tavLst>
                                    </p:anim>
                                    <p:anim calcmode="lin" valueType="num">
                                      <p:cBhvr>
                                        <p:cTn id="17" dur="350" fill="hold"/>
                                        <p:tgtEl>
                                          <p:spTgt spid="6"/>
                                        </p:tgtEl>
                                        <p:attrNameLst>
                                          <p:attrName>ppt_h</p:attrName>
                                        </p:attrNameLst>
                                      </p:cBhvr>
                                      <p:tavLst>
                                        <p:tav tm="0">
                                          <p:val>
                                            <p:fltVal val="0"/>
                                          </p:val>
                                        </p:tav>
                                        <p:tav tm="100000">
                                          <p:val>
                                            <p:strVal val="#ppt_h"/>
                                          </p:val>
                                        </p:tav>
                                      </p:tavLst>
                                    </p:anim>
                                    <p:animEffect transition="in" filter="fade">
                                      <p:cBhvr>
                                        <p:cTn id="18" dur="350"/>
                                        <p:tgtEl>
                                          <p:spTgt spid="6"/>
                                        </p:tgtEl>
                                      </p:cBhvr>
                                    </p:animEffect>
                                  </p:childTnLst>
                                </p:cTn>
                              </p:par>
                              <p:par>
                                <p:cTn id="19" presetID="10" presetClass="entr" presetSubtype="0" fill="hold" nodeType="withEffect">
                                  <p:stCondLst>
                                    <p:cond delay="35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400"/>
                                        <p:tgtEl>
                                          <p:spTgt spid="7"/>
                                        </p:tgtEl>
                                      </p:cBhvr>
                                    </p:animEffect>
                                  </p:childTnLst>
                                </p:cTn>
                              </p:par>
                              <p:par>
                                <p:cTn id="22" presetID="2" presetClass="entr" presetSubtype="4" fill="hold" nodeType="withEffect">
                                  <p:stCondLst>
                                    <p:cond delay="350"/>
                                  </p:stCondLst>
                                  <p:childTnLst>
                                    <p:set>
                                      <p:cBhvr>
                                        <p:cTn id="23" dur="1" fill="hold">
                                          <p:stCondLst>
                                            <p:cond delay="0"/>
                                          </p:stCondLst>
                                        </p:cTn>
                                        <p:tgtEl>
                                          <p:spTgt spid="9"/>
                                        </p:tgtEl>
                                        <p:attrNameLst>
                                          <p:attrName>style.visibility</p:attrName>
                                        </p:attrNameLst>
                                      </p:cBhvr>
                                      <p:to>
                                        <p:strVal val="visible"/>
                                      </p:to>
                                    </p:set>
                                    <p:anim calcmode="lin" valueType="num">
                                      <p:cBhvr additive="base">
                                        <p:cTn id="24" dur="500" fill="hold"/>
                                        <p:tgtEl>
                                          <p:spTgt spid="9"/>
                                        </p:tgtEl>
                                        <p:attrNameLst>
                                          <p:attrName>ppt_x</p:attrName>
                                        </p:attrNameLst>
                                      </p:cBhvr>
                                      <p:tavLst>
                                        <p:tav tm="0">
                                          <p:val>
                                            <p:strVal val="#ppt_x"/>
                                          </p:val>
                                        </p:tav>
                                        <p:tav tm="100000">
                                          <p:val>
                                            <p:strVal val="#ppt_x"/>
                                          </p:val>
                                        </p:tav>
                                      </p:tavLst>
                                    </p:anim>
                                    <p:anim calcmode="lin" valueType="num">
                                      <p:cBhvr additive="base">
                                        <p:cTn id="25" dur="500" fill="hold"/>
                                        <p:tgtEl>
                                          <p:spTgt spid="9"/>
                                        </p:tgtEl>
                                        <p:attrNameLst>
                                          <p:attrName>ppt_y</p:attrName>
                                        </p:attrNameLst>
                                      </p:cBhvr>
                                      <p:tavLst>
                                        <p:tav tm="0">
                                          <p:val>
                                            <p:strVal val="1+#ppt_h/2"/>
                                          </p:val>
                                        </p:tav>
                                        <p:tav tm="100000">
                                          <p:val>
                                            <p:strVal val="#ppt_y"/>
                                          </p:val>
                                        </p:tav>
                                      </p:tavLst>
                                    </p:anim>
                                  </p:childTnLst>
                                </p:cTn>
                              </p:par>
                              <p:par>
                                <p:cTn id="26" presetID="10" presetClass="entr" presetSubtype="0" fill="hold" nodeType="withEffect">
                                  <p:stCondLst>
                                    <p:cond delay="40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400"/>
                                        <p:tgtEl>
                                          <p:spTgt spid="8"/>
                                        </p:tgtEl>
                                      </p:cBhvr>
                                    </p:animEffect>
                                  </p:childTnLst>
                                </p:cTn>
                              </p:par>
                              <p:par>
                                <p:cTn id="29" presetID="53" presetClass="entr" presetSubtype="16" fill="hold" nodeType="withEffect">
                                  <p:stCondLst>
                                    <p:cond delay="450"/>
                                  </p:stCondLst>
                                  <p:childTnLst>
                                    <p:set>
                                      <p:cBhvr>
                                        <p:cTn id="30" dur="1" fill="hold">
                                          <p:stCondLst>
                                            <p:cond delay="0"/>
                                          </p:stCondLst>
                                        </p:cTn>
                                        <p:tgtEl>
                                          <p:spTgt spid="10"/>
                                        </p:tgtEl>
                                        <p:attrNameLst>
                                          <p:attrName>style.visibility</p:attrName>
                                        </p:attrNameLst>
                                      </p:cBhvr>
                                      <p:to>
                                        <p:strVal val="visible"/>
                                      </p:to>
                                    </p:set>
                                    <p:anim calcmode="lin" valueType="num">
                                      <p:cBhvr>
                                        <p:cTn id="31" dur="350" fill="hold"/>
                                        <p:tgtEl>
                                          <p:spTgt spid="10"/>
                                        </p:tgtEl>
                                        <p:attrNameLst>
                                          <p:attrName>ppt_w</p:attrName>
                                        </p:attrNameLst>
                                      </p:cBhvr>
                                      <p:tavLst>
                                        <p:tav tm="0">
                                          <p:val>
                                            <p:fltVal val="0"/>
                                          </p:val>
                                        </p:tav>
                                        <p:tav tm="100000">
                                          <p:val>
                                            <p:strVal val="#ppt_w"/>
                                          </p:val>
                                        </p:tav>
                                      </p:tavLst>
                                    </p:anim>
                                    <p:anim calcmode="lin" valueType="num">
                                      <p:cBhvr>
                                        <p:cTn id="32" dur="350" fill="hold"/>
                                        <p:tgtEl>
                                          <p:spTgt spid="10"/>
                                        </p:tgtEl>
                                        <p:attrNameLst>
                                          <p:attrName>ppt_h</p:attrName>
                                        </p:attrNameLst>
                                      </p:cBhvr>
                                      <p:tavLst>
                                        <p:tav tm="0">
                                          <p:val>
                                            <p:fltVal val="0"/>
                                          </p:val>
                                        </p:tav>
                                        <p:tav tm="100000">
                                          <p:val>
                                            <p:strVal val="#ppt_h"/>
                                          </p:val>
                                        </p:tav>
                                      </p:tavLst>
                                    </p:anim>
                                    <p:animEffect transition="in" filter="fade">
                                      <p:cBhvr>
                                        <p:cTn id="33" dur="350"/>
                                        <p:tgtEl>
                                          <p:spTgt spid="10"/>
                                        </p:tgtEl>
                                      </p:cBhvr>
                                    </p:animEffect>
                                  </p:childTnLst>
                                </p:cTn>
                              </p:par>
                              <p:par>
                                <p:cTn id="34" presetID="53" presetClass="entr" presetSubtype="16" fill="hold" nodeType="withEffect">
                                  <p:stCondLst>
                                    <p:cond delay="450"/>
                                  </p:stCondLst>
                                  <p:childTnLst>
                                    <p:set>
                                      <p:cBhvr>
                                        <p:cTn id="35" dur="1" fill="hold">
                                          <p:stCondLst>
                                            <p:cond delay="0"/>
                                          </p:stCondLst>
                                        </p:cTn>
                                        <p:tgtEl>
                                          <p:spTgt spid="11"/>
                                        </p:tgtEl>
                                        <p:attrNameLst>
                                          <p:attrName>style.visibility</p:attrName>
                                        </p:attrNameLst>
                                      </p:cBhvr>
                                      <p:to>
                                        <p:strVal val="visible"/>
                                      </p:to>
                                    </p:set>
                                    <p:anim calcmode="lin" valueType="num">
                                      <p:cBhvr>
                                        <p:cTn id="36" dur="350" fill="hold"/>
                                        <p:tgtEl>
                                          <p:spTgt spid="11"/>
                                        </p:tgtEl>
                                        <p:attrNameLst>
                                          <p:attrName>ppt_w</p:attrName>
                                        </p:attrNameLst>
                                      </p:cBhvr>
                                      <p:tavLst>
                                        <p:tav tm="0">
                                          <p:val>
                                            <p:fltVal val="0"/>
                                          </p:val>
                                        </p:tav>
                                        <p:tav tm="100000">
                                          <p:val>
                                            <p:strVal val="#ppt_w"/>
                                          </p:val>
                                        </p:tav>
                                      </p:tavLst>
                                    </p:anim>
                                    <p:anim calcmode="lin" valueType="num">
                                      <p:cBhvr>
                                        <p:cTn id="37" dur="350" fill="hold"/>
                                        <p:tgtEl>
                                          <p:spTgt spid="11"/>
                                        </p:tgtEl>
                                        <p:attrNameLst>
                                          <p:attrName>ppt_h</p:attrName>
                                        </p:attrNameLst>
                                      </p:cBhvr>
                                      <p:tavLst>
                                        <p:tav tm="0">
                                          <p:val>
                                            <p:fltVal val="0"/>
                                          </p:val>
                                        </p:tav>
                                        <p:tav tm="100000">
                                          <p:val>
                                            <p:strVal val="#ppt_h"/>
                                          </p:val>
                                        </p:tav>
                                      </p:tavLst>
                                    </p:anim>
                                    <p:animEffect transition="in" filter="fade">
                                      <p:cBhvr>
                                        <p:cTn id="38" dur="350"/>
                                        <p:tgtEl>
                                          <p:spTgt spid="11"/>
                                        </p:tgtEl>
                                      </p:cBhvr>
                                    </p:animEffect>
                                  </p:childTnLst>
                                </p:cTn>
                              </p:par>
                              <p:par>
                                <p:cTn id="39" presetID="10" presetClass="entr" presetSubtype="0" fill="hold" nodeType="withEffect">
                                  <p:stCondLst>
                                    <p:cond delay="50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400"/>
                                        <p:tgtEl>
                                          <p:spTgt spid="12"/>
                                        </p:tgtEl>
                                      </p:cBhvr>
                                    </p:animEffect>
                                  </p:childTnLst>
                                </p:cTn>
                              </p:par>
                              <p:par>
                                <p:cTn id="42" presetID="2" presetClass="entr" presetSubtype="4" fill="hold" nodeType="withEffect">
                                  <p:stCondLst>
                                    <p:cond delay="500"/>
                                  </p:stCondLst>
                                  <p:childTnLst>
                                    <p:set>
                                      <p:cBhvr>
                                        <p:cTn id="43" dur="1" fill="hold">
                                          <p:stCondLst>
                                            <p:cond delay="0"/>
                                          </p:stCondLst>
                                        </p:cTn>
                                        <p:tgtEl>
                                          <p:spTgt spid="14"/>
                                        </p:tgtEl>
                                        <p:attrNameLst>
                                          <p:attrName>style.visibility</p:attrName>
                                        </p:attrNameLst>
                                      </p:cBhvr>
                                      <p:to>
                                        <p:strVal val="visible"/>
                                      </p:to>
                                    </p:set>
                                    <p:anim calcmode="lin" valueType="num">
                                      <p:cBhvr additive="base">
                                        <p:cTn id="44" dur="500" fill="hold"/>
                                        <p:tgtEl>
                                          <p:spTgt spid="14"/>
                                        </p:tgtEl>
                                        <p:attrNameLst>
                                          <p:attrName>ppt_x</p:attrName>
                                        </p:attrNameLst>
                                      </p:cBhvr>
                                      <p:tavLst>
                                        <p:tav tm="0">
                                          <p:val>
                                            <p:strVal val="#ppt_x"/>
                                          </p:val>
                                        </p:tav>
                                        <p:tav tm="100000">
                                          <p:val>
                                            <p:strVal val="#ppt_x"/>
                                          </p:val>
                                        </p:tav>
                                      </p:tavLst>
                                    </p:anim>
                                    <p:anim calcmode="lin" valueType="num">
                                      <p:cBhvr additive="base">
                                        <p:cTn id="45" dur="500" fill="hold"/>
                                        <p:tgtEl>
                                          <p:spTgt spid="14"/>
                                        </p:tgtEl>
                                        <p:attrNameLst>
                                          <p:attrName>ppt_y</p:attrName>
                                        </p:attrNameLst>
                                      </p:cBhvr>
                                      <p:tavLst>
                                        <p:tav tm="0">
                                          <p:val>
                                            <p:strVal val="1+#ppt_h/2"/>
                                          </p:val>
                                        </p:tav>
                                        <p:tav tm="100000">
                                          <p:val>
                                            <p:strVal val="#ppt_y"/>
                                          </p:val>
                                        </p:tav>
                                      </p:tavLst>
                                    </p:anim>
                                  </p:childTnLst>
                                </p:cTn>
                              </p:par>
                              <p:par>
                                <p:cTn id="46" presetID="10" presetClass="entr" presetSubtype="0" fill="hold" nodeType="withEffect">
                                  <p:stCondLst>
                                    <p:cond delay="55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400"/>
                                        <p:tgtEl>
                                          <p:spTgt spid="13"/>
                                        </p:tgtEl>
                                      </p:cBhvr>
                                    </p:animEffect>
                                  </p:childTnLst>
                                </p:cTn>
                              </p:par>
                              <p:par>
                                <p:cTn id="49" presetID="53" presetClass="entr" presetSubtype="16" fill="hold" nodeType="withEffect">
                                  <p:stCondLst>
                                    <p:cond delay="600"/>
                                  </p:stCondLst>
                                  <p:childTnLst>
                                    <p:set>
                                      <p:cBhvr>
                                        <p:cTn id="50" dur="1" fill="hold">
                                          <p:stCondLst>
                                            <p:cond delay="0"/>
                                          </p:stCondLst>
                                        </p:cTn>
                                        <p:tgtEl>
                                          <p:spTgt spid="15"/>
                                        </p:tgtEl>
                                        <p:attrNameLst>
                                          <p:attrName>style.visibility</p:attrName>
                                        </p:attrNameLst>
                                      </p:cBhvr>
                                      <p:to>
                                        <p:strVal val="visible"/>
                                      </p:to>
                                    </p:set>
                                    <p:anim calcmode="lin" valueType="num">
                                      <p:cBhvr>
                                        <p:cTn id="51" dur="350" fill="hold"/>
                                        <p:tgtEl>
                                          <p:spTgt spid="15"/>
                                        </p:tgtEl>
                                        <p:attrNameLst>
                                          <p:attrName>ppt_w</p:attrName>
                                        </p:attrNameLst>
                                      </p:cBhvr>
                                      <p:tavLst>
                                        <p:tav tm="0">
                                          <p:val>
                                            <p:fltVal val="0"/>
                                          </p:val>
                                        </p:tav>
                                        <p:tav tm="100000">
                                          <p:val>
                                            <p:strVal val="#ppt_w"/>
                                          </p:val>
                                        </p:tav>
                                      </p:tavLst>
                                    </p:anim>
                                    <p:anim calcmode="lin" valueType="num">
                                      <p:cBhvr>
                                        <p:cTn id="52" dur="350" fill="hold"/>
                                        <p:tgtEl>
                                          <p:spTgt spid="15"/>
                                        </p:tgtEl>
                                        <p:attrNameLst>
                                          <p:attrName>ppt_h</p:attrName>
                                        </p:attrNameLst>
                                      </p:cBhvr>
                                      <p:tavLst>
                                        <p:tav tm="0">
                                          <p:val>
                                            <p:fltVal val="0"/>
                                          </p:val>
                                        </p:tav>
                                        <p:tav tm="100000">
                                          <p:val>
                                            <p:strVal val="#ppt_h"/>
                                          </p:val>
                                        </p:tav>
                                      </p:tavLst>
                                    </p:anim>
                                    <p:animEffect transition="in" filter="fade">
                                      <p:cBhvr>
                                        <p:cTn id="53" dur="350"/>
                                        <p:tgtEl>
                                          <p:spTgt spid="15"/>
                                        </p:tgtEl>
                                      </p:cBhvr>
                                    </p:animEffect>
                                  </p:childTnLst>
                                </p:cTn>
                              </p:par>
                              <p:par>
                                <p:cTn id="54" presetID="53" presetClass="entr" presetSubtype="16" fill="hold" nodeType="withEffect">
                                  <p:stCondLst>
                                    <p:cond delay="600"/>
                                  </p:stCondLst>
                                  <p:childTnLst>
                                    <p:set>
                                      <p:cBhvr>
                                        <p:cTn id="55" dur="1" fill="hold">
                                          <p:stCondLst>
                                            <p:cond delay="0"/>
                                          </p:stCondLst>
                                        </p:cTn>
                                        <p:tgtEl>
                                          <p:spTgt spid="16"/>
                                        </p:tgtEl>
                                        <p:attrNameLst>
                                          <p:attrName>style.visibility</p:attrName>
                                        </p:attrNameLst>
                                      </p:cBhvr>
                                      <p:to>
                                        <p:strVal val="visible"/>
                                      </p:to>
                                    </p:set>
                                    <p:anim calcmode="lin" valueType="num">
                                      <p:cBhvr>
                                        <p:cTn id="56" dur="350" fill="hold"/>
                                        <p:tgtEl>
                                          <p:spTgt spid="16"/>
                                        </p:tgtEl>
                                        <p:attrNameLst>
                                          <p:attrName>ppt_w</p:attrName>
                                        </p:attrNameLst>
                                      </p:cBhvr>
                                      <p:tavLst>
                                        <p:tav tm="0">
                                          <p:val>
                                            <p:fltVal val="0"/>
                                          </p:val>
                                        </p:tav>
                                        <p:tav tm="100000">
                                          <p:val>
                                            <p:strVal val="#ppt_w"/>
                                          </p:val>
                                        </p:tav>
                                      </p:tavLst>
                                    </p:anim>
                                    <p:anim calcmode="lin" valueType="num">
                                      <p:cBhvr>
                                        <p:cTn id="57" dur="350" fill="hold"/>
                                        <p:tgtEl>
                                          <p:spTgt spid="16"/>
                                        </p:tgtEl>
                                        <p:attrNameLst>
                                          <p:attrName>ppt_h</p:attrName>
                                        </p:attrNameLst>
                                      </p:cBhvr>
                                      <p:tavLst>
                                        <p:tav tm="0">
                                          <p:val>
                                            <p:fltVal val="0"/>
                                          </p:val>
                                        </p:tav>
                                        <p:tav tm="100000">
                                          <p:val>
                                            <p:strVal val="#ppt_h"/>
                                          </p:val>
                                        </p:tav>
                                      </p:tavLst>
                                    </p:anim>
                                    <p:animEffect transition="in" filter="fade">
                                      <p:cBhvr>
                                        <p:cTn id="58" dur="350"/>
                                        <p:tgtEl>
                                          <p:spTgt spid="16"/>
                                        </p:tgtEl>
                                      </p:cBhvr>
                                    </p:animEffect>
                                  </p:childTnLst>
                                </p:cTn>
                              </p:par>
                              <p:par>
                                <p:cTn id="59" presetID="2" presetClass="entr" presetSubtype="2" fill="hold" nodeType="withEffect">
                                  <p:stCondLst>
                                    <p:cond delay="600"/>
                                  </p:stCondLst>
                                  <p:childTnLst>
                                    <p:set>
                                      <p:cBhvr>
                                        <p:cTn id="60" dur="1" fill="hold">
                                          <p:stCondLst>
                                            <p:cond delay="0"/>
                                          </p:stCondLst>
                                        </p:cTn>
                                        <p:tgtEl>
                                          <p:spTgt spid="34"/>
                                        </p:tgtEl>
                                        <p:attrNameLst>
                                          <p:attrName>style.visibility</p:attrName>
                                        </p:attrNameLst>
                                      </p:cBhvr>
                                      <p:to>
                                        <p:strVal val="visible"/>
                                      </p:to>
                                    </p:set>
                                    <p:anim calcmode="lin" valueType="num">
                                      <p:cBhvr additive="base">
                                        <p:cTn id="61" dur="500" fill="hold"/>
                                        <p:tgtEl>
                                          <p:spTgt spid="34"/>
                                        </p:tgtEl>
                                        <p:attrNameLst>
                                          <p:attrName>ppt_x</p:attrName>
                                        </p:attrNameLst>
                                      </p:cBhvr>
                                      <p:tavLst>
                                        <p:tav tm="0">
                                          <p:val>
                                            <p:strVal val="1+#ppt_w/2"/>
                                          </p:val>
                                        </p:tav>
                                        <p:tav tm="100000">
                                          <p:val>
                                            <p:strVal val="#ppt_x"/>
                                          </p:val>
                                        </p:tav>
                                      </p:tavLst>
                                    </p:anim>
                                    <p:anim calcmode="lin" valueType="num">
                                      <p:cBhvr additive="base">
                                        <p:cTn id="62" dur="500" fill="hold"/>
                                        <p:tgtEl>
                                          <p:spTgt spid="34"/>
                                        </p:tgtEl>
                                        <p:attrNameLst>
                                          <p:attrName>ppt_y</p:attrName>
                                        </p:attrNameLst>
                                      </p:cBhvr>
                                      <p:tavLst>
                                        <p:tav tm="0">
                                          <p:val>
                                            <p:strVal val="#ppt_y"/>
                                          </p:val>
                                        </p:tav>
                                        <p:tav tm="100000">
                                          <p:val>
                                            <p:strVal val="#ppt_y"/>
                                          </p:val>
                                        </p:tav>
                                      </p:tavLst>
                                    </p:anim>
                                  </p:childTnLst>
                                </p:cTn>
                              </p:par>
                              <p:par>
                                <p:cTn id="63" presetID="10" presetClass="entr" presetSubtype="0" fill="hold" nodeType="withEffect">
                                  <p:stCondLst>
                                    <p:cond delay="65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400"/>
                                        <p:tgtEl>
                                          <p:spTgt spid="17"/>
                                        </p:tgtEl>
                                      </p:cBhvr>
                                    </p:animEffect>
                                  </p:childTnLst>
                                </p:cTn>
                              </p:par>
                              <p:par>
                                <p:cTn id="66" presetID="2" presetClass="entr" presetSubtype="4" fill="hold" nodeType="withEffect">
                                  <p:stCondLst>
                                    <p:cond delay="650"/>
                                  </p:stCondLst>
                                  <p:childTnLst>
                                    <p:set>
                                      <p:cBhvr>
                                        <p:cTn id="67" dur="1" fill="hold">
                                          <p:stCondLst>
                                            <p:cond delay="0"/>
                                          </p:stCondLst>
                                        </p:cTn>
                                        <p:tgtEl>
                                          <p:spTgt spid="19"/>
                                        </p:tgtEl>
                                        <p:attrNameLst>
                                          <p:attrName>style.visibility</p:attrName>
                                        </p:attrNameLst>
                                      </p:cBhvr>
                                      <p:to>
                                        <p:strVal val="visible"/>
                                      </p:to>
                                    </p:set>
                                    <p:anim calcmode="lin" valueType="num">
                                      <p:cBhvr additive="base">
                                        <p:cTn id="68" dur="500" fill="hold"/>
                                        <p:tgtEl>
                                          <p:spTgt spid="19"/>
                                        </p:tgtEl>
                                        <p:attrNameLst>
                                          <p:attrName>ppt_x</p:attrName>
                                        </p:attrNameLst>
                                      </p:cBhvr>
                                      <p:tavLst>
                                        <p:tav tm="0">
                                          <p:val>
                                            <p:strVal val="#ppt_x"/>
                                          </p:val>
                                        </p:tav>
                                        <p:tav tm="100000">
                                          <p:val>
                                            <p:strVal val="#ppt_x"/>
                                          </p:val>
                                        </p:tav>
                                      </p:tavLst>
                                    </p:anim>
                                    <p:anim calcmode="lin" valueType="num">
                                      <p:cBhvr additive="base">
                                        <p:cTn id="69" dur="500" fill="hold"/>
                                        <p:tgtEl>
                                          <p:spTgt spid="19"/>
                                        </p:tgtEl>
                                        <p:attrNameLst>
                                          <p:attrName>ppt_y</p:attrName>
                                        </p:attrNameLst>
                                      </p:cBhvr>
                                      <p:tavLst>
                                        <p:tav tm="0">
                                          <p:val>
                                            <p:strVal val="1+#ppt_h/2"/>
                                          </p:val>
                                        </p:tav>
                                        <p:tav tm="100000">
                                          <p:val>
                                            <p:strVal val="#ppt_y"/>
                                          </p:val>
                                        </p:tav>
                                      </p:tavLst>
                                    </p:anim>
                                  </p:childTnLst>
                                </p:cTn>
                              </p:par>
                              <p:par>
                                <p:cTn id="70" presetID="10" presetClass="entr" presetSubtype="0" fill="hold" nodeType="withEffect">
                                  <p:stCondLst>
                                    <p:cond delay="70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400"/>
                                        <p:tgtEl>
                                          <p:spTgt spid="18"/>
                                        </p:tgtEl>
                                      </p:cBhvr>
                                    </p:animEffect>
                                  </p:childTnLst>
                                </p:cTn>
                              </p:par>
                              <p:par>
                                <p:cTn id="73" presetID="53" presetClass="entr" presetSubtype="16" fill="hold" nodeType="withEffect">
                                  <p:stCondLst>
                                    <p:cond delay="750"/>
                                  </p:stCondLst>
                                  <p:childTnLst>
                                    <p:set>
                                      <p:cBhvr>
                                        <p:cTn id="74" dur="1" fill="hold">
                                          <p:stCondLst>
                                            <p:cond delay="0"/>
                                          </p:stCondLst>
                                        </p:cTn>
                                        <p:tgtEl>
                                          <p:spTgt spid="20"/>
                                        </p:tgtEl>
                                        <p:attrNameLst>
                                          <p:attrName>style.visibility</p:attrName>
                                        </p:attrNameLst>
                                      </p:cBhvr>
                                      <p:to>
                                        <p:strVal val="visible"/>
                                      </p:to>
                                    </p:set>
                                    <p:anim calcmode="lin" valueType="num">
                                      <p:cBhvr>
                                        <p:cTn id="75" dur="350" fill="hold"/>
                                        <p:tgtEl>
                                          <p:spTgt spid="20"/>
                                        </p:tgtEl>
                                        <p:attrNameLst>
                                          <p:attrName>ppt_w</p:attrName>
                                        </p:attrNameLst>
                                      </p:cBhvr>
                                      <p:tavLst>
                                        <p:tav tm="0">
                                          <p:val>
                                            <p:fltVal val="0"/>
                                          </p:val>
                                        </p:tav>
                                        <p:tav tm="100000">
                                          <p:val>
                                            <p:strVal val="#ppt_w"/>
                                          </p:val>
                                        </p:tav>
                                      </p:tavLst>
                                    </p:anim>
                                    <p:anim calcmode="lin" valueType="num">
                                      <p:cBhvr>
                                        <p:cTn id="76" dur="350" fill="hold"/>
                                        <p:tgtEl>
                                          <p:spTgt spid="20"/>
                                        </p:tgtEl>
                                        <p:attrNameLst>
                                          <p:attrName>ppt_h</p:attrName>
                                        </p:attrNameLst>
                                      </p:cBhvr>
                                      <p:tavLst>
                                        <p:tav tm="0">
                                          <p:val>
                                            <p:fltVal val="0"/>
                                          </p:val>
                                        </p:tav>
                                        <p:tav tm="100000">
                                          <p:val>
                                            <p:strVal val="#ppt_h"/>
                                          </p:val>
                                        </p:tav>
                                      </p:tavLst>
                                    </p:anim>
                                    <p:animEffect transition="in" filter="fade">
                                      <p:cBhvr>
                                        <p:cTn id="77" dur="350"/>
                                        <p:tgtEl>
                                          <p:spTgt spid="20"/>
                                        </p:tgtEl>
                                      </p:cBhvr>
                                    </p:animEffect>
                                  </p:childTnLst>
                                </p:cTn>
                              </p:par>
                              <p:par>
                                <p:cTn id="78" presetID="53" presetClass="entr" presetSubtype="16" fill="hold" nodeType="withEffect">
                                  <p:stCondLst>
                                    <p:cond delay="750"/>
                                  </p:stCondLst>
                                  <p:childTnLst>
                                    <p:set>
                                      <p:cBhvr>
                                        <p:cTn id="79" dur="1" fill="hold">
                                          <p:stCondLst>
                                            <p:cond delay="0"/>
                                          </p:stCondLst>
                                        </p:cTn>
                                        <p:tgtEl>
                                          <p:spTgt spid="21"/>
                                        </p:tgtEl>
                                        <p:attrNameLst>
                                          <p:attrName>style.visibility</p:attrName>
                                        </p:attrNameLst>
                                      </p:cBhvr>
                                      <p:to>
                                        <p:strVal val="visible"/>
                                      </p:to>
                                    </p:set>
                                    <p:anim calcmode="lin" valueType="num">
                                      <p:cBhvr>
                                        <p:cTn id="80" dur="350" fill="hold"/>
                                        <p:tgtEl>
                                          <p:spTgt spid="21"/>
                                        </p:tgtEl>
                                        <p:attrNameLst>
                                          <p:attrName>ppt_w</p:attrName>
                                        </p:attrNameLst>
                                      </p:cBhvr>
                                      <p:tavLst>
                                        <p:tav tm="0">
                                          <p:val>
                                            <p:fltVal val="0"/>
                                          </p:val>
                                        </p:tav>
                                        <p:tav tm="100000">
                                          <p:val>
                                            <p:strVal val="#ppt_w"/>
                                          </p:val>
                                        </p:tav>
                                      </p:tavLst>
                                    </p:anim>
                                    <p:anim calcmode="lin" valueType="num">
                                      <p:cBhvr>
                                        <p:cTn id="81" dur="350" fill="hold"/>
                                        <p:tgtEl>
                                          <p:spTgt spid="21"/>
                                        </p:tgtEl>
                                        <p:attrNameLst>
                                          <p:attrName>ppt_h</p:attrName>
                                        </p:attrNameLst>
                                      </p:cBhvr>
                                      <p:tavLst>
                                        <p:tav tm="0">
                                          <p:val>
                                            <p:fltVal val="0"/>
                                          </p:val>
                                        </p:tav>
                                        <p:tav tm="100000">
                                          <p:val>
                                            <p:strVal val="#ppt_h"/>
                                          </p:val>
                                        </p:tav>
                                      </p:tavLst>
                                    </p:anim>
                                    <p:animEffect transition="in" filter="fade">
                                      <p:cBhvr>
                                        <p:cTn id="82" dur="350"/>
                                        <p:tgtEl>
                                          <p:spTgt spid="21"/>
                                        </p:tgtEl>
                                      </p:cBhvr>
                                    </p:animEffect>
                                  </p:childTnLst>
                                </p:cTn>
                              </p:par>
                              <p:par>
                                <p:cTn id="83" presetID="10" presetClass="entr" presetSubtype="0" fill="hold" nodeType="withEffect">
                                  <p:stCondLst>
                                    <p:cond delay="800"/>
                                  </p:stCondLst>
                                  <p:childTnLst>
                                    <p:set>
                                      <p:cBhvr>
                                        <p:cTn id="84" dur="1" fill="hold">
                                          <p:stCondLst>
                                            <p:cond delay="0"/>
                                          </p:stCondLst>
                                        </p:cTn>
                                        <p:tgtEl>
                                          <p:spTgt spid="22"/>
                                        </p:tgtEl>
                                        <p:attrNameLst>
                                          <p:attrName>style.visibility</p:attrName>
                                        </p:attrNameLst>
                                      </p:cBhvr>
                                      <p:to>
                                        <p:strVal val="visible"/>
                                      </p:to>
                                    </p:set>
                                    <p:animEffect transition="in" filter="fade">
                                      <p:cBhvr>
                                        <p:cTn id="85" dur="400"/>
                                        <p:tgtEl>
                                          <p:spTgt spid="22"/>
                                        </p:tgtEl>
                                      </p:cBhvr>
                                    </p:animEffect>
                                  </p:childTnLst>
                                </p:cTn>
                              </p:par>
                              <p:par>
                                <p:cTn id="86" presetID="2" presetClass="entr" presetSubtype="4" fill="hold" nodeType="withEffect">
                                  <p:stCondLst>
                                    <p:cond delay="800"/>
                                  </p:stCondLst>
                                  <p:childTnLst>
                                    <p:set>
                                      <p:cBhvr>
                                        <p:cTn id="87" dur="1" fill="hold">
                                          <p:stCondLst>
                                            <p:cond delay="0"/>
                                          </p:stCondLst>
                                        </p:cTn>
                                        <p:tgtEl>
                                          <p:spTgt spid="24"/>
                                        </p:tgtEl>
                                        <p:attrNameLst>
                                          <p:attrName>style.visibility</p:attrName>
                                        </p:attrNameLst>
                                      </p:cBhvr>
                                      <p:to>
                                        <p:strVal val="visible"/>
                                      </p:to>
                                    </p:set>
                                    <p:anim calcmode="lin" valueType="num">
                                      <p:cBhvr additive="base">
                                        <p:cTn id="88" dur="500" fill="hold"/>
                                        <p:tgtEl>
                                          <p:spTgt spid="24"/>
                                        </p:tgtEl>
                                        <p:attrNameLst>
                                          <p:attrName>ppt_x</p:attrName>
                                        </p:attrNameLst>
                                      </p:cBhvr>
                                      <p:tavLst>
                                        <p:tav tm="0">
                                          <p:val>
                                            <p:strVal val="#ppt_x"/>
                                          </p:val>
                                        </p:tav>
                                        <p:tav tm="100000">
                                          <p:val>
                                            <p:strVal val="#ppt_x"/>
                                          </p:val>
                                        </p:tav>
                                      </p:tavLst>
                                    </p:anim>
                                    <p:anim calcmode="lin" valueType="num">
                                      <p:cBhvr additive="base">
                                        <p:cTn id="89" dur="500" fill="hold"/>
                                        <p:tgtEl>
                                          <p:spTgt spid="24"/>
                                        </p:tgtEl>
                                        <p:attrNameLst>
                                          <p:attrName>ppt_y</p:attrName>
                                        </p:attrNameLst>
                                      </p:cBhvr>
                                      <p:tavLst>
                                        <p:tav tm="0">
                                          <p:val>
                                            <p:strVal val="1+#ppt_h/2"/>
                                          </p:val>
                                        </p:tav>
                                        <p:tav tm="100000">
                                          <p:val>
                                            <p:strVal val="#ppt_y"/>
                                          </p:val>
                                        </p:tav>
                                      </p:tavLst>
                                    </p:anim>
                                  </p:childTnLst>
                                </p:cTn>
                              </p:par>
                              <p:par>
                                <p:cTn id="90" presetID="10" presetClass="entr" presetSubtype="0" fill="hold" nodeType="withEffect">
                                  <p:stCondLst>
                                    <p:cond delay="850"/>
                                  </p:stCondLst>
                                  <p:childTnLst>
                                    <p:set>
                                      <p:cBhvr>
                                        <p:cTn id="91" dur="1" fill="hold">
                                          <p:stCondLst>
                                            <p:cond delay="0"/>
                                          </p:stCondLst>
                                        </p:cTn>
                                        <p:tgtEl>
                                          <p:spTgt spid="23"/>
                                        </p:tgtEl>
                                        <p:attrNameLst>
                                          <p:attrName>style.visibility</p:attrName>
                                        </p:attrNameLst>
                                      </p:cBhvr>
                                      <p:to>
                                        <p:strVal val="visible"/>
                                      </p:to>
                                    </p:set>
                                    <p:animEffect transition="in" filter="fade">
                                      <p:cBhvr>
                                        <p:cTn id="92" dur="400"/>
                                        <p:tgtEl>
                                          <p:spTgt spid="23"/>
                                        </p:tgtEl>
                                      </p:cBhvr>
                                    </p:animEffect>
                                  </p:childTnLst>
                                </p:cTn>
                              </p:par>
                              <p:par>
                                <p:cTn id="93" presetID="53" presetClass="entr" presetSubtype="16" fill="hold" nodeType="withEffect">
                                  <p:stCondLst>
                                    <p:cond delay="900"/>
                                  </p:stCondLst>
                                  <p:childTnLst>
                                    <p:set>
                                      <p:cBhvr>
                                        <p:cTn id="94" dur="1" fill="hold">
                                          <p:stCondLst>
                                            <p:cond delay="0"/>
                                          </p:stCondLst>
                                        </p:cTn>
                                        <p:tgtEl>
                                          <p:spTgt spid="25"/>
                                        </p:tgtEl>
                                        <p:attrNameLst>
                                          <p:attrName>style.visibility</p:attrName>
                                        </p:attrNameLst>
                                      </p:cBhvr>
                                      <p:to>
                                        <p:strVal val="visible"/>
                                      </p:to>
                                    </p:set>
                                    <p:anim calcmode="lin" valueType="num">
                                      <p:cBhvr>
                                        <p:cTn id="95" dur="350" fill="hold"/>
                                        <p:tgtEl>
                                          <p:spTgt spid="25"/>
                                        </p:tgtEl>
                                        <p:attrNameLst>
                                          <p:attrName>ppt_w</p:attrName>
                                        </p:attrNameLst>
                                      </p:cBhvr>
                                      <p:tavLst>
                                        <p:tav tm="0">
                                          <p:val>
                                            <p:fltVal val="0"/>
                                          </p:val>
                                        </p:tav>
                                        <p:tav tm="100000">
                                          <p:val>
                                            <p:strVal val="#ppt_w"/>
                                          </p:val>
                                        </p:tav>
                                      </p:tavLst>
                                    </p:anim>
                                    <p:anim calcmode="lin" valueType="num">
                                      <p:cBhvr>
                                        <p:cTn id="96" dur="350" fill="hold"/>
                                        <p:tgtEl>
                                          <p:spTgt spid="25"/>
                                        </p:tgtEl>
                                        <p:attrNameLst>
                                          <p:attrName>ppt_h</p:attrName>
                                        </p:attrNameLst>
                                      </p:cBhvr>
                                      <p:tavLst>
                                        <p:tav tm="0">
                                          <p:val>
                                            <p:fltVal val="0"/>
                                          </p:val>
                                        </p:tav>
                                        <p:tav tm="100000">
                                          <p:val>
                                            <p:strVal val="#ppt_h"/>
                                          </p:val>
                                        </p:tav>
                                      </p:tavLst>
                                    </p:anim>
                                    <p:animEffect transition="in" filter="fade">
                                      <p:cBhvr>
                                        <p:cTn id="97" dur="350"/>
                                        <p:tgtEl>
                                          <p:spTgt spid="25"/>
                                        </p:tgtEl>
                                      </p:cBhvr>
                                    </p:animEffect>
                                  </p:childTnLst>
                                </p:cTn>
                              </p:par>
                              <p:par>
                                <p:cTn id="98" presetID="53" presetClass="entr" presetSubtype="16" fill="hold" nodeType="withEffect">
                                  <p:stCondLst>
                                    <p:cond delay="900"/>
                                  </p:stCondLst>
                                  <p:childTnLst>
                                    <p:set>
                                      <p:cBhvr>
                                        <p:cTn id="99" dur="1" fill="hold">
                                          <p:stCondLst>
                                            <p:cond delay="0"/>
                                          </p:stCondLst>
                                        </p:cTn>
                                        <p:tgtEl>
                                          <p:spTgt spid="26"/>
                                        </p:tgtEl>
                                        <p:attrNameLst>
                                          <p:attrName>style.visibility</p:attrName>
                                        </p:attrNameLst>
                                      </p:cBhvr>
                                      <p:to>
                                        <p:strVal val="visible"/>
                                      </p:to>
                                    </p:set>
                                    <p:anim calcmode="lin" valueType="num">
                                      <p:cBhvr>
                                        <p:cTn id="100" dur="350" fill="hold"/>
                                        <p:tgtEl>
                                          <p:spTgt spid="26"/>
                                        </p:tgtEl>
                                        <p:attrNameLst>
                                          <p:attrName>ppt_w</p:attrName>
                                        </p:attrNameLst>
                                      </p:cBhvr>
                                      <p:tavLst>
                                        <p:tav tm="0">
                                          <p:val>
                                            <p:fltVal val="0"/>
                                          </p:val>
                                        </p:tav>
                                        <p:tav tm="100000">
                                          <p:val>
                                            <p:strVal val="#ppt_w"/>
                                          </p:val>
                                        </p:tav>
                                      </p:tavLst>
                                    </p:anim>
                                    <p:anim calcmode="lin" valueType="num">
                                      <p:cBhvr>
                                        <p:cTn id="101" dur="350" fill="hold"/>
                                        <p:tgtEl>
                                          <p:spTgt spid="26"/>
                                        </p:tgtEl>
                                        <p:attrNameLst>
                                          <p:attrName>ppt_h</p:attrName>
                                        </p:attrNameLst>
                                      </p:cBhvr>
                                      <p:tavLst>
                                        <p:tav tm="0">
                                          <p:val>
                                            <p:fltVal val="0"/>
                                          </p:val>
                                        </p:tav>
                                        <p:tav tm="100000">
                                          <p:val>
                                            <p:strVal val="#ppt_h"/>
                                          </p:val>
                                        </p:tav>
                                      </p:tavLst>
                                    </p:anim>
                                    <p:animEffect transition="in" filter="fade">
                                      <p:cBhvr>
                                        <p:cTn id="102" dur="350"/>
                                        <p:tgtEl>
                                          <p:spTgt spid="26"/>
                                        </p:tgtEl>
                                      </p:cBhvr>
                                    </p:animEffect>
                                  </p:childTnLst>
                                </p:cTn>
                              </p:par>
                              <p:par>
                                <p:cTn id="103" presetID="10" presetClass="entr" presetSubtype="0" fill="hold" nodeType="withEffect">
                                  <p:stCondLst>
                                    <p:cond delay="900"/>
                                  </p:stCondLst>
                                  <p:childTnLst>
                                    <p:set>
                                      <p:cBhvr>
                                        <p:cTn id="104" dur="1" fill="hold">
                                          <p:stCondLst>
                                            <p:cond delay="0"/>
                                          </p:stCondLst>
                                        </p:cTn>
                                        <p:tgtEl>
                                          <p:spTgt spid="35"/>
                                        </p:tgtEl>
                                        <p:attrNameLst>
                                          <p:attrName>style.visibility</p:attrName>
                                        </p:attrNameLst>
                                      </p:cBhvr>
                                      <p:to>
                                        <p:strVal val="visible"/>
                                      </p:to>
                                    </p:set>
                                    <p:animEffect transition="in" filter="fade">
                                      <p:cBhvr>
                                        <p:cTn id="105" dur="400"/>
                                        <p:tgtEl>
                                          <p:spTgt spid="35"/>
                                        </p:tgtEl>
                                      </p:cBhvr>
                                    </p:animEffect>
                                  </p:childTnLst>
                                </p:cTn>
                              </p:par>
                              <p:par>
                                <p:cTn id="106" presetID="10" presetClass="entr" presetSubtype="0" fill="hold" nodeType="withEffect">
                                  <p:stCondLst>
                                    <p:cond delay="950"/>
                                  </p:stCondLst>
                                  <p:childTnLst>
                                    <p:set>
                                      <p:cBhvr>
                                        <p:cTn id="107" dur="1" fill="hold">
                                          <p:stCondLst>
                                            <p:cond delay="0"/>
                                          </p:stCondLst>
                                        </p:cTn>
                                        <p:tgtEl>
                                          <p:spTgt spid="27"/>
                                        </p:tgtEl>
                                        <p:attrNameLst>
                                          <p:attrName>style.visibility</p:attrName>
                                        </p:attrNameLst>
                                      </p:cBhvr>
                                      <p:to>
                                        <p:strVal val="visible"/>
                                      </p:to>
                                    </p:set>
                                    <p:animEffect transition="in" filter="fade">
                                      <p:cBhvr>
                                        <p:cTn id="108" dur="400"/>
                                        <p:tgtEl>
                                          <p:spTgt spid="27"/>
                                        </p:tgtEl>
                                      </p:cBhvr>
                                    </p:animEffect>
                                  </p:childTnLst>
                                </p:cTn>
                              </p:par>
                              <p:par>
                                <p:cTn id="109" presetID="2" presetClass="entr" presetSubtype="4" fill="hold" nodeType="withEffect">
                                  <p:stCondLst>
                                    <p:cond delay="950"/>
                                  </p:stCondLst>
                                  <p:childTnLst>
                                    <p:set>
                                      <p:cBhvr>
                                        <p:cTn id="110" dur="1" fill="hold">
                                          <p:stCondLst>
                                            <p:cond delay="0"/>
                                          </p:stCondLst>
                                        </p:cTn>
                                        <p:tgtEl>
                                          <p:spTgt spid="29"/>
                                        </p:tgtEl>
                                        <p:attrNameLst>
                                          <p:attrName>style.visibility</p:attrName>
                                        </p:attrNameLst>
                                      </p:cBhvr>
                                      <p:to>
                                        <p:strVal val="visible"/>
                                      </p:to>
                                    </p:set>
                                    <p:anim calcmode="lin" valueType="num">
                                      <p:cBhvr additive="base">
                                        <p:cTn id="111" dur="500" fill="hold"/>
                                        <p:tgtEl>
                                          <p:spTgt spid="29"/>
                                        </p:tgtEl>
                                        <p:attrNameLst>
                                          <p:attrName>ppt_x</p:attrName>
                                        </p:attrNameLst>
                                      </p:cBhvr>
                                      <p:tavLst>
                                        <p:tav tm="0">
                                          <p:val>
                                            <p:strVal val="#ppt_x"/>
                                          </p:val>
                                        </p:tav>
                                        <p:tav tm="100000">
                                          <p:val>
                                            <p:strVal val="#ppt_x"/>
                                          </p:val>
                                        </p:tav>
                                      </p:tavLst>
                                    </p:anim>
                                    <p:anim calcmode="lin" valueType="num">
                                      <p:cBhvr additive="base">
                                        <p:cTn id="112" dur="500" fill="hold"/>
                                        <p:tgtEl>
                                          <p:spTgt spid="29"/>
                                        </p:tgtEl>
                                        <p:attrNameLst>
                                          <p:attrName>ppt_y</p:attrName>
                                        </p:attrNameLst>
                                      </p:cBhvr>
                                      <p:tavLst>
                                        <p:tav tm="0">
                                          <p:val>
                                            <p:strVal val="1+#ppt_h/2"/>
                                          </p:val>
                                        </p:tav>
                                        <p:tav tm="100000">
                                          <p:val>
                                            <p:strVal val="#ppt_y"/>
                                          </p:val>
                                        </p:tav>
                                      </p:tavLst>
                                    </p:anim>
                                  </p:childTnLst>
                                </p:cTn>
                              </p:par>
                              <p:par>
                                <p:cTn id="113" presetID="10" presetClass="entr" presetSubtype="0" fill="hold" nodeType="withEffect">
                                  <p:stCondLst>
                                    <p:cond delay="1000"/>
                                  </p:stCondLst>
                                  <p:childTnLst>
                                    <p:set>
                                      <p:cBhvr>
                                        <p:cTn id="114" dur="1" fill="hold">
                                          <p:stCondLst>
                                            <p:cond delay="0"/>
                                          </p:stCondLst>
                                        </p:cTn>
                                        <p:tgtEl>
                                          <p:spTgt spid="28"/>
                                        </p:tgtEl>
                                        <p:attrNameLst>
                                          <p:attrName>style.visibility</p:attrName>
                                        </p:attrNameLst>
                                      </p:cBhvr>
                                      <p:to>
                                        <p:strVal val="visible"/>
                                      </p:to>
                                    </p:set>
                                    <p:animEffect transition="in" filter="fade">
                                      <p:cBhvr>
                                        <p:cTn id="115" dur="400"/>
                                        <p:tgtEl>
                                          <p:spTgt spid="28"/>
                                        </p:tgtEl>
                                      </p:cBhvr>
                                    </p:animEffect>
                                  </p:childTnLst>
                                </p:cTn>
                              </p:par>
                              <p:par>
                                <p:cTn id="116" presetID="53" presetClass="entr" presetSubtype="16" fill="hold" nodeType="withEffect">
                                  <p:stCondLst>
                                    <p:cond delay="1050"/>
                                  </p:stCondLst>
                                  <p:childTnLst>
                                    <p:set>
                                      <p:cBhvr>
                                        <p:cTn id="117" dur="1" fill="hold">
                                          <p:stCondLst>
                                            <p:cond delay="0"/>
                                          </p:stCondLst>
                                        </p:cTn>
                                        <p:tgtEl>
                                          <p:spTgt spid="30"/>
                                        </p:tgtEl>
                                        <p:attrNameLst>
                                          <p:attrName>style.visibility</p:attrName>
                                        </p:attrNameLst>
                                      </p:cBhvr>
                                      <p:to>
                                        <p:strVal val="visible"/>
                                      </p:to>
                                    </p:set>
                                    <p:anim calcmode="lin" valueType="num">
                                      <p:cBhvr>
                                        <p:cTn id="118" dur="350" fill="hold"/>
                                        <p:tgtEl>
                                          <p:spTgt spid="30"/>
                                        </p:tgtEl>
                                        <p:attrNameLst>
                                          <p:attrName>ppt_w</p:attrName>
                                        </p:attrNameLst>
                                      </p:cBhvr>
                                      <p:tavLst>
                                        <p:tav tm="0">
                                          <p:val>
                                            <p:fltVal val="0"/>
                                          </p:val>
                                        </p:tav>
                                        <p:tav tm="100000">
                                          <p:val>
                                            <p:strVal val="#ppt_w"/>
                                          </p:val>
                                        </p:tav>
                                      </p:tavLst>
                                    </p:anim>
                                    <p:anim calcmode="lin" valueType="num">
                                      <p:cBhvr>
                                        <p:cTn id="119" dur="350" fill="hold"/>
                                        <p:tgtEl>
                                          <p:spTgt spid="30"/>
                                        </p:tgtEl>
                                        <p:attrNameLst>
                                          <p:attrName>ppt_h</p:attrName>
                                        </p:attrNameLst>
                                      </p:cBhvr>
                                      <p:tavLst>
                                        <p:tav tm="0">
                                          <p:val>
                                            <p:fltVal val="0"/>
                                          </p:val>
                                        </p:tav>
                                        <p:tav tm="100000">
                                          <p:val>
                                            <p:strVal val="#ppt_h"/>
                                          </p:val>
                                        </p:tav>
                                      </p:tavLst>
                                    </p:anim>
                                    <p:animEffect transition="in" filter="fade">
                                      <p:cBhvr>
                                        <p:cTn id="120" dur="350"/>
                                        <p:tgtEl>
                                          <p:spTgt spid="30"/>
                                        </p:tgtEl>
                                      </p:cBhvr>
                                    </p:animEffect>
                                  </p:childTnLst>
                                </p:cTn>
                              </p:par>
                              <p:par>
                                <p:cTn id="121" presetID="53" presetClass="entr" presetSubtype="16" fill="hold" nodeType="withEffect">
                                  <p:stCondLst>
                                    <p:cond delay="1050"/>
                                  </p:stCondLst>
                                  <p:childTnLst>
                                    <p:set>
                                      <p:cBhvr>
                                        <p:cTn id="122" dur="1" fill="hold">
                                          <p:stCondLst>
                                            <p:cond delay="0"/>
                                          </p:stCondLst>
                                        </p:cTn>
                                        <p:tgtEl>
                                          <p:spTgt spid="31"/>
                                        </p:tgtEl>
                                        <p:attrNameLst>
                                          <p:attrName>style.visibility</p:attrName>
                                        </p:attrNameLst>
                                      </p:cBhvr>
                                      <p:to>
                                        <p:strVal val="visible"/>
                                      </p:to>
                                    </p:set>
                                    <p:anim calcmode="lin" valueType="num">
                                      <p:cBhvr>
                                        <p:cTn id="123" dur="350" fill="hold"/>
                                        <p:tgtEl>
                                          <p:spTgt spid="31"/>
                                        </p:tgtEl>
                                        <p:attrNameLst>
                                          <p:attrName>ppt_w</p:attrName>
                                        </p:attrNameLst>
                                      </p:cBhvr>
                                      <p:tavLst>
                                        <p:tav tm="0">
                                          <p:val>
                                            <p:fltVal val="0"/>
                                          </p:val>
                                        </p:tav>
                                        <p:tav tm="100000">
                                          <p:val>
                                            <p:strVal val="#ppt_w"/>
                                          </p:val>
                                        </p:tav>
                                      </p:tavLst>
                                    </p:anim>
                                    <p:anim calcmode="lin" valueType="num">
                                      <p:cBhvr>
                                        <p:cTn id="124" dur="350" fill="hold"/>
                                        <p:tgtEl>
                                          <p:spTgt spid="31"/>
                                        </p:tgtEl>
                                        <p:attrNameLst>
                                          <p:attrName>ppt_h</p:attrName>
                                        </p:attrNameLst>
                                      </p:cBhvr>
                                      <p:tavLst>
                                        <p:tav tm="0">
                                          <p:val>
                                            <p:fltVal val="0"/>
                                          </p:val>
                                        </p:tav>
                                        <p:tav tm="100000">
                                          <p:val>
                                            <p:strVal val="#ppt_h"/>
                                          </p:val>
                                        </p:tav>
                                      </p:tavLst>
                                    </p:anim>
                                    <p:animEffect transition="in" filter="fade">
                                      <p:cBhvr>
                                        <p:cTn id="125" dur="350"/>
                                        <p:tgtEl>
                                          <p:spTgt spid="31"/>
                                        </p:tgtEl>
                                      </p:cBhvr>
                                    </p:animEffect>
                                  </p:childTnLst>
                                </p:cTn>
                              </p:par>
                              <p:par>
                                <p:cTn id="126" presetID="10" presetClass="entr" presetSubtype="0" fill="hold" nodeType="withEffect">
                                  <p:stCondLst>
                                    <p:cond delay="1100"/>
                                  </p:stCondLst>
                                  <p:childTnLst>
                                    <p:set>
                                      <p:cBhvr>
                                        <p:cTn id="127" dur="1" fill="hold">
                                          <p:stCondLst>
                                            <p:cond delay="0"/>
                                          </p:stCondLst>
                                        </p:cTn>
                                        <p:tgtEl>
                                          <p:spTgt spid="32"/>
                                        </p:tgtEl>
                                        <p:attrNameLst>
                                          <p:attrName>style.visibility</p:attrName>
                                        </p:attrNameLst>
                                      </p:cBhvr>
                                      <p:to>
                                        <p:strVal val="visible"/>
                                      </p:to>
                                    </p:set>
                                    <p:animEffect transition="in" filter="fade">
                                      <p:cBhvr>
                                        <p:cTn id="128" dur="400"/>
                                        <p:tgtEl>
                                          <p:spTgt spid="32"/>
                                        </p:tgtEl>
                                      </p:cBhvr>
                                    </p:animEffect>
                                  </p:childTnLst>
                                </p:cTn>
                              </p:par>
                              <p:par>
                                <p:cTn id="129" presetID="22" presetClass="entr" presetSubtype="8" fill="hold" nodeType="withEffect">
                                  <p:stCondLst>
                                    <p:cond delay="1100"/>
                                  </p:stCondLst>
                                  <p:childTnLst>
                                    <p:set>
                                      <p:cBhvr>
                                        <p:cTn id="130" dur="1" fill="hold">
                                          <p:stCondLst>
                                            <p:cond delay="0"/>
                                          </p:stCondLst>
                                        </p:cTn>
                                        <p:tgtEl>
                                          <p:spTgt spid="36"/>
                                        </p:tgtEl>
                                        <p:attrNameLst>
                                          <p:attrName>style.visibility</p:attrName>
                                        </p:attrNameLst>
                                      </p:cBhvr>
                                      <p:to>
                                        <p:strVal val="visible"/>
                                      </p:to>
                                    </p:set>
                                    <p:animEffect transition="in" filter="wipe(left)">
                                      <p:cBhvr>
                                        <p:cTn id="131" dur="450"/>
                                        <p:tgtEl>
                                          <p:spTgt spid="36"/>
                                        </p:tgtEl>
                                      </p:cBhvr>
                                    </p:animEffect>
                                  </p:childTnLst>
                                </p:cTn>
                              </p:par>
                              <p:par>
                                <p:cTn id="132" presetID="10" presetClass="entr" presetSubtype="0" fill="hold" nodeType="withEffect">
                                  <p:stCondLst>
                                    <p:cond delay="1150"/>
                                  </p:stCondLst>
                                  <p:childTnLst>
                                    <p:set>
                                      <p:cBhvr>
                                        <p:cTn id="133" dur="1" fill="hold">
                                          <p:stCondLst>
                                            <p:cond delay="0"/>
                                          </p:stCondLst>
                                        </p:cTn>
                                        <p:tgtEl>
                                          <p:spTgt spid="33"/>
                                        </p:tgtEl>
                                        <p:attrNameLst>
                                          <p:attrName>style.visibility</p:attrName>
                                        </p:attrNameLst>
                                      </p:cBhvr>
                                      <p:to>
                                        <p:strVal val="visible"/>
                                      </p:to>
                                    </p:set>
                                    <p:animEffect transition="in" filter="fade">
                                      <p:cBhvr>
                                        <p:cTn id="134" dur="400"/>
                                        <p:tgtEl>
                                          <p:spTgt spid="33"/>
                                        </p:tgtEl>
                                      </p:cBhvr>
                                    </p:animEffect>
                                  </p:childTnLst>
                                </p:cTn>
                              </p:par>
                              <p:par>
                                <p:cTn id="135" presetID="22" presetClass="entr" presetSubtype="8" fill="hold" nodeType="withEffect">
                                  <p:stCondLst>
                                    <p:cond delay="1350"/>
                                  </p:stCondLst>
                                  <p:childTnLst>
                                    <p:set>
                                      <p:cBhvr>
                                        <p:cTn id="136" dur="1" fill="hold">
                                          <p:stCondLst>
                                            <p:cond delay="0"/>
                                          </p:stCondLst>
                                        </p:cTn>
                                        <p:tgtEl>
                                          <p:spTgt spid="37"/>
                                        </p:tgtEl>
                                        <p:attrNameLst>
                                          <p:attrName>style.visibility</p:attrName>
                                        </p:attrNameLst>
                                      </p:cBhvr>
                                      <p:to>
                                        <p:strVal val="visible"/>
                                      </p:to>
                                    </p:set>
                                    <p:animEffect transition="in" filter="wipe(left)">
                                      <p:cBhvr>
                                        <p:cTn id="137" dur="450"/>
                                        <p:tgtEl>
                                          <p:spTgt spid="37"/>
                                        </p:tgtEl>
                                      </p:cBhvr>
                                    </p:animEffect>
                                  </p:childTnLst>
                                </p:cTn>
                              </p:par>
                              <p:par>
                                <p:cTn id="138" presetID="22" presetClass="entr" presetSubtype="8" fill="hold" nodeType="withEffect">
                                  <p:stCondLst>
                                    <p:cond delay="1600"/>
                                  </p:stCondLst>
                                  <p:childTnLst>
                                    <p:set>
                                      <p:cBhvr>
                                        <p:cTn id="139" dur="1" fill="hold">
                                          <p:stCondLst>
                                            <p:cond delay="0"/>
                                          </p:stCondLst>
                                        </p:cTn>
                                        <p:tgtEl>
                                          <p:spTgt spid="38"/>
                                        </p:tgtEl>
                                        <p:attrNameLst>
                                          <p:attrName>style.visibility</p:attrName>
                                        </p:attrNameLst>
                                      </p:cBhvr>
                                      <p:to>
                                        <p:strVal val="visible"/>
                                      </p:to>
                                    </p:set>
                                    <p:animEffect transition="in" filter="wipe(left)">
                                      <p:cBhvr>
                                        <p:cTn id="140" dur="450"/>
                                        <p:tgtEl>
                                          <p:spTgt spid="38"/>
                                        </p:tgtEl>
                                      </p:cBhvr>
                                    </p:animEffect>
                                  </p:childTnLst>
                                </p:cTn>
                              </p:par>
                              <p:par>
                                <p:cTn id="141" presetID="22" presetClass="entr" presetSubtype="8" fill="hold" nodeType="withEffect">
                                  <p:stCondLst>
                                    <p:cond delay="1850"/>
                                  </p:stCondLst>
                                  <p:childTnLst>
                                    <p:set>
                                      <p:cBhvr>
                                        <p:cTn id="142" dur="1" fill="hold">
                                          <p:stCondLst>
                                            <p:cond delay="0"/>
                                          </p:stCondLst>
                                        </p:cTn>
                                        <p:tgtEl>
                                          <p:spTgt spid="39"/>
                                        </p:tgtEl>
                                        <p:attrNameLst>
                                          <p:attrName>style.visibility</p:attrName>
                                        </p:attrNameLst>
                                      </p:cBhvr>
                                      <p:to>
                                        <p:strVal val="visible"/>
                                      </p:to>
                                    </p:set>
                                    <p:animEffect transition="in" filter="wipe(left)">
                                      <p:cBhvr>
                                        <p:cTn id="143" dur="45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Frames + production rules, stored as inspectable JSON</a:t>
            </a:r>
            <a:endParaRPr lang="en-US" sz="3200" dirty="0"/>
          </a:p>
        </p:txBody>
      </p:sp>
      <p:sp>
        <p:nvSpPr>
          <p:cNvPr id="4" name="shape_4_1"/>
          <p:cNvSpPr/>
          <p:nvPr/>
        </p:nvSpPr>
        <p:spPr>
          <a:xfrm>
            <a:off x="548640" y="1417320"/>
            <a:ext cx="1554480" cy="1143000"/>
          </a:xfrm>
          <a:prstGeom prst="roundRect">
            <a:avLst>
              <a:gd name="adj" fmla="val 9600"/>
            </a:avLst>
          </a:prstGeom>
          <a:solidFill>
            <a:schemeClr val="accent5"/>
          </a:solidFill>
          <a:ln w="12700">
            <a:solidFill>
              <a:schemeClr val="accent5"/>
            </a:solidFill>
            <a:prstDash val="solid"/>
          </a:ln>
          <a:effectLst>
            <a:outerShdw sx="100000" sy="100000" kx="0" ky="0" algn="bl" rotWithShape="0" blurRad="101600" dist="25400" dir="5400000">
              <a:srgbClr val="0B1F33">
                <a:alpha val="12000"/>
              </a:srgbClr>
            </a:outerShdw>
          </a:effectLst>
        </p:spPr>
      </p:sp>
      <p:sp>
        <p:nvSpPr>
          <p:cNvPr id="5" name="text_4_2"/>
          <p:cNvSpPr txBox="1"/>
          <p:nvPr/>
        </p:nvSpPr>
        <p:spPr>
          <a:xfrm>
            <a:off x="640080" y="1417320"/>
            <a:ext cx="1371600" cy="1143000"/>
          </a:xfrm>
          <a:prstGeom prst="rect">
            <a:avLst/>
          </a:prstGeom>
          <a:noFill/>
          <a:ln/>
        </p:spPr>
        <p:txBody>
          <a:bodyPr wrap="square" lIns="0" tIns="0" rIns="0" bIns="0" rtlCol="0" anchor="ctr"/>
          <a:lstStyle/>
          <a:p>
            <a:pPr algn="ctr" indent="0" marL="0">
              <a:buNone/>
            </a:pPr>
            <a:r>
              <a:rPr lang="en-US" sz="1700" b="1" dirty="0">
                <a:solidFill>
                  <a:schemeClr val="bg1"/>
                </a:solidFill>
              </a:rPr>
              <a:t>Equipment</a:t>
            </a:r>
            <a:endParaRPr lang="en-US" sz="1700" dirty="0"/>
          </a:p>
          <a:p>
            <a:pPr algn="ctr" indent="0" marL="0">
              <a:buNone/>
            </a:pPr>
            <a:r>
              <a:rPr lang="en-US" sz="1300" dirty="0">
                <a:solidFill>
                  <a:schemeClr val="bg1"/>
                </a:solidFill>
              </a:rPr>
              <a:t>Robotic arm</a:t>
            </a:r>
            <a:endParaRPr lang="en-US" sz="1700" dirty="0"/>
          </a:p>
        </p:txBody>
      </p:sp>
      <p:sp>
        <p:nvSpPr>
          <p:cNvPr id="6" name="shape_4_3"/>
          <p:cNvSpPr/>
          <p:nvPr/>
        </p:nvSpPr>
        <p:spPr>
          <a:xfrm>
            <a:off x="2139696" y="1860804"/>
            <a:ext cx="274320" cy="256032"/>
          </a:xfrm>
          <a:prstGeom prst="rightArrow">
            <a:avLst/>
          </a:prstGeom>
          <a:solidFill>
            <a:schemeClr val="tx1"/>
          </a:solidFill>
          <a:ln w="12700">
            <a:solidFill>
              <a:schemeClr val="tx1"/>
            </a:solidFill>
            <a:prstDash val="solid"/>
          </a:ln>
        </p:spPr>
      </p:sp>
      <p:sp>
        <p:nvSpPr>
          <p:cNvPr id="7" name="shape_4_4"/>
          <p:cNvSpPr/>
          <p:nvPr/>
        </p:nvSpPr>
        <p:spPr>
          <a:xfrm>
            <a:off x="2450592" y="1417320"/>
            <a:ext cx="1554480" cy="1143000"/>
          </a:xfrm>
          <a:prstGeom prst="roundRect">
            <a:avLst>
              <a:gd name="adj" fmla="val 9600"/>
            </a:avLst>
          </a:prstGeom>
          <a:solidFill>
            <a:schemeClr val="accent5"/>
          </a:solidFill>
          <a:ln w="12700">
            <a:solidFill>
              <a:schemeClr val="accent5"/>
            </a:solidFill>
            <a:prstDash val="solid"/>
          </a:ln>
          <a:effectLst>
            <a:outerShdw sx="100000" sy="100000" kx="0" ky="0" algn="bl" rotWithShape="0" blurRad="101600" dist="25400" dir="5400000">
              <a:srgbClr val="0B1F33">
                <a:alpha val="12000"/>
              </a:srgbClr>
            </a:outerShdw>
          </a:effectLst>
        </p:spPr>
      </p:sp>
      <p:sp>
        <p:nvSpPr>
          <p:cNvPr id="8" name="text_4_5"/>
          <p:cNvSpPr txBox="1"/>
          <p:nvPr/>
        </p:nvSpPr>
        <p:spPr>
          <a:xfrm>
            <a:off x="2542032" y="1417320"/>
            <a:ext cx="1371600" cy="1143000"/>
          </a:xfrm>
          <a:prstGeom prst="rect">
            <a:avLst/>
          </a:prstGeom>
          <a:noFill/>
          <a:ln/>
        </p:spPr>
        <p:txBody>
          <a:bodyPr wrap="square" lIns="0" tIns="0" rIns="0" bIns="0" rtlCol="0" anchor="ctr"/>
          <a:lstStyle/>
          <a:p>
            <a:pPr algn="ctr" indent="0" marL="0">
              <a:buNone/>
            </a:pPr>
            <a:r>
              <a:rPr lang="en-US" sz="1700" b="1" dirty="0">
                <a:solidFill>
                  <a:schemeClr val="bg1"/>
                </a:solidFill>
              </a:rPr>
              <a:t>Component</a:t>
            </a:r>
            <a:endParaRPr lang="en-US" sz="1700" dirty="0"/>
          </a:p>
          <a:p>
            <a:pPr algn="ctr" indent="0" marL="0">
              <a:buNone/>
            </a:pPr>
            <a:r>
              <a:rPr lang="en-US" sz="1300" dirty="0">
                <a:solidFill>
                  <a:schemeClr val="bg1"/>
                </a:solidFill>
              </a:rPr>
              <a:t>Tool configuration</a:t>
            </a:r>
            <a:endParaRPr lang="en-US" sz="1700" dirty="0"/>
          </a:p>
        </p:txBody>
      </p:sp>
      <p:sp>
        <p:nvSpPr>
          <p:cNvPr id="9" name="shape_4_6"/>
          <p:cNvSpPr/>
          <p:nvPr/>
        </p:nvSpPr>
        <p:spPr>
          <a:xfrm>
            <a:off x="4041648" y="1860804"/>
            <a:ext cx="274320" cy="256032"/>
          </a:xfrm>
          <a:prstGeom prst="rightArrow">
            <a:avLst/>
          </a:prstGeom>
          <a:solidFill>
            <a:schemeClr val="tx1"/>
          </a:solidFill>
          <a:ln w="12700">
            <a:solidFill>
              <a:schemeClr val="tx1"/>
            </a:solidFill>
            <a:prstDash val="solid"/>
          </a:ln>
        </p:spPr>
      </p:sp>
      <p:sp>
        <p:nvSpPr>
          <p:cNvPr id="10" name="shape_4_7"/>
          <p:cNvSpPr/>
          <p:nvPr/>
        </p:nvSpPr>
        <p:spPr>
          <a:xfrm>
            <a:off x="4352544" y="1417320"/>
            <a:ext cx="1554480" cy="1143000"/>
          </a:xfrm>
          <a:prstGeom prst="roundRect">
            <a:avLst>
              <a:gd name="adj" fmla="val 9600"/>
            </a:avLst>
          </a:prstGeom>
          <a:solidFill>
            <a:schemeClr val="accent2"/>
          </a:solidFill>
          <a:ln w="12700">
            <a:solidFill>
              <a:schemeClr val="accent2"/>
            </a:solidFill>
            <a:prstDash val="solid"/>
          </a:ln>
          <a:effectLst>
            <a:outerShdw sx="100000" sy="100000" kx="0" ky="0" algn="bl" rotWithShape="0" blurRad="101600" dist="25400" dir="5400000">
              <a:srgbClr val="0B1F33">
                <a:alpha val="12000"/>
              </a:srgbClr>
            </a:outerShdw>
          </a:effectLst>
        </p:spPr>
      </p:sp>
      <p:sp>
        <p:nvSpPr>
          <p:cNvPr id="11" name="text_4_8"/>
          <p:cNvSpPr txBox="1"/>
          <p:nvPr/>
        </p:nvSpPr>
        <p:spPr>
          <a:xfrm>
            <a:off x="4443984" y="1417320"/>
            <a:ext cx="1371600" cy="1143000"/>
          </a:xfrm>
          <a:prstGeom prst="rect">
            <a:avLst/>
          </a:prstGeom>
          <a:noFill/>
          <a:ln/>
        </p:spPr>
        <p:txBody>
          <a:bodyPr wrap="square" lIns="0" tIns="0" rIns="0" bIns="0" rtlCol="0" anchor="ctr"/>
          <a:lstStyle/>
          <a:p>
            <a:pPr algn="ctr" indent="0" marL="0">
              <a:buNone/>
            </a:pPr>
            <a:r>
              <a:rPr lang="en-US" sz="1700" b="1" dirty="0">
                <a:solidFill>
                  <a:schemeClr val="bg1"/>
                </a:solidFill>
              </a:rPr>
              <a:t>Symptom</a:t>
            </a:r>
            <a:endParaRPr lang="en-US" sz="1700" dirty="0"/>
          </a:p>
          <a:p>
            <a:pPr algn="ctr" indent="0" marL="0">
              <a:buNone/>
            </a:pPr>
            <a:r>
              <a:rPr lang="en-US" sz="1300" dirty="0">
                <a:solidFill>
                  <a:schemeClr val="bg1"/>
                </a:solidFill>
              </a:rPr>
              <a:t>protective_stop</a:t>
            </a:r>
            <a:endParaRPr lang="en-US" sz="1700" dirty="0"/>
          </a:p>
        </p:txBody>
      </p:sp>
      <p:sp>
        <p:nvSpPr>
          <p:cNvPr id="12" name="shape_4_9"/>
          <p:cNvSpPr/>
          <p:nvPr/>
        </p:nvSpPr>
        <p:spPr>
          <a:xfrm>
            <a:off x="5943600" y="1860804"/>
            <a:ext cx="274320" cy="256032"/>
          </a:xfrm>
          <a:prstGeom prst="rightArrow">
            <a:avLst/>
          </a:prstGeom>
          <a:solidFill>
            <a:schemeClr val="tx1"/>
          </a:solidFill>
          <a:ln w="12700">
            <a:solidFill>
              <a:schemeClr val="tx1"/>
            </a:solidFill>
            <a:prstDash val="solid"/>
          </a:ln>
        </p:spPr>
      </p:sp>
      <p:sp>
        <p:nvSpPr>
          <p:cNvPr id="13" name="shape_4_10"/>
          <p:cNvSpPr/>
          <p:nvPr/>
        </p:nvSpPr>
        <p:spPr>
          <a:xfrm>
            <a:off x="6254496" y="1417320"/>
            <a:ext cx="1554480" cy="1143000"/>
          </a:xfrm>
          <a:prstGeom prst="roundRect">
            <a:avLst>
              <a:gd name="adj" fmla="val 9600"/>
            </a:avLst>
          </a:prstGeom>
          <a:solidFill>
            <a:schemeClr val="accent3"/>
          </a:solidFill>
          <a:ln w="12700">
            <a:solidFill>
              <a:schemeClr val="accent3"/>
            </a:solidFill>
            <a:prstDash val="solid"/>
          </a:ln>
          <a:effectLst>
            <a:outerShdw sx="100000" sy="100000" kx="0" ky="0" algn="bl" rotWithShape="0" blurRad="101600" dist="25400" dir="5400000">
              <a:srgbClr val="0B1F33">
                <a:alpha val="12000"/>
              </a:srgbClr>
            </a:outerShdw>
          </a:effectLst>
        </p:spPr>
      </p:sp>
      <p:sp>
        <p:nvSpPr>
          <p:cNvPr id="14" name="text_4_11"/>
          <p:cNvSpPr txBox="1"/>
          <p:nvPr/>
        </p:nvSpPr>
        <p:spPr>
          <a:xfrm>
            <a:off x="6345936" y="1417320"/>
            <a:ext cx="1371600" cy="1143000"/>
          </a:xfrm>
          <a:prstGeom prst="rect">
            <a:avLst/>
          </a:prstGeom>
          <a:noFill/>
          <a:ln/>
        </p:spPr>
        <p:txBody>
          <a:bodyPr wrap="square" lIns="0" tIns="0" rIns="0" bIns="0" rtlCol="0" anchor="ctr"/>
          <a:lstStyle/>
          <a:p>
            <a:pPr algn="ctr" indent="0" marL="0">
              <a:buNone/>
            </a:pPr>
            <a:r>
              <a:rPr lang="en-US" sz="1700" b="1" dirty="0">
                <a:solidFill>
                  <a:schemeClr val="bg1"/>
                </a:solidFill>
              </a:rPr>
              <a:t>Fault</a:t>
            </a:r>
            <a:endParaRPr lang="en-US" sz="1700" dirty="0"/>
          </a:p>
          <a:p>
            <a:pPr algn="ctr" indent="0" marL="0">
              <a:buNone/>
            </a:pPr>
            <a:r>
              <a:rPr lang="en-US" sz="1300" dirty="0">
                <a:solidFill>
                  <a:schemeClr val="bg1"/>
                </a:solidFill>
              </a:rPr>
              <a:t>Payload mismatch</a:t>
            </a:r>
            <a:endParaRPr lang="en-US" sz="1700" dirty="0"/>
          </a:p>
        </p:txBody>
      </p:sp>
      <p:sp>
        <p:nvSpPr>
          <p:cNvPr id="15" name="shape_4_12"/>
          <p:cNvSpPr/>
          <p:nvPr/>
        </p:nvSpPr>
        <p:spPr>
          <a:xfrm>
            <a:off x="7845552" y="1860804"/>
            <a:ext cx="274320" cy="256032"/>
          </a:xfrm>
          <a:prstGeom prst="rightArrow">
            <a:avLst/>
          </a:prstGeom>
          <a:solidFill>
            <a:schemeClr val="tx1"/>
          </a:solidFill>
          <a:ln w="12700">
            <a:solidFill>
              <a:schemeClr val="tx1"/>
            </a:solidFill>
            <a:prstDash val="solid"/>
          </a:ln>
        </p:spPr>
      </p:sp>
      <p:sp>
        <p:nvSpPr>
          <p:cNvPr id="16" name="shape_4_13"/>
          <p:cNvSpPr/>
          <p:nvPr/>
        </p:nvSpPr>
        <p:spPr>
          <a:xfrm>
            <a:off x="8156448" y="1417320"/>
            <a:ext cx="1554480" cy="1143000"/>
          </a:xfrm>
          <a:prstGeom prst="roundRect">
            <a:avLst>
              <a:gd name="adj" fmla="val 9600"/>
            </a:avLst>
          </a:prstGeom>
          <a:solidFill>
            <a:schemeClr val="accent6"/>
          </a:solidFill>
          <a:ln w="12700">
            <a:solidFill>
              <a:schemeClr val="accent6"/>
            </a:solidFill>
            <a:prstDash val="solid"/>
          </a:ln>
          <a:effectLst>
            <a:outerShdw sx="100000" sy="100000" kx="0" ky="0" algn="bl" rotWithShape="0" blurRad="101600" dist="25400" dir="5400000">
              <a:srgbClr val="0B1F33">
                <a:alpha val="12000"/>
              </a:srgbClr>
            </a:outerShdw>
          </a:effectLst>
        </p:spPr>
      </p:sp>
      <p:sp>
        <p:nvSpPr>
          <p:cNvPr id="17" name="text_4_14"/>
          <p:cNvSpPr txBox="1"/>
          <p:nvPr/>
        </p:nvSpPr>
        <p:spPr>
          <a:xfrm>
            <a:off x="8247888" y="1417320"/>
            <a:ext cx="1371600" cy="1143000"/>
          </a:xfrm>
          <a:prstGeom prst="rect">
            <a:avLst/>
          </a:prstGeom>
          <a:noFill/>
          <a:ln/>
        </p:spPr>
        <p:txBody>
          <a:bodyPr wrap="square" lIns="0" tIns="0" rIns="0" bIns="0" rtlCol="0" anchor="ctr"/>
          <a:lstStyle/>
          <a:p>
            <a:pPr algn="ctr" indent="0" marL="0">
              <a:buNone/>
            </a:pPr>
            <a:r>
              <a:rPr lang="en-US" sz="1700" b="1" dirty="0">
                <a:solidFill>
                  <a:schemeClr val="bg1"/>
                </a:solidFill>
              </a:rPr>
              <a:t>Cause</a:t>
            </a:r>
            <a:endParaRPr lang="en-US" sz="1700" dirty="0"/>
          </a:p>
          <a:p>
            <a:pPr algn="ctr" indent="0" marL="0">
              <a:buNone/>
            </a:pPr>
            <a:r>
              <a:rPr lang="en-US" sz="1300" dirty="0">
                <a:solidFill>
                  <a:schemeClr val="bg1"/>
                </a:solidFill>
              </a:rPr>
              <a:t>Wrong mass / CoG</a:t>
            </a:r>
            <a:endParaRPr lang="en-US" sz="1700" dirty="0"/>
          </a:p>
        </p:txBody>
      </p:sp>
      <p:sp>
        <p:nvSpPr>
          <p:cNvPr id="18" name="shape_4_15"/>
          <p:cNvSpPr/>
          <p:nvPr/>
        </p:nvSpPr>
        <p:spPr>
          <a:xfrm>
            <a:off x="9747504" y="1860804"/>
            <a:ext cx="274320" cy="256032"/>
          </a:xfrm>
          <a:prstGeom prst="rightArrow">
            <a:avLst/>
          </a:prstGeom>
          <a:solidFill>
            <a:schemeClr val="tx1"/>
          </a:solidFill>
          <a:ln w="12700">
            <a:solidFill>
              <a:schemeClr val="tx1"/>
            </a:solidFill>
            <a:prstDash val="solid"/>
          </a:ln>
        </p:spPr>
      </p:sp>
      <p:sp>
        <p:nvSpPr>
          <p:cNvPr id="19" name="shape_4_16"/>
          <p:cNvSpPr/>
          <p:nvPr/>
        </p:nvSpPr>
        <p:spPr>
          <a:xfrm>
            <a:off x="10058400" y="1417320"/>
            <a:ext cx="1554480" cy="1143000"/>
          </a:xfrm>
          <a:prstGeom prst="roundRect">
            <a:avLst>
              <a:gd name="adj" fmla="val 9600"/>
            </a:avLst>
          </a:prstGeom>
          <a:solidFill>
            <a:schemeClr val="accent4"/>
          </a:solidFill>
          <a:ln w="12700">
            <a:solidFill>
              <a:schemeClr val="accent4"/>
            </a:solidFill>
            <a:prstDash val="solid"/>
          </a:ln>
          <a:effectLst>
            <a:outerShdw sx="100000" sy="100000" kx="0" ky="0" algn="bl" rotWithShape="0" blurRad="101600" dist="25400" dir="5400000">
              <a:srgbClr val="0B1F33">
                <a:alpha val="12000"/>
              </a:srgbClr>
            </a:outerShdw>
          </a:effectLst>
        </p:spPr>
      </p:sp>
      <p:sp>
        <p:nvSpPr>
          <p:cNvPr id="20" name="text_4_17"/>
          <p:cNvSpPr txBox="1"/>
          <p:nvPr/>
        </p:nvSpPr>
        <p:spPr>
          <a:xfrm>
            <a:off x="10149840" y="1417320"/>
            <a:ext cx="1371600" cy="1143000"/>
          </a:xfrm>
          <a:prstGeom prst="rect">
            <a:avLst/>
          </a:prstGeom>
          <a:noFill/>
          <a:ln/>
        </p:spPr>
        <p:txBody>
          <a:bodyPr wrap="square" lIns="0" tIns="0" rIns="0" bIns="0" rtlCol="0" anchor="ctr"/>
          <a:lstStyle/>
          <a:p>
            <a:pPr algn="ctr" indent="0" marL="0">
              <a:buNone/>
            </a:pPr>
            <a:r>
              <a:rPr lang="en-US" sz="1700" b="1" dirty="0">
                <a:solidFill>
                  <a:schemeClr val="bg1"/>
                </a:solidFill>
              </a:rPr>
              <a:t>Action</a:t>
            </a:r>
            <a:endParaRPr lang="en-US" sz="1700" dirty="0"/>
          </a:p>
          <a:p>
            <a:pPr algn="ctr" indent="0" marL="0">
              <a:buNone/>
            </a:pPr>
            <a:r>
              <a:rPr lang="en-US" sz="1300" dirty="0">
                <a:solidFill>
                  <a:schemeClr val="bg1"/>
                </a:solidFill>
              </a:rPr>
              <a:t>Check payload settings</a:t>
            </a:r>
            <a:endParaRPr lang="en-US" sz="1700" dirty="0"/>
          </a:p>
        </p:txBody>
      </p:sp>
      <p:sp>
        <p:nvSpPr>
          <p:cNvPr id="21" name="packet"/>
          <p:cNvSpPr/>
          <p:nvPr/>
        </p:nvSpPr>
        <p:spPr>
          <a:xfrm>
            <a:off x="640080" y="2743200"/>
            <a:ext cx="219456" cy="219456"/>
          </a:xfrm>
          <a:prstGeom prst="ellipse">
            <a:avLst/>
          </a:prstGeom>
          <a:solidFill>
            <a:schemeClr val="accent2"/>
          </a:solidFill>
          <a:ln w="12700">
            <a:solidFill>
              <a:schemeClr val="accent2"/>
            </a:solidFill>
            <a:prstDash val="solid"/>
          </a:ln>
        </p:spPr>
      </p:sp>
      <p:sp>
        <p:nvSpPr>
          <p:cNvPr id="22" name="shape_4_18"/>
          <p:cNvSpPr/>
          <p:nvPr/>
        </p:nvSpPr>
        <p:spPr>
          <a:xfrm>
            <a:off x="640080" y="2852928"/>
            <a:ext cx="10607040" cy="0"/>
          </a:xfrm>
          <a:prstGeom prst="line">
            <a:avLst/>
          </a:prstGeom>
          <a:noFill/>
          <a:ln w="12700">
            <a:solidFill>
              <a:srgbClr val="5B6B7C"/>
            </a:solidFill>
            <a:prstDash val="dash"/>
          </a:ln>
        </p:spPr>
      </p:sp>
      <p:sp>
        <p:nvSpPr>
          <p:cNvPr id="23" name="shape_4_19"/>
          <p:cNvSpPr/>
          <p:nvPr/>
        </p:nvSpPr>
        <p:spPr>
          <a:xfrm>
            <a:off x="548640" y="3429000"/>
            <a:ext cx="5486400" cy="2788920"/>
          </a:xfrm>
          <a:prstGeom prst="roundRect">
            <a:avLst>
              <a:gd name="adj" fmla="val 3934"/>
            </a:avLst>
          </a:prstGeom>
          <a:solidFill>
            <a:schemeClr val="tx1"/>
          </a:solidFill>
          <a:ln w="12700">
            <a:solidFill>
              <a:srgbClr val="FFFFFF">
                <a:alpha val="0"/>
              </a:srgbClr>
            </a:solidFill>
            <a:prstDash val="solid"/>
          </a:ln>
        </p:spPr>
      </p:sp>
      <p:sp>
        <p:nvSpPr>
          <p:cNvPr id="24" name="text_4_20"/>
          <p:cNvSpPr txBox="1"/>
          <p:nvPr/>
        </p:nvSpPr>
        <p:spPr>
          <a:xfrm>
            <a:off x="777240" y="3584448"/>
            <a:ext cx="5029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FAULT FRAME (knowledge_base.json)</a:t>
            </a:r>
            <a:endParaRPr lang="en-US" sz="1200" dirty="0"/>
          </a:p>
        </p:txBody>
      </p:sp>
      <p:sp>
        <p:nvSpPr>
          <p:cNvPr id="25" name="text_4_21"/>
          <p:cNvSpPr txBox="1"/>
          <p:nvPr/>
        </p:nvSpPr>
        <p:spPr>
          <a:xfrm>
            <a:off x="777240" y="3931920"/>
            <a:ext cx="5120640" cy="2194560"/>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 "id": "payload",</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"component": "Tool configuration",</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"conditions": ["protective_stop",</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"payload_mismatch"],</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"severity": "High",</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"cost": "Low", "downtime": "Short",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"cause": "Incorrect tool mass / CoG",</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"action": "Compare tool data with</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approved payload settings" }</a:t>
            </a:r>
            <a:endParaRPr lang="en-US" sz="1300" dirty="0"/>
          </a:p>
        </p:txBody>
      </p:sp>
      <p:sp>
        <p:nvSpPr>
          <p:cNvPr id="26" name="shape_4_22"/>
          <p:cNvSpPr/>
          <p:nvPr/>
        </p:nvSpPr>
        <p:spPr>
          <a:xfrm>
            <a:off x="6263640" y="3429000"/>
            <a:ext cx="5394960" cy="2788920"/>
          </a:xfrm>
          <a:prstGeom prst="roundRect">
            <a:avLst>
              <a:gd name="adj" fmla="val 3934"/>
            </a:avLst>
          </a:prstGeom>
          <a:solidFill>
            <a:schemeClr val="bg2"/>
          </a:solidFill>
          <a:ln w="12700">
            <a:solidFill>
              <a:srgbClr val="FFFFFF">
                <a:alpha val="0"/>
              </a:srgbClr>
            </a:solidFill>
            <a:prstDash val="solid"/>
          </a:ln>
        </p:spPr>
      </p:sp>
      <p:sp>
        <p:nvSpPr>
          <p:cNvPr id="27" name="text_4_23"/>
          <p:cNvSpPr txBox="1"/>
          <p:nvPr/>
        </p:nvSpPr>
        <p:spPr>
          <a:xfrm>
            <a:off x="6492240" y="3584448"/>
            <a:ext cx="493776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PRODUCTION RULE</a:t>
            </a:r>
            <a:endParaRPr lang="en-US" sz="1200" dirty="0"/>
          </a:p>
        </p:txBody>
      </p:sp>
      <p:sp>
        <p:nvSpPr>
          <p:cNvPr id="28" name="text_4_24"/>
          <p:cNvSpPr txBox="1"/>
          <p:nvPr/>
        </p:nvSpPr>
        <p:spPr>
          <a:xfrm>
            <a:off x="6492240" y="3931920"/>
            <a:ext cx="5029200" cy="1371600"/>
          </a:xfrm>
          <a:prstGeom prst="rect">
            <a:avLst/>
          </a:prstGeom>
          <a:noFill/>
          <a:ln/>
        </p:spPr>
        <p:txBody>
          <a:bodyPr wrap="square" lIns="0" tIns="0" rIns="0" bIns="0" rtlCol="0" anchor="t"/>
          <a:lstStyle/>
          <a:p>
            <a:pPr indent="0" marL="0">
              <a:buNone/>
            </a:pPr>
            <a:r>
              <a:rPr lang="en-US" sz="1400" b="1" dirty="0">
                <a:solidFill>
                  <a:schemeClr val="accent3"/>
                </a:solidFill>
                <a:latin typeface="Courier New" pitchFamily="34" charset="0"/>
                <a:ea typeface="Courier New" pitchFamily="34" charset="-122"/>
                <a:cs typeface="Courier New" pitchFamily="34" charset="-120"/>
              </a:rPr>
              <a:t>IF   </a:t>
            </a:r>
            <a:pPr indent="0" marL="0">
              <a:buNone/>
            </a:pPr>
            <a:r>
              <a:rPr lang="en-US" sz="1400" dirty="0">
                <a:solidFill>
                  <a:schemeClr val="tx1"/>
                </a:solidFill>
                <a:latin typeface="Courier New" pitchFamily="34" charset="0"/>
                <a:ea typeface="Courier New" pitchFamily="34" charset="-122"/>
                <a:cs typeface="Courier New" pitchFamily="34" charset="-120"/>
              </a:rPr>
              <a:t>protective_stop = Yes</a:t>
            </a:r>
            <a:endParaRPr lang="en-US" sz="1400" dirty="0"/>
          </a:p>
          <a:p>
            <a:pPr indent="0" marL="0">
              <a:buNone/>
            </a:pPr>
            <a:r>
              <a:rPr lang="en-US" sz="1400" b="1" dirty="0">
                <a:solidFill>
                  <a:schemeClr val="accent3"/>
                </a:solidFill>
                <a:latin typeface="Courier New" pitchFamily="34" charset="0"/>
                <a:ea typeface="Courier New" pitchFamily="34" charset="-122"/>
                <a:cs typeface="Courier New" pitchFamily="34" charset="-120"/>
              </a:rPr>
              <a:t>AND  </a:t>
            </a:r>
            <a:pPr indent="0" marL="0">
              <a:buNone/>
            </a:pPr>
            <a:r>
              <a:rPr lang="en-US" sz="1400" dirty="0">
                <a:solidFill>
                  <a:schemeClr val="tx1"/>
                </a:solidFill>
                <a:latin typeface="Courier New" pitchFamily="34" charset="0"/>
                <a:ea typeface="Courier New" pitchFamily="34" charset="-122"/>
                <a:cs typeface="Courier New" pitchFamily="34" charset="-120"/>
              </a:rPr>
              <a:t>payload_mismatch = Yes</a:t>
            </a:r>
            <a:endParaRPr lang="en-US" sz="1400" dirty="0"/>
          </a:p>
          <a:p>
            <a:pPr indent="0" marL="0">
              <a:buNone/>
            </a:pPr>
            <a:r>
              <a:rPr lang="en-US" sz="1400" b="1" dirty="0">
                <a:solidFill>
                  <a:schemeClr val="accent4"/>
                </a:solidFill>
                <a:latin typeface="Courier New" pitchFamily="34" charset="0"/>
                <a:ea typeface="Courier New" pitchFamily="34" charset="-122"/>
                <a:cs typeface="Courier New" pitchFamily="34" charset="-120"/>
              </a:rPr>
              <a:t>THEN </a:t>
            </a:r>
            <a:pPr indent="0" marL="0">
              <a:buNone/>
            </a:pPr>
            <a:r>
              <a:rPr lang="en-US" sz="1400" dirty="0">
                <a:solidFill>
                  <a:schemeClr val="tx1"/>
                </a:solidFill>
                <a:latin typeface="Courier New" pitchFamily="34" charset="0"/>
                <a:ea typeface="Courier New" pitchFamily="34" charset="-122"/>
                <a:cs typeface="Courier New" pitchFamily="34" charset="-120"/>
              </a:rPr>
              <a:t>support "Payload configuration mismatch"</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     recommend qualified payload review</a:t>
            </a:r>
            <a:endParaRPr lang="en-US" sz="1400" dirty="0"/>
          </a:p>
        </p:txBody>
      </p:sp>
      <p:sp>
        <p:nvSpPr>
          <p:cNvPr id="29" name="text_4_25"/>
          <p:cNvSpPr txBox="1"/>
          <p:nvPr/>
        </p:nvSpPr>
        <p:spPr>
          <a:xfrm>
            <a:off x="6492240" y="5440680"/>
            <a:ext cx="5029200" cy="365760"/>
          </a:xfrm>
          <a:prstGeom prst="rect">
            <a:avLst/>
          </a:prstGeom>
          <a:noFill/>
          <a:ln/>
        </p:spPr>
        <p:txBody>
          <a:bodyPr wrap="square" lIns="0" tIns="0" rIns="0" bIns="0" rtlCol="0" anchor="ctr"/>
          <a:lstStyle/>
          <a:p>
            <a:pPr indent="0" marL="0">
              <a:buNone/>
            </a:pPr>
            <a:r>
              <a:rPr lang="en-US" sz="1500" b="1" dirty="0">
                <a:solidFill>
                  <a:schemeClr val="tx1"/>
                </a:solidFill>
              </a:rPr>
              <a:t>Observation states:  Yes · No · Unknown · Conflict</a:t>
            </a:r>
            <a:endParaRPr lang="en-US" sz="1500" dirty="0"/>
          </a:p>
        </p:txBody>
      </p:sp>
      <p:sp>
        <p:nvSpPr>
          <p:cNvPr id="30" name="text_4_26"/>
          <p:cNvSpPr txBox="1"/>
          <p:nvPr/>
        </p:nvSpPr>
        <p:spPr>
          <a:xfrm>
            <a:off x="6492240" y="5806440"/>
            <a:ext cx="5029200" cy="320040"/>
          </a:xfrm>
          <a:prstGeom prst="rect">
            <a:avLst/>
          </a:prstGeom>
          <a:noFill/>
          <a:ln/>
        </p:spPr>
        <p:txBody>
          <a:bodyPr wrap="square" lIns="0" tIns="0" rIns="0" bIns="0" rtlCol="0" anchor="ctr"/>
          <a:lstStyle/>
          <a:p>
            <a:pPr indent="0" marL="0">
              <a:buNone/>
            </a:pPr>
            <a:r>
              <a:rPr lang="en-US" sz="1300" dirty="0">
                <a:solidFill>
                  <a:srgbClr val="5B6B7C"/>
                </a:solidFill>
              </a:rPr>
              <a:t>Unknown ≠ No — missing evidence never counts as absence.</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4</a:t>
            </a:fld>
            <a:endParaRPr lang="en-US"/>
          </a:p>
        </p:txBody>
      </p:sp>
    </p:spTree>
  </p:cSld>
  <p:clrMapOvr>
    <a:masterClrMapping/>
  </p:clrMapOvr>
  <p:transition spd="med">
    <p:wipe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20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450"/>
                                        <p:tgtEl>
                                          <p:spTgt spid="4"/>
                                        </p:tgtEl>
                                      </p:cBhvr>
                                    </p:animEffect>
                                  </p:childTnLst>
                                </p:cTn>
                              </p:par>
                              <p:par>
                                <p:cTn id="8" presetID="22" presetClass="entr" presetSubtype="8" fill="hold"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450"/>
                                        <p:tgtEl>
                                          <p:spTgt spid="5"/>
                                        </p:tgtEl>
                                      </p:cBhvr>
                                    </p:animEffect>
                                  </p:childTnLst>
                                </p:cTn>
                              </p:par>
                              <p:par>
                                <p:cTn id="11" presetID="10" presetClass="entr" presetSubtype="0" fill="hold" nodeType="withEffect">
                                  <p:stCondLst>
                                    <p:cond delay="4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par>
                                <p:cTn id="14" presetID="22" presetClass="entr" presetSubtype="8" fill="hold" nodeType="withEffect">
                                  <p:stCondLst>
                                    <p:cond delay="55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450"/>
                                        <p:tgtEl>
                                          <p:spTgt spid="7"/>
                                        </p:tgtEl>
                                      </p:cBhvr>
                                    </p:animEffect>
                                  </p:childTnLst>
                                </p:cTn>
                              </p:par>
                              <p:par>
                                <p:cTn id="17" presetID="22" presetClass="entr" presetSubtype="8" fill="hold" nodeType="withEffect">
                                  <p:stCondLst>
                                    <p:cond delay="60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450"/>
                                        <p:tgtEl>
                                          <p:spTgt spid="8"/>
                                        </p:tgtEl>
                                      </p:cBhvr>
                                    </p:animEffect>
                                  </p:childTnLst>
                                </p:cTn>
                              </p:par>
                              <p:par>
                                <p:cTn id="20" presetID="10" presetClass="entr" presetSubtype="0" fill="hold" nodeType="withEffect">
                                  <p:stCondLst>
                                    <p:cond delay="75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300"/>
                                        <p:tgtEl>
                                          <p:spTgt spid="9"/>
                                        </p:tgtEl>
                                      </p:cBhvr>
                                    </p:animEffect>
                                  </p:childTnLst>
                                </p:cTn>
                              </p:par>
                              <p:par>
                                <p:cTn id="23" presetID="22" presetClass="entr" presetSubtype="8" fill="hold" nodeType="withEffect">
                                  <p:stCondLst>
                                    <p:cond delay="90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450"/>
                                        <p:tgtEl>
                                          <p:spTgt spid="10"/>
                                        </p:tgtEl>
                                      </p:cBhvr>
                                    </p:animEffect>
                                  </p:childTnLst>
                                </p:cTn>
                              </p:par>
                              <p:par>
                                <p:cTn id="26" presetID="22" presetClass="entr" presetSubtype="8" fill="hold" nodeType="withEffect">
                                  <p:stCondLst>
                                    <p:cond delay="95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450"/>
                                        <p:tgtEl>
                                          <p:spTgt spid="11"/>
                                        </p:tgtEl>
                                      </p:cBhvr>
                                    </p:animEffect>
                                  </p:childTnLst>
                                </p:cTn>
                              </p:par>
                              <p:par>
                                <p:cTn id="29" presetID="10" presetClass="entr" presetSubtype="0" fill="hold" nodeType="withEffect">
                                  <p:stCondLst>
                                    <p:cond delay="110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300"/>
                                        <p:tgtEl>
                                          <p:spTgt spid="12"/>
                                        </p:tgtEl>
                                      </p:cBhvr>
                                    </p:animEffect>
                                  </p:childTnLst>
                                </p:cTn>
                              </p:par>
                              <p:par>
                                <p:cTn id="32" presetID="22" presetClass="entr" presetSubtype="8" fill="hold" nodeType="withEffect">
                                  <p:stCondLst>
                                    <p:cond delay="1250"/>
                                  </p:stCondLst>
                                  <p:childTnLst>
                                    <p:set>
                                      <p:cBhvr>
                                        <p:cTn id="33" dur="1" fill="hold">
                                          <p:stCondLst>
                                            <p:cond delay="0"/>
                                          </p:stCondLst>
                                        </p:cTn>
                                        <p:tgtEl>
                                          <p:spTgt spid="13"/>
                                        </p:tgtEl>
                                        <p:attrNameLst>
                                          <p:attrName>style.visibility</p:attrName>
                                        </p:attrNameLst>
                                      </p:cBhvr>
                                      <p:to>
                                        <p:strVal val="visible"/>
                                      </p:to>
                                    </p:set>
                                    <p:animEffect transition="in" filter="wipe(left)">
                                      <p:cBhvr>
                                        <p:cTn id="34" dur="450"/>
                                        <p:tgtEl>
                                          <p:spTgt spid="13"/>
                                        </p:tgtEl>
                                      </p:cBhvr>
                                    </p:animEffect>
                                  </p:childTnLst>
                                </p:cTn>
                              </p:par>
                              <p:par>
                                <p:cTn id="35" presetID="22" presetClass="entr" presetSubtype="8" fill="hold" nodeType="withEffect">
                                  <p:stCondLst>
                                    <p:cond delay="1300"/>
                                  </p:stCondLst>
                                  <p:childTnLst>
                                    <p:set>
                                      <p:cBhvr>
                                        <p:cTn id="36" dur="1" fill="hold">
                                          <p:stCondLst>
                                            <p:cond delay="0"/>
                                          </p:stCondLst>
                                        </p:cTn>
                                        <p:tgtEl>
                                          <p:spTgt spid="14"/>
                                        </p:tgtEl>
                                        <p:attrNameLst>
                                          <p:attrName>style.visibility</p:attrName>
                                        </p:attrNameLst>
                                      </p:cBhvr>
                                      <p:to>
                                        <p:strVal val="visible"/>
                                      </p:to>
                                    </p:set>
                                    <p:animEffect transition="in" filter="wipe(left)">
                                      <p:cBhvr>
                                        <p:cTn id="37" dur="450"/>
                                        <p:tgtEl>
                                          <p:spTgt spid="14"/>
                                        </p:tgtEl>
                                      </p:cBhvr>
                                    </p:animEffect>
                                  </p:childTnLst>
                                </p:cTn>
                              </p:par>
                              <p:par>
                                <p:cTn id="38" presetID="10" presetClass="entr" presetSubtype="0" fill="hold" nodeType="withEffect">
                                  <p:stCondLst>
                                    <p:cond delay="145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300"/>
                                        <p:tgtEl>
                                          <p:spTgt spid="15"/>
                                        </p:tgtEl>
                                      </p:cBhvr>
                                    </p:animEffect>
                                  </p:childTnLst>
                                </p:cTn>
                              </p:par>
                              <p:par>
                                <p:cTn id="41" presetID="22" presetClass="entr" presetSubtype="8" fill="hold" nodeType="withEffect">
                                  <p:stCondLst>
                                    <p:cond delay="1600"/>
                                  </p:stCondLst>
                                  <p:childTnLst>
                                    <p:set>
                                      <p:cBhvr>
                                        <p:cTn id="42" dur="1" fill="hold">
                                          <p:stCondLst>
                                            <p:cond delay="0"/>
                                          </p:stCondLst>
                                        </p:cTn>
                                        <p:tgtEl>
                                          <p:spTgt spid="16"/>
                                        </p:tgtEl>
                                        <p:attrNameLst>
                                          <p:attrName>style.visibility</p:attrName>
                                        </p:attrNameLst>
                                      </p:cBhvr>
                                      <p:to>
                                        <p:strVal val="visible"/>
                                      </p:to>
                                    </p:set>
                                    <p:animEffect transition="in" filter="wipe(left)">
                                      <p:cBhvr>
                                        <p:cTn id="43" dur="450"/>
                                        <p:tgtEl>
                                          <p:spTgt spid="16"/>
                                        </p:tgtEl>
                                      </p:cBhvr>
                                    </p:animEffect>
                                  </p:childTnLst>
                                </p:cTn>
                              </p:par>
                              <p:par>
                                <p:cTn id="44" presetID="22" presetClass="entr" presetSubtype="8" fill="hold" nodeType="withEffect">
                                  <p:stCondLst>
                                    <p:cond delay="1650"/>
                                  </p:stCondLst>
                                  <p:childTnLst>
                                    <p:set>
                                      <p:cBhvr>
                                        <p:cTn id="45" dur="1" fill="hold">
                                          <p:stCondLst>
                                            <p:cond delay="0"/>
                                          </p:stCondLst>
                                        </p:cTn>
                                        <p:tgtEl>
                                          <p:spTgt spid="17"/>
                                        </p:tgtEl>
                                        <p:attrNameLst>
                                          <p:attrName>style.visibility</p:attrName>
                                        </p:attrNameLst>
                                      </p:cBhvr>
                                      <p:to>
                                        <p:strVal val="visible"/>
                                      </p:to>
                                    </p:set>
                                    <p:animEffect transition="in" filter="wipe(left)">
                                      <p:cBhvr>
                                        <p:cTn id="46" dur="450"/>
                                        <p:tgtEl>
                                          <p:spTgt spid="17"/>
                                        </p:tgtEl>
                                      </p:cBhvr>
                                    </p:animEffect>
                                  </p:childTnLst>
                                </p:cTn>
                              </p:par>
                              <p:par>
                                <p:cTn id="47" presetID="10" presetClass="entr" presetSubtype="0" fill="hold" nodeType="withEffect">
                                  <p:stCondLst>
                                    <p:cond delay="180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300"/>
                                        <p:tgtEl>
                                          <p:spTgt spid="18"/>
                                        </p:tgtEl>
                                      </p:cBhvr>
                                    </p:animEffect>
                                  </p:childTnLst>
                                </p:cTn>
                              </p:par>
                              <p:par>
                                <p:cTn id="50" presetID="2" presetClass="entr" presetSubtype="4" fill="hold" nodeType="withEffect">
                                  <p:stCondLst>
                                    <p:cond delay="1800"/>
                                  </p:stCondLst>
                                  <p:childTnLst>
                                    <p:set>
                                      <p:cBhvr>
                                        <p:cTn id="51" dur="1" fill="hold">
                                          <p:stCondLst>
                                            <p:cond delay="0"/>
                                          </p:stCondLst>
                                        </p:cTn>
                                        <p:tgtEl>
                                          <p:spTgt spid="23"/>
                                        </p:tgtEl>
                                        <p:attrNameLst>
                                          <p:attrName>style.visibility</p:attrName>
                                        </p:attrNameLst>
                                      </p:cBhvr>
                                      <p:to>
                                        <p:strVal val="visible"/>
                                      </p:to>
                                    </p:set>
                                    <p:anim calcmode="lin" valueType="num">
                                      <p:cBhvr additive="base">
                                        <p:cTn id="52" dur="500" fill="hold"/>
                                        <p:tgtEl>
                                          <p:spTgt spid="23"/>
                                        </p:tgtEl>
                                        <p:attrNameLst>
                                          <p:attrName>ppt_x</p:attrName>
                                        </p:attrNameLst>
                                      </p:cBhvr>
                                      <p:tavLst>
                                        <p:tav tm="0">
                                          <p:val>
                                            <p:strVal val="#ppt_x"/>
                                          </p:val>
                                        </p:tav>
                                        <p:tav tm="100000">
                                          <p:val>
                                            <p:strVal val="#ppt_x"/>
                                          </p:val>
                                        </p:tav>
                                      </p:tavLst>
                                    </p:anim>
                                    <p:anim calcmode="lin" valueType="num">
                                      <p:cBhvr additive="base">
                                        <p:cTn id="53" dur="500" fill="hold"/>
                                        <p:tgtEl>
                                          <p:spTgt spid="23"/>
                                        </p:tgtEl>
                                        <p:attrNameLst>
                                          <p:attrName>ppt_y</p:attrName>
                                        </p:attrNameLst>
                                      </p:cBhvr>
                                      <p:tavLst>
                                        <p:tav tm="0">
                                          <p:val>
                                            <p:strVal val="1+#ppt_h/2"/>
                                          </p:val>
                                        </p:tav>
                                        <p:tav tm="100000">
                                          <p:val>
                                            <p:strVal val="#ppt_y"/>
                                          </p:val>
                                        </p:tav>
                                      </p:tavLst>
                                    </p:anim>
                                  </p:childTnLst>
                                </p:cTn>
                              </p:par>
                              <p:par>
                                <p:cTn id="54" presetID="22" presetClass="entr" presetSubtype="8" fill="hold" nodeType="withEffect">
                                  <p:stCondLst>
                                    <p:cond delay="1950"/>
                                  </p:stCondLst>
                                  <p:childTnLst>
                                    <p:set>
                                      <p:cBhvr>
                                        <p:cTn id="55" dur="1" fill="hold">
                                          <p:stCondLst>
                                            <p:cond delay="0"/>
                                          </p:stCondLst>
                                        </p:cTn>
                                        <p:tgtEl>
                                          <p:spTgt spid="19"/>
                                        </p:tgtEl>
                                        <p:attrNameLst>
                                          <p:attrName>style.visibility</p:attrName>
                                        </p:attrNameLst>
                                      </p:cBhvr>
                                      <p:to>
                                        <p:strVal val="visible"/>
                                      </p:to>
                                    </p:set>
                                    <p:animEffect transition="in" filter="wipe(left)">
                                      <p:cBhvr>
                                        <p:cTn id="56" dur="450"/>
                                        <p:tgtEl>
                                          <p:spTgt spid="19"/>
                                        </p:tgtEl>
                                      </p:cBhvr>
                                    </p:animEffect>
                                  </p:childTnLst>
                                </p:cTn>
                              </p:par>
                              <p:par>
                                <p:cTn id="57" presetID="22" presetClass="entr" presetSubtype="8" fill="hold" nodeType="withEffect">
                                  <p:stCondLst>
                                    <p:cond delay="2000"/>
                                  </p:stCondLst>
                                  <p:childTnLst>
                                    <p:set>
                                      <p:cBhvr>
                                        <p:cTn id="58" dur="1" fill="hold">
                                          <p:stCondLst>
                                            <p:cond delay="0"/>
                                          </p:stCondLst>
                                        </p:cTn>
                                        <p:tgtEl>
                                          <p:spTgt spid="20"/>
                                        </p:tgtEl>
                                        <p:attrNameLst>
                                          <p:attrName>style.visibility</p:attrName>
                                        </p:attrNameLst>
                                      </p:cBhvr>
                                      <p:to>
                                        <p:strVal val="visible"/>
                                      </p:to>
                                    </p:set>
                                    <p:animEffect transition="in" filter="wipe(left)">
                                      <p:cBhvr>
                                        <p:cTn id="59" dur="450"/>
                                        <p:tgtEl>
                                          <p:spTgt spid="20"/>
                                        </p:tgtEl>
                                      </p:cBhvr>
                                    </p:animEffect>
                                  </p:childTnLst>
                                </p:cTn>
                              </p:par>
                              <p:par>
                                <p:cTn id="60" presetID="10" presetClass="entr" presetSubtype="0" fill="hold" nodeType="withEffect">
                                  <p:stCondLst>
                                    <p:cond delay="200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400"/>
                                        <p:tgtEl>
                                          <p:spTgt spid="24"/>
                                        </p:tgtEl>
                                      </p:cBhvr>
                                    </p:animEffect>
                                  </p:childTnLst>
                                </p:cTn>
                              </p:par>
                              <p:par>
                                <p:cTn id="63" presetID="2" presetClass="entr" presetSubtype="4" fill="hold" nodeType="withEffect">
                                  <p:stCondLst>
                                    <p:cond delay="2000"/>
                                  </p:stCondLst>
                                  <p:childTnLst>
                                    <p:set>
                                      <p:cBhvr>
                                        <p:cTn id="64" dur="1" fill="hold">
                                          <p:stCondLst>
                                            <p:cond delay="0"/>
                                          </p:stCondLst>
                                        </p:cTn>
                                        <p:tgtEl>
                                          <p:spTgt spid="26"/>
                                        </p:tgtEl>
                                        <p:attrNameLst>
                                          <p:attrName>style.visibility</p:attrName>
                                        </p:attrNameLst>
                                      </p:cBhvr>
                                      <p:to>
                                        <p:strVal val="visible"/>
                                      </p:to>
                                    </p:set>
                                    <p:anim calcmode="lin" valueType="num">
                                      <p:cBhvr additive="base">
                                        <p:cTn id="65" dur="500" fill="hold"/>
                                        <p:tgtEl>
                                          <p:spTgt spid="26"/>
                                        </p:tgtEl>
                                        <p:attrNameLst>
                                          <p:attrName>ppt_x</p:attrName>
                                        </p:attrNameLst>
                                      </p:cBhvr>
                                      <p:tavLst>
                                        <p:tav tm="0">
                                          <p:val>
                                            <p:strVal val="#ppt_x"/>
                                          </p:val>
                                        </p:tav>
                                        <p:tav tm="100000">
                                          <p:val>
                                            <p:strVal val="#ppt_x"/>
                                          </p:val>
                                        </p:tav>
                                      </p:tavLst>
                                    </p:anim>
                                    <p:anim calcmode="lin" valueType="num">
                                      <p:cBhvr additive="base">
                                        <p:cTn id="66" dur="500" fill="hold"/>
                                        <p:tgtEl>
                                          <p:spTgt spid="26"/>
                                        </p:tgtEl>
                                        <p:attrNameLst>
                                          <p:attrName>ppt_y</p:attrName>
                                        </p:attrNameLst>
                                      </p:cBhvr>
                                      <p:tavLst>
                                        <p:tav tm="0">
                                          <p:val>
                                            <p:strVal val="1+#ppt_h/2"/>
                                          </p:val>
                                        </p:tav>
                                        <p:tav tm="100000">
                                          <p:val>
                                            <p:strVal val="#ppt_y"/>
                                          </p:val>
                                        </p:tav>
                                      </p:tavLst>
                                    </p:anim>
                                  </p:childTnLst>
                                </p:cTn>
                              </p:par>
                              <p:par>
                                <p:cTn id="67" presetID="10" presetClass="entr" presetSubtype="0" fill="hold" nodeType="withEffect">
                                  <p:stCondLst>
                                    <p:cond delay="210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500"/>
                                        <p:tgtEl>
                                          <p:spTgt spid="25"/>
                                        </p:tgtEl>
                                      </p:cBhvr>
                                    </p:animEffect>
                                  </p:childTnLst>
                                </p:cTn>
                              </p:par>
                              <p:par>
                                <p:cTn id="70" presetID="10" presetClass="entr" presetSubtype="0" fill="hold" nodeType="withEffect">
                                  <p:stCondLst>
                                    <p:cond delay="220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400"/>
                                        <p:tgtEl>
                                          <p:spTgt spid="27"/>
                                        </p:tgtEl>
                                      </p:cBhvr>
                                    </p:animEffect>
                                  </p:childTnLst>
                                </p:cTn>
                              </p:par>
                              <p:par>
                                <p:cTn id="73" presetID="10" presetClass="entr" presetSubtype="0" fill="hold" nodeType="withEffect">
                                  <p:stCondLst>
                                    <p:cond delay="230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500"/>
                                        <p:tgtEl>
                                          <p:spTgt spid="28"/>
                                        </p:tgtEl>
                                      </p:cBhvr>
                                    </p:animEffect>
                                  </p:childTnLst>
                                </p:cTn>
                              </p:par>
                              <p:par>
                                <p:cTn id="76" presetID="10" presetClass="entr" presetSubtype="0" fill="hold" nodeType="withEffect">
                                  <p:stCondLst>
                                    <p:cond delay="240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300"/>
                                        <p:tgtEl>
                                          <p:spTgt spid="21"/>
                                        </p:tgtEl>
                                      </p:cBhvr>
                                    </p:animEffect>
                                  </p:childTnLst>
                                </p:cTn>
                              </p:par>
                              <p:par>
                                <p:cTn id="79" presetID="10" presetClass="entr" presetSubtype="0" fill="hold" nodeType="withEffect">
                                  <p:stCondLst>
                                    <p:cond delay="2400"/>
                                  </p:stCondLst>
                                  <p:childTnLst>
                                    <p:set>
                                      <p:cBhvr>
                                        <p:cTn id="80" dur="1" fill="hold">
                                          <p:stCondLst>
                                            <p:cond delay="0"/>
                                          </p:stCondLst>
                                        </p:cTn>
                                        <p:tgtEl>
                                          <p:spTgt spid="22"/>
                                        </p:tgtEl>
                                        <p:attrNameLst>
                                          <p:attrName>style.visibility</p:attrName>
                                        </p:attrNameLst>
                                      </p:cBhvr>
                                      <p:to>
                                        <p:strVal val="visible"/>
                                      </p:to>
                                    </p:set>
                                    <p:animEffect transition="in" filter="fade">
                                      <p:cBhvr>
                                        <p:cTn id="81" dur="300"/>
                                        <p:tgtEl>
                                          <p:spTgt spid="22"/>
                                        </p:tgtEl>
                                      </p:cBhvr>
                                    </p:animEffect>
                                  </p:childTnLst>
                                </p:cTn>
                              </p:par>
                              <p:par>
                                <p:cTn id="82" presetID="10" presetClass="entr" presetSubtype="0" fill="hold" nodeType="withEffect">
                                  <p:stCondLst>
                                    <p:cond delay="250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500"/>
                                        <p:tgtEl>
                                          <p:spTgt spid="29"/>
                                        </p:tgtEl>
                                      </p:cBhvr>
                                    </p:animEffect>
                                  </p:childTnLst>
                                </p:cTn>
                              </p:par>
                              <p:par>
                                <p:cTn id="85" presetID="10" presetClass="entr" presetSubtype="0" fill="hold" nodeType="withEffect">
                                  <p:stCondLst>
                                    <p:cond delay="260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500"/>
                                        <p:tgtEl>
                                          <p:spTgt spid="30"/>
                                        </p:tgtEl>
                                      </p:cBhvr>
                                    </p:animEffect>
                                  </p:childTnLst>
                                </p:cTn>
                              </p:par>
                              <p:par>
                                <p:cTn id="88" presetID="0" presetClass="path" presetSubtype="0" repeatCount="indefinite" fill="hold" nodeType="withEffect">
                                  <p:stCondLst>
                                    <p:cond delay="2700"/>
                                  </p:stCondLst>
                                  <p:childTnLst>
                                    <p:animMotion origin="layout" path="M 0 0 L 0.87000 0.00000 E" pathEditMode="relative" rAng="0" ptsTypes="AA">
                                      <p:cBhvr>
                                        <p:cTn id="89" dur="3600" fill="hold"/>
                                        <p:tgtEl>
                                          <p:spTgt spid="21"/>
                                        </p:tgtEl>
                                        <p:attrNameLst>
                                          <p:attrName>ppt_x</p:attrName>
                                          <p:attrName>ppt_y</p:attrName>
                                        </p:attrNameLst>
                                      </p:cBhvr>
                                      <p:rCtr x="0.43500" y="0.000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8 fault frames, 19 symptoms</a:t>
            </a:r>
            <a:endParaRPr lang="en-US" sz="3200" dirty="0"/>
          </a:p>
        </p:txBody>
      </p:sp>
      <p:graphicFrame>
        <p:nvGraphicFramePr>
          <p:cNvPr id="6" name="kb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560320"/>
                <a:gridCol w="2011680"/>
                <a:gridCol w="3840480"/>
                <a:gridCol w="1097280"/>
                <a:gridCol w="1554480"/>
              </a:tblGrid>
              <a:tr h="457200">
                <a:tc>
                  <a:txBody>
                    <a:bodyPr/>
                    <a:lstStyle/>
                    <a:p>
                      <a:pPr indent="0" marL="0">
                        <a:buNone/>
                      </a:pPr>
                      <a:r>
                        <a:rPr lang="en-US" sz="1200" b="1" dirty="0">
                          <a:solidFill>
                            <a:schemeClr val="bg1"/>
                          </a:solidFill>
                        </a:rPr>
                        <a:t>Fault</a:t>
                      </a:r>
                      <a:endParaRPr lang="en-US" sz="12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Component</a:t>
                      </a:r>
                      <a:endParaRPr lang="en-US" sz="12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Required observations (all = Yes)</a:t>
                      </a:r>
                      <a:endParaRPr lang="en-US" sz="12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Severity</a:t>
                      </a:r>
                      <a:endParaRPr lang="en-US" sz="12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Cost / Down</a:t>
                      </a:r>
                      <a:endParaRPr lang="en-US" sz="12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tx2"/>
                    </a:solidFill>
                  </a:tcPr>
                </a:tc>
              </a:tr>
              <a:tr h="457200">
                <a:tc>
                  <a:txBody>
                    <a:bodyPr/>
                    <a:lstStyle/>
                    <a:p>
                      <a:pPr indent="0" marL="0">
                        <a:buNone/>
                      </a:pPr>
                      <a:r>
                        <a:rPr lang="en-US" sz="1200" b="1" dirty="0">
                          <a:solidFill>
                            <a:schemeClr val="tx1"/>
                          </a:solidFill>
                        </a:rPr>
                        <a:t>Payload configuration mismatch</a:t>
                      </a:r>
                      <a:endParaRPr lang="en-US" sz="12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Tool configuration</a:t>
                      </a:r>
                      <a:endParaRPr lang="en-US" sz="12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protective_stop  ∧  payload_mismatch</a:t>
                      </a:r>
                      <a:endParaRPr lang="en-US" sz="1100" dirty="0">
                        <a:latin typeface="Courier New" charset="0"/>
                        <a:ea typeface="Courier New" charset="0"/>
                        <a:cs typeface="Courier New" charset="0"/>
                      </a:endParaRPr>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bg1"/>
                          </a:solidFill>
                        </a:rPr>
                        <a:t>High</a:t>
                      </a:r>
                      <a:endParaRPr lang="en-US" sz="12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accent2"/>
                    </a:solidFill>
                  </a:tcPr>
                </a:tc>
                <a:tc>
                  <a:txBody>
                    <a:bodyPr/>
                    <a:lstStyle/>
                    <a:p>
                      <a:pPr algn="ctr" indent="0" marL="0">
                        <a:buNone/>
                      </a:pPr>
                      <a:r>
                        <a:rPr lang="en-US" sz="1200" dirty="0">
                          <a:solidFill>
                            <a:schemeClr val="tx1"/>
                          </a:solidFill>
                        </a:rPr>
                        <a:t>Low / Short</a:t>
                      </a:r>
                      <a:endParaRPr lang="en-US" sz="12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rPr>
                        <a:t>Joint mechanical degradation</a:t>
                      </a:r>
                      <a:endParaRPr lang="en-US" sz="12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Joint / transmission</a:t>
                      </a:r>
                      <a:endParaRPr lang="en-US" sz="12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joint_noise  ∧  joint_friction  ∧  position_drift</a:t>
                      </a:r>
                      <a:endParaRPr lang="en-US" sz="1100" dirty="0">
                        <a:latin typeface="Courier New" charset="0"/>
                        <a:ea typeface="Courier New" charset="0"/>
                        <a:cs typeface="Courier New" charset="0"/>
                      </a:endParaRPr>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bg1"/>
                          </a:solidFill>
                        </a:rPr>
                        <a:t>High</a:t>
                      </a:r>
                      <a:endParaRPr lang="en-US" sz="12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accent2"/>
                    </a:solidFill>
                  </a:tcPr>
                </a:tc>
                <a:tc>
                  <a:txBody>
                    <a:bodyPr/>
                    <a:lstStyle/>
                    <a:p>
                      <a:pPr algn="ctr" indent="0" marL="0">
                        <a:buNone/>
                      </a:pPr>
                      <a:r>
                        <a:rPr lang="en-US" sz="1200" dirty="0">
                          <a:solidFill>
                            <a:schemeClr val="tx1"/>
                          </a:solidFill>
                        </a:rPr>
                        <a:t>High / Long</a:t>
                      </a:r>
                      <a:endParaRPr lang="en-US" sz="12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1"/>
                          </a:solidFill>
                        </a:rPr>
                        <a:t>Cooling-related overheating</a:t>
                      </a:r>
                      <a:endParaRPr lang="en-US" sz="12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Motor / controller cooling</a:t>
                      </a:r>
                      <a:endParaRPr lang="en-US" sz="12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overtemperature  ∧  cooling_blocked</a:t>
                      </a:r>
                      <a:endParaRPr lang="en-US" sz="1100" dirty="0">
                        <a:latin typeface="Courier New" charset="0"/>
                        <a:ea typeface="Courier New" charset="0"/>
                        <a:cs typeface="Courier New" charset="0"/>
                      </a:endParaRPr>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bg1"/>
                          </a:solidFill>
                        </a:rPr>
                        <a:t>High</a:t>
                      </a:r>
                      <a:endParaRPr lang="en-US" sz="12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accent2"/>
                    </a:solidFill>
                  </a:tcPr>
                </a:tc>
                <a:tc>
                  <a:txBody>
                    <a:bodyPr/>
                    <a:lstStyle/>
                    <a:p>
                      <a:pPr algn="ctr" indent="0" marL="0">
                        <a:buNone/>
                      </a:pPr>
                      <a:r>
                        <a:rPr lang="en-US" sz="1200" dirty="0">
                          <a:solidFill>
                            <a:schemeClr val="tx1"/>
                          </a:solidFill>
                        </a:rPr>
                        <a:t>Medium / Medium</a:t>
                      </a:r>
                      <a:endParaRPr lang="en-US" sz="12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rPr>
                        <a:t>Position feedback fault</a:t>
                      </a:r>
                      <a:endParaRPr lang="en-US" sz="12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Encoder / feedback circuit</a:t>
                      </a:r>
                      <a:endParaRPr lang="en-US" sz="12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encoder_alarm  ∧  feedback_unstable</a:t>
                      </a:r>
                      <a:endParaRPr lang="en-US" sz="1100" dirty="0">
                        <a:latin typeface="Courier New" charset="0"/>
                        <a:ea typeface="Courier New" charset="0"/>
                        <a:cs typeface="Courier New" charset="0"/>
                      </a:endParaRPr>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bg1"/>
                          </a:solidFill>
                        </a:rPr>
                        <a:t>High</a:t>
                      </a:r>
                      <a:endParaRPr lang="en-US" sz="12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accent2"/>
                    </a:solidFill>
                  </a:tcPr>
                </a:tc>
                <a:tc>
                  <a:txBody>
                    <a:bodyPr/>
                    <a:lstStyle/>
                    <a:p>
                      <a:pPr algn="ctr" indent="0" marL="0">
                        <a:buNone/>
                      </a:pPr>
                      <a:r>
                        <a:rPr lang="en-US" sz="1200" dirty="0">
                          <a:solidFill>
                            <a:schemeClr val="tx1"/>
                          </a:solidFill>
                        </a:rPr>
                        <a:t>Medium / Medium</a:t>
                      </a:r>
                      <a:endParaRPr lang="en-US" sz="12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1"/>
                          </a:solidFill>
                        </a:rPr>
                        <a:t>Pneumatic grip fault</a:t>
                      </a:r>
                      <a:endParaRPr lang="en-US" sz="12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End effector</a:t>
                      </a:r>
                      <a:endParaRPr lang="en-US" sz="12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grip_loss  ∧  pressure_low</a:t>
                      </a:r>
                      <a:endParaRPr lang="en-US" sz="1100" dirty="0">
                        <a:latin typeface="Courier New" charset="0"/>
                        <a:ea typeface="Courier New" charset="0"/>
                        <a:cs typeface="Courier New" charset="0"/>
                      </a:endParaRPr>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bg1"/>
                          </a:solidFill>
                        </a:rPr>
                        <a:t>High</a:t>
                      </a:r>
                      <a:endParaRPr lang="en-US" sz="12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accent2"/>
                    </a:solidFill>
                  </a:tcPr>
                </a:tc>
                <a:tc>
                  <a:txBody>
                    <a:bodyPr/>
                    <a:lstStyle/>
                    <a:p>
                      <a:pPr algn="ctr" indent="0" marL="0">
                        <a:buNone/>
                      </a:pPr>
                      <a:r>
                        <a:rPr lang="en-US" sz="1200" dirty="0">
                          <a:solidFill>
                            <a:schemeClr val="tx1"/>
                          </a:solidFill>
                        </a:rPr>
                        <a:t>Low / Short</a:t>
                      </a:r>
                      <a:endParaRPr lang="en-US" sz="12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rPr>
                        <a:t>Communication connection fault</a:t>
                      </a:r>
                      <a:endParaRPr lang="en-US" sz="12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Communication harness</a:t>
                      </a:r>
                      <a:endParaRPr lang="en-US" sz="12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communication_alarm  ∧  connection_damage</a:t>
                      </a:r>
                      <a:endParaRPr lang="en-US" sz="1100" dirty="0">
                        <a:latin typeface="Courier New" charset="0"/>
                        <a:ea typeface="Courier New" charset="0"/>
                        <a:cs typeface="Courier New" charset="0"/>
                      </a:endParaRPr>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bg1"/>
                          </a:solidFill>
                        </a:rPr>
                        <a:t>Medium</a:t>
                      </a:r>
                      <a:endParaRPr lang="en-US" sz="12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accent5"/>
                    </a:solidFill>
                  </a:tcPr>
                </a:tc>
                <a:tc>
                  <a:txBody>
                    <a:bodyPr/>
                    <a:lstStyle/>
                    <a:p>
                      <a:pPr algn="ctr" indent="0" marL="0">
                        <a:buNone/>
                      </a:pPr>
                      <a:r>
                        <a:rPr lang="en-US" sz="1200" dirty="0">
                          <a:solidFill>
                            <a:schemeClr val="tx1"/>
                          </a:solidFill>
                        </a:rPr>
                        <a:t>Medium / Medium</a:t>
                      </a:r>
                      <a:endParaRPr lang="en-US" sz="12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1"/>
                          </a:solidFill>
                        </a:rPr>
                        <a:t>Power supply fault</a:t>
                      </a:r>
                      <a:endParaRPr lang="en-US" sz="12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Power system</a:t>
                      </a:r>
                      <a:endParaRPr lang="en-US" sz="12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power_alarm  ∧  supply_unstable</a:t>
                      </a:r>
                      <a:endParaRPr lang="en-US" sz="1100" dirty="0">
                        <a:latin typeface="Courier New" charset="0"/>
                        <a:ea typeface="Courier New" charset="0"/>
                        <a:cs typeface="Courier New" charset="0"/>
                      </a:endParaRPr>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bg1"/>
                          </a:solidFill>
                        </a:rPr>
                        <a:t>High</a:t>
                      </a:r>
                      <a:endParaRPr lang="en-US" sz="12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accent2"/>
                    </a:solidFill>
                  </a:tcPr>
                </a:tc>
                <a:tc>
                  <a:txBody>
                    <a:bodyPr/>
                    <a:lstStyle/>
                    <a:p>
                      <a:pPr algn="ctr" indent="0" marL="0">
                        <a:buNone/>
                      </a:pPr>
                      <a:r>
                        <a:rPr lang="en-US" sz="1200" dirty="0">
                          <a:solidFill>
                            <a:schemeClr val="tx1"/>
                          </a:solidFill>
                        </a:rPr>
                        <a:t>Medium / Medium</a:t>
                      </a:r>
                      <a:endParaRPr lang="en-US" sz="12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rPr>
                        <a:t>Joint holding / brake fault</a:t>
                      </a:r>
                      <a:endParaRPr lang="en-US" sz="12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Joint brake</a:t>
                      </a:r>
                      <a:endParaRPr lang="en-US" sz="12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brake_alarm  ∧  joint_droop</a:t>
                      </a:r>
                      <a:endParaRPr lang="en-US" sz="1100" dirty="0">
                        <a:latin typeface="Courier New" charset="0"/>
                        <a:ea typeface="Courier New" charset="0"/>
                        <a:cs typeface="Courier New" charset="0"/>
                      </a:endParaRPr>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bg1"/>
                          </a:solidFill>
                        </a:rPr>
                        <a:t>Critical</a:t>
                      </a:r>
                      <a:endParaRPr lang="en-US" sz="12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accent3"/>
                    </a:solidFill>
                  </a:tcPr>
                </a:tc>
                <a:tc>
                  <a:txBody>
                    <a:bodyPr/>
                    <a:lstStyle/>
                    <a:p>
                      <a:pPr algn="ctr" indent="0" marL="0">
                        <a:buNone/>
                      </a:pPr>
                      <a:r>
                        <a:rPr lang="en-US" sz="1200" dirty="0">
                          <a:solidFill>
                            <a:schemeClr val="tx1"/>
                          </a:solidFill>
                        </a:rPr>
                        <a:t>High / Long</a:t>
                      </a:r>
                      <a:endParaRPr lang="en-US" sz="12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2"/>
                    </a:solidFill>
                  </a:tcPr>
                </a:tc>
              </a:tr>
            </a:tbl>
          </a:graphicData>
        </a:graphic>
      </p:graphicFrame>
      <p:sp>
        <p:nvSpPr>
          <p:cNvPr id="5" name="text_5_1"/>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300" i="1" dirty="0">
                <a:solidFill>
                  <a:srgbClr val="5B6B7C"/>
                </a:solidFill>
              </a:rPr>
              <a:t>Payload and friction concepts follow Universal Robots guidance; the other conjunctions and all cost / downtime labels are author-created educational rules.</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20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900"/>
                                        <p:tgtEl>
                                          <p:spTgt spid="6"/>
                                        </p:tgtEl>
                                      </p:cBhvr>
                                    </p:animEffect>
                                  </p:childTnLst>
                                </p:cTn>
                              </p:par>
                              <p:par>
                                <p:cTn id="8" presetID="10" presetClass="entr" presetSubtype="0" fill="hold" nodeType="withEffect">
                                  <p:stCondLst>
                                    <p:cond delay="14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bg1"/>
                </a:solidFill>
                <a:latin typeface="Cambria" pitchFamily="34" charset="0"/>
                <a:ea typeface="Cambria" pitchFamily="34" charset="-122"/>
                <a:cs typeface="Cambria" pitchFamily="34" charset="-120"/>
              </a:rPr>
              <a:t>Forward chaining: facts, rules, explained action</a:t>
            </a:r>
            <a:endParaRPr lang="en-US" sz="3200" dirty="0"/>
          </a:p>
        </p:txBody>
      </p:sp>
      <p:sp>
        <p:nvSpPr>
          <p:cNvPr id="4" name="shape_6_1"/>
          <p:cNvSpPr/>
          <p:nvPr/>
        </p:nvSpPr>
        <p:spPr>
          <a:xfrm>
            <a:off x="548640" y="1417320"/>
            <a:ext cx="3383280" cy="2286000"/>
          </a:xfrm>
          <a:prstGeom prst="roundRect">
            <a:avLst>
              <a:gd name="adj" fmla="val 4800"/>
            </a:avLst>
          </a:prstGeom>
          <a:solidFill>
            <a:schemeClr val="bg1">
              <a:alpha val="9000"/>
            </a:schemeClr>
          </a:solidFill>
          <a:ln w="12700">
            <a:solidFill>
              <a:srgbClr val="FFFFFF">
                <a:alpha val="0"/>
              </a:srgbClr>
            </a:solidFill>
            <a:prstDash val="solid"/>
          </a:ln>
        </p:spPr>
      </p:sp>
      <p:sp>
        <p:nvSpPr>
          <p:cNvPr id="5" name="text_6_2"/>
          <p:cNvSpPr txBox="1"/>
          <p:nvPr/>
        </p:nvSpPr>
        <p:spPr>
          <a:xfrm>
            <a:off x="822960" y="1600200"/>
            <a:ext cx="2834640" cy="457200"/>
          </a:xfrm>
          <a:prstGeom prst="rect">
            <a:avLst/>
          </a:prstGeom>
          <a:noFill/>
          <a:ln/>
        </p:spPr>
        <p:txBody>
          <a:bodyPr wrap="square" lIns="0" tIns="0" rIns="0" bIns="0" rtlCol="0" anchor="ctr"/>
          <a:lstStyle/>
          <a:p>
            <a:pPr indent="0" marL="0">
              <a:buNone/>
            </a:pPr>
            <a:r>
              <a:rPr lang="en-US" sz="1800" b="1" dirty="0">
                <a:solidFill>
                  <a:schemeClr val="accent2"/>
                </a:solidFill>
                <a:latin typeface="Cambria" pitchFamily="34" charset="0"/>
                <a:ea typeface="Cambria" pitchFamily="34" charset="-122"/>
                <a:cs typeface="Cambria" pitchFamily="34" charset="-120"/>
              </a:rPr>
              <a:t>1  Observed facts</a:t>
            </a:r>
            <a:endParaRPr lang="en-US" sz="1800" dirty="0"/>
          </a:p>
        </p:txBody>
      </p:sp>
      <p:sp>
        <p:nvSpPr>
          <p:cNvPr id="6" name="text_6_3"/>
          <p:cNvSpPr txBox="1"/>
          <p:nvPr/>
        </p:nvSpPr>
        <p:spPr>
          <a:xfrm>
            <a:off x="822960" y="2194560"/>
            <a:ext cx="2834640" cy="548640"/>
          </a:xfrm>
          <a:prstGeom prst="rect">
            <a:avLst/>
          </a:prstGeom>
          <a:noFill/>
          <a:ln/>
        </p:spPr>
        <p:txBody>
          <a:bodyPr wrap="square" lIns="0" tIns="0" rIns="0" bIns="0" rtlCol="0" anchor="t"/>
          <a:lstStyle/>
          <a:p>
            <a:pPr indent="0" marL="0">
              <a:buNone/>
            </a:pPr>
            <a:r>
              <a:rPr lang="en-US" sz="1500" dirty="0">
                <a:solidFill>
                  <a:schemeClr val="bg1"/>
                </a:solidFill>
                <a:latin typeface="Courier New" pitchFamily="34" charset="0"/>
                <a:ea typeface="Courier New" pitchFamily="34" charset="-122"/>
                <a:cs typeface="Courier New" pitchFamily="34" charset="-120"/>
              </a:rPr>
              <a:t>protective_stop = Yes</a:t>
            </a:r>
            <a:endParaRPr lang="en-US" sz="1500" dirty="0"/>
          </a:p>
        </p:txBody>
      </p:sp>
      <p:sp>
        <p:nvSpPr>
          <p:cNvPr id="7" name="text_6_4"/>
          <p:cNvSpPr txBox="1"/>
          <p:nvPr/>
        </p:nvSpPr>
        <p:spPr>
          <a:xfrm>
            <a:off x="822960" y="2834640"/>
            <a:ext cx="2834640" cy="548640"/>
          </a:xfrm>
          <a:prstGeom prst="rect">
            <a:avLst/>
          </a:prstGeom>
          <a:noFill/>
          <a:ln/>
        </p:spPr>
        <p:txBody>
          <a:bodyPr wrap="square" lIns="0" tIns="0" rIns="0" bIns="0" rtlCol="0" anchor="t"/>
          <a:lstStyle/>
          <a:p>
            <a:pPr indent="0" marL="0">
              <a:buNone/>
            </a:pPr>
            <a:r>
              <a:rPr lang="en-US" sz="1500" dirty="0">
                <a:solidFill>
                  <a:schemeClr val="bg1"/>
                </a:solidFill>
                <a:latin typeface="Courier New" pitchFamily="34" charset="0"/>
                <a:ea typeface="Courier New" pitchFamily="34" charset="-122"/>
                <a:cs typeface="Courier New" pitchFamily="34" charset="-120"/>
              </a:rPr>
              <a:t>payload_mismatch = Yes</a:t>
            </a:r>
            <a:endParaRPr lang="en-US" sz="1500" dirty="0"/>
          </a:p>
        </p:txBody>
      </p:sp>
      <p:sp>
        <p:nvSpPr>
          <p:cNvPr id="8" name="shape_6_5"/>
          <p:cNvSpPr/>
          <p:nvPr/>
        </p:nvSpPr>
        <p:spPr>
          <a:xfrm>
            <a:off x="3995928" y="2377440"/>
            <a:ext cx="347472" cy="365760"/>
          </a:xfrm>
          <a:prstGeom prst="rightArrow">
            <a:avLst/>
          </a:prstGeom>
          <a:solidFill>
            <a:schemeClr val="accent2"/>
          </a:solidFill>
          <a:ln w="12700">
            <a:solidFill>
              <a:schemeClr val="accent2"/>
            </a:solidFill>
            <a:prstDash val="solid"/>
          </a:ln>
        </p:spPr>
      </p:sp>
      <p:sp>
        <p:nvSpPr>
          <p:cNvPr id="9" name="shape_6_6"/>
          <p:cNvSpPr/>
          <p:nvPr/>
        </p:nvSpPr>
        <p:spPr>
          <a:xfrm>
            <a:off x="4389120" y="1417320"/>
            <a:ext cx="3383280" cy="2286000"/>
          </a:xfrm>
          <a:prstGeom prst="roundRect">
            <a:avLst>
              <a:gd name="adj" fmla="val 4800"/>
            </a:avLst>
          </a:prstGeom>
          <a:solidFill>
            <a:schemeClr val="bg1">
              <a:alpha val="9000"/>
            </a:schemeClr>
          </a:solidFill>
          <a:ln w="12700">
            <a:solidFill>
              <a:srgbClr val="FFFFFF">
                <a:alpha val="0"/>
              </a:srgbClr>
            </a:solidFill>
            <a:prstDash val="solid"/>
          </a:ln>
        </p:spPr>
      </p:sp>
      <p:sp>
        <p:nvSpPr>
          <p:cNvPr id="10" name="text_6_7"/>
          <p:cNvSpPr txBox="1"/>
          <p:nvPr/>
        </p:nvSpPr>
        <p:spPr>
          <a:xfrm>
            <a:off x="4663440" y="1600200"/>
            <a:ext cx="2834640" cy="45720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2  Rule match</a:t>
            </a:r>
            <a:endParaRPr lang="en-US" sz="1800" dirty="0"/>
          </a:p>
        </p:txBody>
      </p:sp>
      <p:sp>
        <p:nvSpPr>
          <p:cNvPr id="11" name="text_6_8"/>
          <p:cNvSpPr txBox="1"/>
          <p:nvPr/>
        </p:nvSpPr>
        <p:spPr>
          <a:xfrm>
            <a:off x="4663440" y="2194560"/>
            <a:ext cx="2834640" cy="548640"/>
          </a:xfrm>
          <a:prstGeom prst="rect">
            <a:avLst/>
          </a:prstGeom>
          <a:noFill/>
          <a:ln/>
        </p:spPr>
        <p:txBody>
          <a:bodyPr wrap="square" lIns="0" tIns="0" rIns="0" bIns="0" rtlCol="0" anchor="t"/>
          <a:lstStyle/>
          <a:p>
            <a:pPr indent="0" marL="0">
              <a:buNone/>
            </a:pPr>
            <a:r>
              <a:rPr lang="en-US" sz="1500" dirty="0">
                <a:solidFill>
                  <a:schemeClr val="bg1"/>
                </a:solidFill>
                <a:latin typeface="Calibri" pitchFamily="34" charset="0"/>
                <a:ea typeface="Calibri" pitchFamily="34" charset="-122"/>
                <a:cs typeface="Calibri" pitchFamily="34" charset="-120"/>
              </a:rPr>
              <a:t>Payload condition group is satisfied</a:t>
            </a:r>
            <a:endParaRPr lang="en-US" sz="1500" dirty="0"/>
          </a:p>
        </p:txBody>
      </p:sp>
      <p:sp>
        <p:nvSpPr>
          <p:cNvPr id="12" name="text_6_9"/>
          <p:cNvSpPr txBox="1"/>
          <p:nvPr/>
        </p:nvSpPr>
        <p:spPr>
          <a:xfrm>
            <a:off x="4663440" y="2834640"/>
            <a:ext cx="2834640" cy="548640"/>
          </a:xfrm>
          <a:prstGeom prst="rect">
            <a:avLst/>
          </a:prstGeom>
          <a:noFill/>
          <a:ln/>
        </p:spPr>
        <p:txBody>
          <a:bodyPr wrap="square" lIns="0" tIns="0" rIns="0" bIns="0" rtlCol="0" anchor="t"/>
          <a:lstStyle/>
          <a:p>
            <a:pPr indent="0" marL="0">
              <a:buNone/>
            </a:pPr>
            <a:r>
              <a:rPr lang="en-US" sz="1500" dirty="0">
                <a:solidFill>
                  <a:schemeClr val="bg1"/>
                </a:solidFill>
                <a:latin typeface="Calibri" pitchFamily="34" charset="0"/>
                <a:ea typeface="Calibri" pitchFamily="34" charset="-122"/>
                <a:cs typeface="Calibri" pitchFamily="34" charset="-120"/>
              </a:rPr>
              <a:t>Rule derives a fault hypothesis</a:t>
            </a:r>
            <a:endParaRPr lang="en-US" sz="1500" dirty="0"/>
          </a:p>
        </p:txBody>
      </p:sp>
      <p:sp>
        <p:nvSpPr>
          <p:cNvPr id="13" name="shape_6_10"/>
          <p:cNvSpPr/>
          <p:nvPr/>
        </p:nvSpPr>
        <p:spPr>
          <a:xfrm>
            <a:off x="7836408" y="2377440"/>
            <a:ext cx="347472" cy="365760"/>
          </a:xfrm>
          <a:prstGeom prst="rightArrow">
            <a:avLst/>
          </a:prstGeom>
          <a:solidFill>
            <a:schemeClr val="accent2"/>
          </a:solidFill>
          <a:ln w="12700">
            <a:solidFill>
              <a:schemeClr val="accent2"/>
            </a:solidFill>
            <a:prstDash val="solid"/>
          </a:ln>
        </p:spPr>
      </p:sp>
      <p:sp>
        <p:nvSpPr>
          <p:cNvPr id="14" name="shape_6_11"/>
          <p:cNvSpPr/>
          <p:nvPr/>
        </p:nvSpPr>
        <p:spPr>
          <a:xfrm>
            <a:off x="8229600" y="1417320"/>
            <a:ext cx="3383280" cy="2286000"/>
          </a:xfrm>
          <a:prstGeom prst="roundRect">
            <a:avLst>
              <a:gd name="adj" fmla="val 4800"/>
            </a:avLst>
          </a:prstGeom>
          <a:solidFill>
            <a:schemeClr val="bg1">
              <a:alpha val="9000"/>
            </a:schemeClr>
          </a:solidFill>
          <a:ln w="12700">
            <a:solidFill>
              <a:srgbClr val="FFFFFF">
                <a:alpha val="0"/>
              </a:srgbClr>
            </a:solidFill>
            <a:prstDash val="solid"/>
          </a:ln>
        </p:spPr>
      </p:sp>
      <p:sp>
        <p:nvSpPr>
          <p:cNvPr id="15" name="text_6_12"/>
          <p:cNvSpPr txBox="1"/>
          <p:nvPr/>
        </p:nvSpPr>
        <p:spPr>
          <a:xfrm>
            <a:off x="8503920" y="1600200"/>
            <a:ext cx="2834640" cy="457200"/>
          </a:xfrm>
          <a:prstGeom prst="rect">
            <a:avLst/>
          </a:prstGeom>
          <a:noFill/>
          <a:ln/>
        </p:spPr>
        <p:txBody>
          <a:bodyPr wrap="square" lIns="0" tIns="0" rIns="0" bIns="0" rtlCol="0" anchor="ctr"/>
          <a:lstStyle/>
          <a:p>
            <a:pPr indent="0" marL="0">
              <a:buNone/>
            </a:pPr>
            <a:r>
              <a:rPr lang="en-US" sz="1800" b="1" dirty="0">
                <a:solidFill>
                  <a:schemeClr val="accent4"/>
                </a:solidFill>
                <a:latin typeface="Cambria" pitchFamily="34" charset="0"/>
                <a:ea typeface="Cambria" pitchFamily="34" charset="-122"/>
                <a:cs typeface="Cambria" pitchFamily="34" charset="-120"/>
              </a:rPr>
              <a:t>3  Explanation</a:t>
            </a:r>
            <a:endParaRPr lang="en-US" sz="1800" dirty="0"/>
          </a:p>
        </p:txBody>
      </p:sp>
      <p:sp>
        <p:nvSpPr>
          <p:cNvPr id="16" name="text_6_13"/>
          <p:cNvSpPr txBox="1"/>
          <p:nvPr/>
        </p:nvSpPr>
        <p:spPr>
          <a:xfrm>
            <a:off x="8503920" y="2194560"/>
            <a:ext cx="2834640" cy="548640"/>
          </a:xfrm>
          <a:prstGeom prst="rect">
            <a:avLst/>
          </a:prstGeom>
          <a:noFill/>
          <a:ln/>
        </p:spPr>
        <p:txBody>
          <a:bodyPr wrap="square" lIns="0" tIns="0" rIns="0" bIns="0" rtlCol="0" anchor="t"/>
          <a:lstStyle/>
          <a:p>
            <a:pPr indent="0" marL="0">
              <a:buNone/>
            </a:pPr>
            <a:r>
              <a:rPr lang="en-US" sz="1500" dirty="0">
                <a:solidFill>
                  <a:schemeClr val="bg1"/>
                </a:solidFill>
                <a:latin typeface="Calibri" pitchFamily="34" charset="0"/>
                <a:ea typeface="Calibri" pitchFamily="34" charset="-122"/>
                <a:cs typeface="Calibri" pitchFamily="34" charset="-120"/>
              </a:rPr>
              <a:t>Trace lists satisfied facts</a:t>
            </a:r>
            <a:endParaRPr lang="en-US" sz="1500" dirty="0"/>
          </a:p>
        </p:txBody>
      </p:sp>
      <p:sp>
        <p:nvSpPr>
          <p:cNvPr id="17" name="text_6_14"/>
          <p:cNvSpPr txBox="1"/>
          <p:nvPr/>
        </p:nvSpPr>
        <p:spPr>
          <a:xfrm>
            <a:off x="8503920" y="2834640"/>
            <a:ext cx="2834640" cy="548640"/>
          </a:xfrm>
          <a:prstGeom prst="rect">
            <a:avLst/>
          </a:prstGeom>
          <a:noFill/>
          <a:ln/>
        </p:spPr>
        <p:txBody>
          <a:bodyPr wrap="square" lIns="0" tIns="0" rIns="0" bIns="0" rtlCol="0" anchor="t"/>
          <a:lstStyle/>
          <a:p>
            <a:pPr indent="0" marL="0">
              <a:buNone/>
            </a:pPr>
            <a:r>
              <a:rPr lang="en-US" sz="1500" dirty="0">
                <a:solidFill>
                  <a:schemeClr val="bg1"/>
                </a:solidFill>
                <a:latin typeface="Calibri" pitchFamily="34" charset="0"/>
                <a:ea typeface="Calibri" pitchFamily="34" charset="-122"/>
                <a:cs typeface="Calibri" pitchFamily="34" charset="-120"/>
              </a:rPr>
              <a:t>Qualified payload check suggested</a:t>
            </a:r>
            <a:endParaRPr lang="en-US" sz="1500" dirty="0"/>
          </a:p>
        </p:txBody>
      </p:sp>
      <p:sp>
        <p:nvSpPr>
          <p:cNvPr id="18" name="packet"/>
          <p:cNvSpPr/>
          <p:nvPr/>
        </p:nvSpPr>
        <p:spPr>
          <a:xfrm>
            <a:off x="685800" y="3840480"/>
            <a:ext cx="219456" cy="219456"/>
          </a:xfrm>
          <a:prstGeom prst="ellipse">
            <a:avLst/>
          </a:prstGeom>
          <a:solidFill>
            <a:schemeClr val="accent2"/>
          </a:solidFill>
          <a:ln w="12700">
            <a:solidFill>
              <a:schemeClr val="accent2"/>
            </a:solidFill>
            <a:prstDash val="solid"/>
          </a:ln>
        </p:spPr>
      </p:sp>
      <p:sp>
        <p:nvSpPr>
          <p:cNvPr id="19" name="text_6_15"/>
          <p:cNvSpPr txBox="1"/>
          <p:nvPr/>
        </p:nvSpPr>
        <p:spPr>
          <a:xfrm>
            <a:off x="548640" y="4206240"/>
            <a:ext cx="7315200" cy="365760"/>
          </a:xfrm>
          <a:prstGeom prst="rect">
            <a:avLst/>
          </a:prstGeom>
          <a:noFill/>
          <a:ln/>
        </p:spPr>
        <p:txBody>
          <a:bodyPr wrap="square" lIns="0" tIns="0" rIns="0" bIns="0" rtlCol="0" anchor="ctr"/>
          <a:lstStyle/>
          <a:p>
            <a:pPr indent="0" marL="0">
              <a:buNone/>
            </a:pPr>
            <a:r>
              <a:rPr lang="en-US" sz="1800" b="1" dirty="0">
                <a:solidFill>
                  <a:schemeClr val="bg1"/>
                </a:solidFill>
              </a:rPr>
              <a:t>Hypothesis status for every rule</a:t>
            </a:r>
            <a:endParaRPr lang="en-US" sz="1800" dirty="0"/>
          </a:p>
        </p:txBody>
      </p:sp>
      <p:sp>
        <p:nvSpPr>
          <p:cNvPr id="20" name="shape_6_16"/>
          <p:cNvSpPr/>
          <p:nvPr/>
        </p:nvSpPr>
        <p:spPr>
          <a:xfrm>
            <a:off x="548640" y="4709160"/>
            <a:ext cx="2103120" cy="1280160"/>
          </a:xfrm>
          <a:prstGeom prst="roundRect">
            <a:avLst>
              <a:gd name="adj" fmla="val 8571"/>
            </a:avLst>
          </a:prstGeom>
          <a:solidFill>
            <a:schemeClr val="accent4"/>
          </a:solidFill>
          <a:ln w="12700">
            <a:solidFill>
              <a:schemeClr val="accent4"/>
            </a:solidFill>
            <a:prstDash val="solid"/>
          </a:ln>
        </p:spPr>
      </p:sp>
      <p:sp>
        <p:nvSpPr>
          <p:cNvPr id="21" name="text_6_17"/>
          <p:cNvSpPr txBox="1"/>
          <p:nvPr/>
        </p:nvSpPr>
        <p:spPr>
          <a:xfrm>
            <a:off x="640080" y="4709160"/>
            <a:ext cx="1920240" cy="1280160"/>
          </a:xfrm>
          <a:prstGeom prst="rect">
            <a:avLst/>
          </a:prstGeom>
          <a:noFill/>
          <a:ln/>
        </p:spPr>
        <p:txBody>
          <a:bodyPr wrap="square" lIns="0" tIns="0" rIns="0" bIns="0" rtlCol="0" anchor="ctr"/>
          <a:lstStyle/>
          <a:p>
            <a:pPr algn="ctr" indent="0" marL="0">
              <a:buNone/>
            </a:pPr>
            <a:r>
              <a:rPr lang="en-US" sz="1700" b="1" dirty="0">
                <a:solidFill>
                  <a:schemeClr val="bg1"/>
                </a:solidFill>
              </a:rPr>
              <a:t>Supported</a:t>
            </a:r>
            <a:endParaRPr lang="en-US" sz="1700" dirty="0"/>
          </a:p>
          <a:p>
            <a:pPr algn="ctr" indent="0" marL="0">
              <a:buNone/>
            </a:pPr>
            <a:r>
              <a:rPr lang="en-US" sz="1300" dirty="0">
                <a:solidFill>
                  <a:schemeClr val="bg1"/>
                </a:solidFill>
              </a:rPr>
              <a:t>All conditions Yes</a:t>
            </a:r>
            <a:endParaRPr lang="en-US" sz="1700" dirty="0"/>
          </a:p>
        </p:txBody>
      </p:sp>
      <p:sp>
        <p:nvSpPr>
          <p:cNvPr id="22" name="shape_6_18"/>
          <p:cNvSpPr/>
          <p:nvPr/>
        </p:nvSpPr>
        <p:spPr>
          <a:xfrm>
            <a:off x="2788920" y="4709160"/>
            <a:ext cx="2103120" cy="1280160"/>
          </a:xfrm>
          <a:prstGeom prst="roundRect">
            <a:avLst>
              <a:gd name="adj" fmla="val 8571"/>
            </a:avLst>
          </a:prstGeom>
          <a:solidFill>
            <a:schemeClr val="accent2"/>
          </a:solidFill>
          <a:ln w="12700">
            <a:solidFill>
              <a:schemeClr val="accent2"/>
            </a:solidFill>
            <a:prstDash val="solid"/>
          </a:ln>
        </p:spPr>
      </p:sp>
      <p:sp>
        <p:nvSpPr>
          <p:cNvPr id="23" name="text_6_19"/>
          <p:cNvSpPr txBox="1"/>
          <p:nvPr/>
        </p:nvSpPr>
        <p:spPr>
          <a:xfrm>
            <a:off x="2880360" y="4709160"/>
            <a:ext cx="1920240" cy="1280160"/>
          </a:xfrm>
          <a:prstGeom prst="rect">
            <a:avLst/>
          </a:prstGeom>
          <a:noFill/>
          <a:ln/>
        </p:spPr>
        <p:txBody>
          <a:bodyPr wrap="square" lIns="0" tIns="0" rIns="0" bIns="0" rtlCol="0" anchor="ctr"/>
          <a:lstStyle/>
          <a:p>
            <a:pPr algn="ctr" indent="0" marL="0">
              <a:buNone/>
            </a:pPr>
            <a:r>
              <a:rPr lang="en-US" sz="1700" b="1" dirty="0">
                <a:solidFill>
                  <a:schemeClr val="tx1"/>
                </a:solidFill>
              </a:rPr>
              <a:t>Possible</a:t>
            </a:r>
            <a:endParaRPr lang="en-US" sz="1700" dirty="0"/>
          </a:p>
          <a:p>
            <a:pPr algn="ctr" indent="0" marL="0">
              <a:buNone/>
            </a:pPr>
            <a:r>
              <a:rPr lang="en-US" sz="1300" dirty="0">
                <a:solidFill>
                  <a:schemeClr val="tx1"/>
                </a:solidFill>
              </a:rPr>
              <a:t>Some Yes, none No</a:t>
            </a:r>
            <a:endParaRPr lang="en-US" sz="1700" dirty="0"/>
          </a:p>
        </p:txBody>
      </p:sp>
      <p:sp>
        <p:nvSpPr>
          <p:cNvPr id="24" name="shape_6_20"/>
          <p:cNvSpPr/>
          <p:nvPr/>
        </p:nvSpPr>
        <p:spPr>
          <a:xfrm>
            <a:off x="5029200" y="4709160"/>
            <a:ext cx="2103120" cy="1280160"/>
          </a:xfrm>
          <a:prstGeom prst="roundRect">
            <a:avLst>
              <a:gd name="adj" fmla="val 8571"/>
            </a:avLst>
          </a:prstGeom>
          <a:solidFill>
            <a:srgbClr val="E8833A"/>
          </a:solidFill>
          <a:ln w="12700">
            <a:solidFill>
              <a:srgbClr val="E8833A"/>
            </a:solidFill>
            <a:prstDash val="solid"/>
          </a:ln>
        </p:spPr>
      </p:sp>
      <p:sp>
        <p:nvSpPr>
          <p:cNvPr id="25" name="text_6_21"/>
          <p:cNvSpPr txBox="1"/>
          <p:nvPr/>
        </p:nvSpPr>
        <p:spPr>
          <a:xfrm>
            <a:off x="5120640" y="4709160"/>
            <a:ext cx="1920240" cy="1280160"/>
          </a:xfrm>
          <a:prstGeom prst="rect">
            <a:avLst/>
          </a:prstGeom>
          <a:noFill/>
          <a:ln/>
        </p:spPr>
        <p:txBody>
          <a:bodyPr wrap="square" lIns="0" tIns="0" rIns="0" bIns="0" rtlCol="0" anchor="ctr"/>
          <a:lstStyle/>
          <a:p>
            <a:pPr algn="ctr" indent="0" marL="0">
              <a:buNone/>
            </a:pPr>
            <a:r>
              <a:rPr lang="en-US" sz="1700" b="1" dirty="0">
                <a:solidFill>
                  <a:schemeClr val="bg1"/>
                </a:solidFill>
              </a:rPr>
              <a:t>Conflicted</a:t>
            </a:r>
            <a:endParaRPr lang="en-US" sz="1700" dirty="0"/>
          </a:p>
          <a:p>
            <a:pPr algn="ctr" indent="0" marL="0">
              <a:buNone/>
            </a:pPr>
            <a:r>
              <a:rPr lang="en-US" sz="1300" dirty="0">
                <a:solidFill>
                  <a:schemeClr val="bg1"/>
                </a:solidFill>
              </a:rPr>
              <a:t>A condition is Conflict</a:t>
            </a:r>
            <a:endParaRPr lang="en-US" sz="1700" dirty="0"/>
          </a:p>
        </p:txBody>
      </p:sp>
      <p:sp>
        <p:nvSpPr>
          <p:cNvPr id="26" name="shape_6_22"/>
          <p:cNvSpPr/>
          <p:nvPr/>
        </p:nvSpPr>
        <p:spPr>
          <a:xfrm>
            <a:off x="7269480" y="4709160"/>
            <a:ext cx="2103120" cy="1280160"/>
          </a:xfrm>
          <a:prstGeom prst="roundRect">
            <a:avLst>
              <a:gd name="adj" fmla="val 8571"/>
            </a:avLst>
          </a:prstGeom>
          <a:solidFill>
            <a:schemeClr val="accent3"/>
          </a:solidFill>
          <a:ln w="12700">
            <a:solidFill>
              <a:schemeClr val="accent3"/>
            </a:solidFill>
            <a:prstDash val="solid"/>
          </a:ln>
        </p:spPr>
      </p:sp>
      <p:sp>
        <p:nvSpPr>
          <p:cNvPr id="27" name="text_6_23"/>
          <p:cNvSpPr txBox="1"/>
          <p:nvPr/>
        </p:nvSpPr>
        <p:spPr>
          <a:xfrm>
            <a:off x="7360920" y="4709160"/>
            <a:ext cx="1920240" cy="1280160"/>
          </a:xfrm>
          <a:prstGeom prst="rect">
            <a:avLst/>
          </a:prstGeom>
          <a:noFill/>
          <a:ln/>
        </p:spPr>
        <p:txBody>
          <a:bodyPr wrap="square" lIns="0" tIns="0" rIns="0" bIns="0" rtlCol="0" anchor="ctr"/>
          <a:lstStyle/>
          <a:p>
            <a:pPr algn="ctr" indent="0" marL="0">
              <a:buNone/>
            </a:pPr>
            <a:r>
              <a:rPr lang="en-US" sz="1700" b="1" dirty="0">
                <a:solidFill>
                  <a:schemeClr val="bg1"/>
                </a:solidFill>
              </a:rPr>
              <a:t>Contradicted</a:t>
            </a:r>
            <a:endParaRPr lang="en-US" sz="1700" dirty="0"/>
          </a:p>
          <a:p>
            <a:pPr algn="ctr" indent="0" marL="0">
              <a:buNone/>
            </a:pPr>
            <a:r>
              <a:rPr lang="en-US" sz="1300" dirty="0">
                <a:solidFill>
                  <a:schemeClr val="bg1"/>
                </a:solidFill>
              </a:rPr>
              <a:t>A condition is No</a:t>
            </a:r>
            <a:endParaRPr lang="en-US" sz="1700" dirty="0"/>
          </a:p>
        </p:txBody>
      </p:sp>
      <p:sp>
        <p:nvSpPr>
          <p:cNvPr id="28" name="shape_6_24"/>
          <p:cNvSpPr/>
          <p:nvPr/>
        </p:nvSpPr>
        <p:spPr>
          <a:xfrm>
            <a:off x="9509760" y="4709160"/>
            <a:ext cx="2103120" cy="1280160"/>
          </a:xfrm>
          <a:prstGeom prst="roundRect">
            <a:avLst>
              <a:gd name="adj" fmla="val 8571"/>
            </a:avLst>
          </a:prstGeom>
          <a:solidFill>
            <a:srgbClr val="6B7C8F"/>
          </a:solidFill>
          <a:ln w="12700">
            <a:solidFill>
              <a:srgbClr val="6B7C8F"/>
            </a:solidFill>
            <a:prstDash val="solid"/>
          </a:ln>
        </p:spPr>
      </p:sp>
      <p:sp>
        <p:nvSpPr>
          <p:cNvPr id="29" name="text_6_25"/>
          <p:cNvSpPr txBox="1"/>
          <p:nvPr/>
        </p:nvSpPr>
        <p:spPr>
          <a:xfrm>
            <a:off x="9601200" y="4709160"/>
            <a:ext cx="1920240" cy="1280160"/>
          </a:xfrm>
          <a:prstGeom prst="rect">
            <a:avLst/>
          </a:prstGeom>
          <a:noFill/>
          <a:ln/>
        </p:spPr>
        <p:txBody>
          <a:bodyPr wrap="square" lIns="0" tIns="0" rIns="0" bIns="0" rtlCol="0" anchor="ctr"/>
          <a:lstStyle/>
          <a:p>
            <a:pPr algn="ctr" indent="0" marL="0">
              <a:buNone/>
            </a:pPr>
            <a:r>
              <a:rPr lang="en-US" sz="1700" b="1" dirty="0">
                <a:solidFill>
                  <a:schemeClr val="bg1"/>
                </a:solidFill>
              </a:rPr>
              <a:t>Unassessed</a:t>
            </a:r>
            <a:endParaRPr lang="en-US" sz="1700" dirty="0"/>
          </a:p>
          <a:p>
            <a:pPr algn="ctr" indent="0" marL="0">
              <a:buNone/>
            </a:pPr>
            <a:r>
              <a:rPr lang="en-US" sz="1300" dirty="0">
                <a:solidFill>
                  <a:schemeClr val="bg1"/>
                </a:solidFill>
              </a:rPr>
              <a:t>Nothing Yes yet</a:t>
            </a:r>
            <a:endParaRPr lang="en-US" sz="17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CCF"/>
                </a:solidFill>
              </a:defRPr>
            </a:lvl1pPr>
          </a:lstStyle>
          <a:p>
            <a:pPr algn="r"/>
            <a:fld id="{F7021451-1387-4CA6-816F-3879F97B5CBC}" type="slidenum">
              <a:rPr b="0" lang="en-US"/>
              <a:t>6</a:t>
            </a:fld>
            <a:endParaRPr lang="en-US"/>
          </a:p>
        </p:txBody>
      </p:sp>
    </p:spTree>
  </p:cSld>
  <p:clrMapOvr>
    <a:masterClrMapping/>
  </p:clrMapOvr>
  <p:transition spd="med">
    <p:cover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10" presetClass="entr" presetSubtype="0" fill="hold" nodeType="withEffect">
                                  <p:stCondLst>
                                    <p:cond delay="30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00"/>
                                        <p:tgtEl>
                                          <p:spTgt spid="5"/>
                                        </p:tgtEl>
                                      </p:cBhvr>
                                    </p:animEffect>
                                  </p:childTnLst>
                                </p:cTn>
                              </p:par>
                              <p:par>
                                <p:cTn id="12" presetID="10" presetClass="entr" presetSubtype="0" fill="hold" nodeType="withEffect">
                                  <p:stCondLst>
                                    <p:cond delay="45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400"/>
                                        <p:tgtEl>
                                          <p:spTgt spid="6"/>
                                        </p:tgtEl>
                                      </p:cBhvr>
                                    </p:animEffect>
                                  </p:childTnLst>
                                </p:cTn>
                              </p:par>
                              <p:par>
                                <p:cTn id="15" presetID="10" presetClass="entr" presetSubtype="0" fill="hold" nodeType="withEffect">
                                  <p:stCondLst>
                                    <p:cond delay="60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00"/>
                                        <p:tgtEl>
                                          <p:spTgt spid="7"/>
                                        </p:tgtEl>
                                      </p:cBhvr>
                                    </p:animEffect>
                                  </p:childTnLst>
                                </p:cTn>
                              </p:par>
                              <p:par>
                                <p:cTn id="18" presetID="22" presetClass="entr" presetSubtype="8" fill="hold" nodeType="withEffect">
                                  <p:stCondLst>
                                    <p:cond delay="60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350"/>
                                        <p:tgtEl>
                                          <p:spTgt spid="8"/>
                                        </p:tgtEl>
                                      </p:cBhvr>
                                    </p:animEffect>
                                  </p:childTnLst>
                                </p:cTn>
                              </p:par>
                              <p:par>
                                <p:cTn id="21" presetID="2" presetClass="entr" presetSubtype="4" fill="hold" nodeType="withEffect">
                                  <p:stCondLst>
                                    <p:cond delay="90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par>
                                <p:cTn id="25" presetID="10" presetClass="entr" presetSubtype="0" fill="hold" nodeType="withEffect">
                                  <p:stCondLst>
                                    <p:cond delay="100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400"/>
                                        <p:tgtEl>
                                          <p:spTgt spid="10"/>
                                        </p:tgtEl>
                                      </p:cBhvr>
                                    </p:animEffect>
                                  </p:childTnLst>
                                </p:cTn>
                              </p:par>
                              <p:par>
                                <p:cTn id="28" presetID="10" presetClass="entr" presetSubtype="0" fill="hold" nodeType="withEffect">
                                  <p:stCondLst>
                                    <p:cond delay="115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400"/>
                                        <p:tgtEl>
                                          <p:spTgt spid="11"/>
                                        </p:tgtEl>
                                      </p:cBhvr>
                                    </p:animEffect>
                                  </p:childTnLst>
                                </p:cTn>
                              </p:par>
                              <p:par>
                                <p:cTn id="31" presetID="10" presetClass="entr" presetSubtype="0" fill="hold" nodeType="withEffect">
                                  <p:stCondLst>
                                    <p:cond delay="130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400"/>
                                        <p:tgtEl>
                                          <p:spTgt spid="12"/>
                                        </p:tgtEl>
                                      </p:cBhvr>
                                    </p:animEffect>
                                  </p:childTnLst>
                                </p:cTn>
                              </p:par>
                              <p:par>
                                <p:cTn id="34" presetID="22" presetClass="entr" presetSubtype="8" fill="hold" nodeType="withEffect">
                                  <p:stCondLst>
                                    <p:cond delay="1300"/>
                                  </p:stCondLst>
                                  <p:childTnLst>
                                    <p:set>
                                      <p:cBhvr>
                                        <p:cTn id="35" dur="1" fill="hold">
                                          <p:stCondLst>
                                            <p:cond delay="0"/>
                                          </p:stCondLst>
                                        </p:cTn>
                                        <p:tgtEl>
                                          <p:spTgt spid="13"/>
                                        </p:tgtEl>
                                        <p:attrNameLst>
                                          <p:attrName>style.visibility</p:attrName>
                                        </p:attrNameLst>
                                      </p:cBhvr>
                                      <p:to>
                                        <p:strVal val="visible"/>
                                      </p:to>
                                    </p:set>
                                    <p:animEffect transition="in" filter="wipe(left)">
                                      <p:cBhvr>
                                        <p:cTn id="36" dur="350"/>
                                        <p:tgtEl>
                                          <p:spTgt spid="13"/>
                                        </p:tgtEl>
                                      </p:cBhvr>
                                    </p:animEffect>
                                  </p:childTnLst>
                                </p:cTn>
                              </p:par>
                              <p:par>
                                <p:cTn id="37" presetID="2" presetClass="entr" presetSubtype="4" fill="hold" nodeType="withEffect">
                                  <p:stCondLst>
                                    <p:cond delay="160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00" fill="hold"/>
                                        <p:tgtEl>
                                          <p:spTgt spid="14"/>
                                        </p:tgtEl>
                                        <p:attrNameLst>
                                          <p:attrName>ppt_x</p:attrName>
                                        </p:attrNameLst>
                                      </p:cBhvr>
                                      <p:tavLst>
                                        <p:tav tm="0">
                                          <p:val>
                                            <p:strVal val="#ppt_x"/>
                                          </p:val>
                                        </p:tav>
                                        <p:tav tm="100000">
                                          <p:val>
                                            <p:strVal val="#ppt_x"/>
                                          </p:val>
                                        </p:tav>
                                      </p:tavLst>
                                    </p:anim>
                                    <p:anim calcmode="lin" valueType="num">
                                      <p:cBhvr additive="base">
                                        <p:cTn id="40" dur="500" fill="hold"/>
                                        <p:tgtEl>
                                          <p:spTgt spid="14"/>
                                        </p:tgtEl>
                                        <p:attrNameLst>
                                          <p:attrName>ppt_y</p:attrName>
                                        </p:attrNameLst>
                                      </p:cBhvr>
                                      <p:tavLst>
                                        <p:tav tm="0">
                                          <p:val>
                                            <p:strVal val="1+#ppt_h/2"/>
                                          </p:val>
                                        </p:tav>
                                        <p:tav tm="100000">
                                          <p:val>
                                            <p:strVal val="#ppt_y"/>
                                          </p:val>
                                        </p:tav>
                                      </p:tavLst>
                                    </p:anim>
                                  </p:childTnLst>
                                </p:cTn>
                              </p:par>
                              <p:par>
                                <p:cTn id="41" presetID="10" presetClass="entr" presetSubtype="0" fill="hold" nodeType="withEffect">
                                  <p:stCondLst>
                                    <p:cond delay="170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400"/>
                                        <p:tgtEl>
                                          <p:spTgt spid="15"/>
                                        </p:tgtEl>
                                      </p:cBhvr>
                                    </p:animEffect>
                                  </p:childTnLst>
                                </p:cTn>
                              </p:par>
                              <p:par>
                                <p:cTn id="44" presetID="10" presetClass="entr" presetSubtype="0" fill="hold" nodeType="withEffect">
                                  <p:stCondLst>
                                    <p:cond delay="185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par>
                                <p:cTn id="47" presetID="10" presetClass="entr" presetSubtype="0" fill="hold" nodeType="withEffect">
                                  <p:stCondLst>
                                    <p:cond delay="200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nodeType="withEffect">
                                  <p:stCondLst>
                                    <p:cond delay="220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300"/>
                                        <p:tgtEl>
                                          <p:spTgt spid="18"/>
                                        </p:tgtEl>
                                      </p:cBhvr>
                                    </p:animEffect>
                                  </p:childTnLst>
                                </p:cTn>
                              </p:par>
                              <p:par>
                                <p:cTn id="53" presetID="10" presetClass="entr" presetSubtype="0" fill="hold" nodeType="withEffect">
                                  <p:stCondLst>
                                    <p:cond delay="240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0" presetClass="path" presetSubtype="0" repeatCount="indefinite" fill="hold" nodeType="withEffect">
                                  <p:stCondLst>
                                    <p:cond delay="2500"/>
                                  </p:stCondLst>
                                  <p:childTnLst>
                                    <p:animMotion origin="layout" path="M 0 0 L 0.80300 0.00000 E" pathEditMode="relative" rAng="0" ptsTypes="AA">
                                      <p:cBhvr>
                                        <p:cTn id="57" dur="3200" fill="hold"/>
                                        <p:tgtEl>
                                          <p:spTgt spid="18"/>
                                        </p:tgtEl>
                                        <p:attrNameLst>
                                          <p:attrName>ppt_x</p:attrName>
                                          <p:attrName>ppt_y</p:attrName>
                                        </p:attrNameLst>
                                      </p:cBhvr>
                                      <p:rCtr x="0.40150" y="0.00000"/>
                                    </p:animMotion>
                                  </p:childTnLst>
                                </p:cTn>
                              </p:par>
                              <p:par>
                                <p:cTn id="58" presetID="53" presetClass="entr" presetSubtype="16" fill="hold" nodeType="withEffect">
                                  <p:stCondLst>
                                    <p:cond delay="2600"/>
                                  </p:stCondLst>
                                  <p:childTnLst>
                                    <p:set>
                                      <p:cBhvr>
                                        <p:cTn id="59" dur="1" fill="hold">
                                          <p:stCondLst>
                                            <p:cond delay="0"/>
                                          </p:stCondLst>
                                        </p:cTn>
                                        <p:tgtEl>
                                          <p:spTgt spid="20"/>
                                        </p:tgtEl>
                                        <p:attrNameLst>
                                          <p:attrName>style.visibility</p:attrName>
                                        </p:attrNameLst>
                                      </p:cBhvr>
                                      <p:to>
                                        <p:strVal val="visible"/>
                                      </p:to>
                                    </p:set>
                                    <p:anim calcmode="lin" valueType="num">
                                      <p:cBhvr>
                                        <p:cTn id="60" dur="450" fill="hold"/>
                                        <p:tgtEl>
                                          <p:spTgt spid="20"/>
                                        </p:tgtEl>
                                        <p:attrNameLst>
                                          <p:attrName>ppt_w</p:attrName>
                                        </p:attrNameLst>
                                      </p:cBhvr>
                                      <p:tavLst>
                                        <p:tav tm="0">
                                          <p:val>
                                            <p:fltVal val="0"/>
                                          </p:val>
                                        </p:tav>
                                        <p:tav tm="100000">
                                          <p:val>
                                            <p:strVal val="#ppt_w"/>
                                          </p:val>
                                        </p:tav>
                                      </p:tavLst>
                                    </p:anim>
                                    <p:anim calcmode="lin" valueType="num">
                                      <p:cBhvr>
                                        <p:cTn id="61" dur="450" fill="hold"/>
                                        <p:tgtEl>
                                          <p:spTgt spid="20"/>
                                        </p:tgtEl>
                                        <p:attrNameLst>
                                          <p:attrName>ppt_h</p:attrName>
                                        </p:attrNameLst>
                                      </p:cBhvr>
                                      <p:tavLst>
                                        <p:tav tm="0">
                                          <p:val>
                                            <p:fltVal val="0"/>
                                          </p:val>
                                        </p:tav>
                                        <p:tav tm="100000">
                                          <p:val>
                                            <p:strVal val="#ppt_h"/>
                                          </p:val>
                                        </p:tav>
                                      </p:tavLst>
                                    </p:anim>
                                    <p:animEffect transition="in" filter="fade">
                                      <p:cBhvr>
                                        <p:cTn id="62" dur="450"/>
                                        <p:tgtEl>
                                          <p:spTgt spid="20"/>
                                        </p:tgtEl>
                                      </p:cBhvr>
                                    </p:animEffect>
                                  </p:childTnLst>
                                </p:cTn>
                              </p:par>
                              <p:par>
                                <p:cTn id="63" presetID="53" presetClass="entr" presetSubtype="16" fill="hold" nodeType="withEffect">
                                  <p:stCondLst>
                                    <p:cond delay="2650"/>
                                  </p:stCondLst>
                                  <p:childTnLst>
                                    <p:set>
                                      <p:cBhvr>
                                        <p:cTn id="64" dur="1" fill="hold">
                                          <p:stCondLst>
                                            <p:cond delay="0"/>
                                          </p:stCondLst>
                                        </p:cTn>
                                        <p:tgtEl>
                                          <p:spTgt spid="21"/>
                                        </p:tgtEl>
                                        <p:attrNameLst>
                                          <p:attrName>style.visibility</p:attrName>
                                        </p:attrNameLst>
                                      </p:cBhvr>
                                      <p:to>
                                        <p:strVal val="visible"/>
                                      </p:to>
                                    </p:set>
                                    <p:anim calcmode="lin" valueType="num">
                                      <p:cBhvr>
                                        <p:cTn id="65" dur="450" fill="hold"/>
                                        <p:tgtEl>
                                          <p:spTgt spid="21"/>
                                        </p:tgtEl>
                                        <p:attrNameLst>
                                          <p:attrName>ppt_w</p:attrName>
                                        </p:attrNameLst>
                                      </p:cBhvr>
                                      <p:tavLst>
                                        <p:tav tm="0">
                                          <p:val>
                                            <p:fltVal val="0"/>
                                          </p:val>
                                        </p:tav>
                                        <p:tav tm="100000">
                                          <p:val>
                                            <p:strVal val="#ppt_w"/>
                                          </p:val>
                                        </p:tav>
                                      </p:tavLst>
                                    </p:anim>
                                    <p:anim calcmode="lin" valueType="num">
                                      <p:cBhvr>
                                        <p:cTn id="66" dur="450" fill="hold"/>
                                        <p:tgtEl>
                                          <p:spTgt spid="21"/>
                                        </p:tgtEl>
                                        <p:attrNameLst>
                                          <p:attrName>ppt_h</p:attrName>
                                        </p:attrNameLst>
                                      </p:cBhvr>
                                      <p:tavLst>
                                        <p:tav tm="0">
                                          <p:val>
                                            <p:fltVal val="0"/>
                                          </p:val>
                                        </p:tav>
                                        <p:tav tm="100000">
                                          <p:val>
                                            <p:strVal val="#ppt_h"/>
                                          </p:val>
                                        </p:tav>
                                      </p:tavLst>
                                    </p:anim>
                                    <p:animEffect transition="in" filter="fade">
                                      <p:cBhvr>
                                        <p:cTn id="67" dur="450"/>
                                        <p:tgtEl>
                                          <p:spTgt spid="21"/>
                                        </p:tgtEl>
                                      </p:cBhvr>
                                    </p:animEffect>
                                  </p:childTnLst>
                                </p:cTn>
                              </p:par>
                              <p:par>
                                <p:cTn id="68" presetID="53" presetClass="entr" presetSubtype="16" fill="hold" nodeType="withEffect">
                                  <p:stCondLst>
                                    <p:cond delay="2850"/>
                                  </p:stCondLst>
                                  <p:childTnLst>
                                    <p:set>
                                      <p:cBhvr>
                                        <p:cTn id="69" dur="1" fill="hold">
                                          <p:stCondLst>
                                            <p:cond delay="0"/>
                                          </p:stCondLst>
                                        </p:cTn>
                                        <p:tgtEl>
                                          <p:spTgt spid="22"/>
                                        </p:tgtEl>
                                        <p:attrNameLst>
                                          <p:attrName>style.visibility</p:attrName>
                                        </p:attrNameLst>
                                      </p:cBhvr>
                                      <p:to>
                                        <p:strVal val="visible"/>
                                      </p:to>
                                    </p:set>
                                    <p:anim calcmode="lin" valueType="num">
                                      <p:cBhvr>
                                        <p:cTn id="70" dur="450" fill="hold"/>
                                        <p:tgtEl>
                                          <p:spTgt spid="22"/>
                                        </p:tgtEl>
                                        <p:attrNameLst>
                                          <p:attrName>ppt_w</p:attrName>
                                        </p:attrNameLst>
                                      </p:cBhvr>
                                      <p:tavLst>
                                        <p:tav tm="0">
                                          <p:val>
                                            <p:fltVal val="0"/>
                                          </p:val>
                                        </p:tav>
                                        <p:tav tm="100000">
                                          <p:val>
                                            <p:strVal val="#ppt_w"/>
                                          </p:val>
                                        </p:tav>
                                      </p:tavLst>
                                    </p:anim>
                                    <p:anim calcmode="lin" valueType="num">
                                      <p:cBhvr>
                                        <p:cTn id="71" dur="450" fill="hold"/>
                                        <p:tgtEl>
                                          <p:spTgt spid="22"/>
                                        </p:tgtEl>
                                        <p:attrNameLst>
                                          <p:attrName>ppt_h</p:attrName>
                                        </p:attrNameLst>
                                      </p:cBhvr>
                                      <p:tavLst>
                                        <p:tav tm="0">
                                          <p:val>
                                            <p:fltVal val="0"/>
                                          </p:val>
                                        </p:tav>
                                        <p:tav tm="100000">
                                          <p:val>
                                            <p:strVal val="#ppt_h"/>
                                          </p:val>
                                        </p:tav>
                                      </p:tavLst>
                                    </p:anim>
                                    <p:animEffect transition="in" filter="fade">
                                      <p:cBhvr>
                                        <p:cTn id="72" dur="450"/>
                                        <p:tgtEl>
                                          <p:spTgt spid="22"/>
                                        </p:tgtEl>
                                      </p:cBhvr>
                                    </p:animEffect>
                                  </p:childTnLst>
                                </p:cTn>
                              </p:par>
                              <p:par>
                                <p:cTn id="73" presetID="53" presetClass="entr" presetSubtype="16" fill="hold" nodeType="withEffect">
                                  <p:stCondLst>
                                    <p:cond delay="2900"/>
                                  </p:stCondLst>
                                  <p:childTnLst>
                                    <p:set>
                                      <p:cBhvr>
                                        <p:cTn id="74" dur="1" fill="hold">
                                          <p:stCondLst>
                                            <p:cond delay="0"/>
                                          </p:stCondLst>
                                        </p:cTn>
                                        <p:tgtEl>
                                          <p:spTgt spid="23"/>
                                        </p:tgtEl>
                                        <p:attrNameLst>
                                          <p:attrName>style.visibility</p:attrName>
                                        </p:attrNameLst>
                                      </p:cBhvr>
                                      <p:to>
                                        <p:strVal val="visible"/>
                                      </p:to>
                                    </p:set>
                                    <p:anim calcmode="lin" valueType="num">
                                      <p:cBhvr>
                                        <p:cTn id="75" dur="450" fill="hold"/>
                                        <p:tgtEl>
                                          <p:spTgt spid="23"/>
                                        </p:tgtEl>
                                        <p:attrNameLst>
                                          <p:attrName>ppt_w</p:attrName>
                                        </p:attrNameLst>
                                      </p:cBhvr>
                                      <p:tavLst>
                                        <p:tav tm="0">
                                          <p:val>
                                            <p:fltVal val="0"/>
                                          </p:val>
                                        </p:tav>
                                        <p:tav tm="100000">
                                          <p:val>
                                            <p:strVal val="#ppt_w"/>
                                          </p:val>
                                        </p:tav>
                                      </p:tavLst>
                                    </p:anim>
                                    <p:anim calcmode="lin" valueType="num">
                                      <p:cBhvr>
                                        <p:cTn id="76" dur="450" fill="hold"/>
                                        <p:tgtEl>
                                          <p:spTgt spid="23"/>
                                        </p:tgtEl>
                                        <p:attrNameLst>
                                          <p:attrName>ppt_h</p:attrName>
                                        </p:attrNameLst>
                                      </p:cBhvr>
                                      <p:tavLst>
                                        <p:tav tm="0">
                                          <p:val>
                                            <p:fltVal val="0"/>
                                          </p:val>
                                        </p:tav>
                                        <p:tav tm="100000">
                                          <p:val>
                                            <p:strVal val="#ppt_h"/>
                                          </p:val>
                                        </p:tav>
                                      </p:tavLst>
                                    </p:anim>
                                    <p:animEffect transition="in" filter="fade">
                                      <p:cBhvr>
                                        <p:cTn id="77" dur="450"/>
                                        <p:tgtEl>
                                          <p:spTgt spid="23"/>
                                        </p:tgtEl>
                                      </p:cBhvr>
                                    </p:animEffect>
                                  </p:childTnLst>
                                </p:cTn>
                              </p:par>
                              <p:par>
                                <p:cTn id="78" presetID="53" presetClass="entr" presetSubtype="16" fill="hold" nodeType="withEffect">
                                  <p:stCondLst>
                                    <p:cond delay="3100"/>
                                  </p:stCondLst>
                                  <p:childTnLst>
                                    <p:set>
                                      <p:cBhvr>
                                        <p:cTn id="79" dur="1" fill="hold">
                                          <p:stCondLst>
                                            <p:cond delay="0"/>
                                          </p:stCondLst>
                                        </p:cTn>
                                        <p:tgtEl>
                                          <p:spTgt spid="24"/>
                                        </p:tgtEl>
                                        <p:attrNameLst>
                                          <p:attrName>style.visibility</p:attrName>
                                        </p:attrNameLst>
                                      </p:cBhvr>
                                      <p:to>
                                        <p:strVal val="visible"/>
                                      </p:to>
                                    </p:set>
                                    <p:anim calcmode="lin" valueType="num">
                                      <p:cBhvr>
                                        <p:cTn id="80" dur="450" fill="hold"/>
                                        <p:tgtEl>
                                          <p:spTgt spid="24"/>
                                        </p:tgtEl>
                                        <p:attrNameLst>
                                          <p:attrName>ppt_w</p:attrName>
                                        </p:attrNameLst>
                                      </p:cBhvr>
                                      <p:tavLst>
                                        <p:tav tm="0">
                                          <p:val>
                                            <p:fltVal val="0"/>
                                          </p:val>
                                        </p:tav>
                                        <p:tav tm="100000">
                                          <p:val>
                                            <p:strVal val="#ppt_w"/>
                                          </p:val>
                                        </p:tav>
                                      </p:tavLst>
                                    </p:anim>
                                    <p:anim calcmode="lin" valueType="num">
                                      <p:cBhvr>
                                        <p:cTn id="81" dur="450" fill="hold"/>
                                        <p:tgtEl>
                                          <p:spTgt spid="24"/>
                                        </p:tgtEl>
                                        <p:attrNameLst>
                                          <p:attrName>ppt_h</p:attrName>
                                        </p:attrNameLst>
                                      </p:cBhvr>
                                      <p:tavLst>
                                        <p:tav tm="0">
                                          <p:val>
                                            <p:fltVal val="0"/>
                                          </p:val>
                                        </p:tav>
                                        <p:tav tm="100000">
                                          <p:val>
                                            <p:strVal val="#ppt_h"/>
                                          </p:val>
                                        </p:tav>
                                      </p:tavLst>
                                    </p:anim>
                                    <p:animEffect transition="in" filter="fade">
                                      <p:cBhvr>
                                        <p:cTn id="82" dur="450"/>
                                        <p:tgtEl>
                                          <p:spTgt spid="24"/>
                                        </p:tgtEl>
                                      </p:cBhvr>
                                    </p:animEffect>
                                  </p:childTnLst>
                                </p:cTn>
                              </p:par>
                              <p:par>
                                <p:cTn id="83" presetID="53" presetClass="entr" presetSubtype="16" fill="hold" nodeType="withEffect">
                                  <p:stCondLst>
                                    <p:cond delay="3150"/>
                                  </p:stCondLst>
                                  <p:childTnLst>
                                    <p:set>
                                      <p:cBhvr>
                                        <p:cTn id="84" dur="1" fill="hold">
                                          <p:stCondLst>
                                            <p:cond delay="0"/>
                                          </p:stCondLst>
                                        </p:cTn>
                                        <p:tgtEl>
                                          <p:spTgt spid="25"/>
                                        </p:tgtEl>
                                        <p:attrNameLst>
                                          <p:attrName>style.visibility</p:attrName>
                                        </p:attrNameLst>
                                      </p:cBhvr>
                                      <p:to>
                                        <p:strVal val="visible"/>
                                      </p:to>
                                    </p:set>
                                    <p:anim calcmode="lin" valueType="num">
                                      <p:cBhvr>
                                        <p:cTn id="85" dur="450" fill="hold"/>
                                        <p:tgtEl>
                                          <p:spTgt spid="25"/>
                                        </p:tgtEl>
                                        <p:attrNameLst>
                                          <p:attrName>ppt_w</p:attrName>
                                        </p:attrNameLst>
                                      </p:cBhvr>
                                      <p:tavLst>
                                        <p:tav tm="0">
                                          <p:val>
                                            <p:fltVal val="0"/>
                                          </p:val>
                                        </p:tav>
                                        <p:tav tm="100000">
                                          <p:val>
                                            <p:strVal val="#ppt_w"/>
                                          </p:val>
                                        </p:tav>
                                      </p:tavLst>
                                    </p:anim>
                                    <p:anim calcmode="lin" valueType="num">
                                      <p:cBhvr>
                                        <p:cTn id="86" dur="450" fill="hold"/>
                                        <p:tgtEl>
                                          <p:spTgt spid="25"/>
                                        </p:tgtEl>
                                        <p:attrNameLst>
                                          <p:attrName>ppt_h</p:attrName>
                                        </p:attrNameLst>
                                      </p:cBhvr>
                                      <p:tavLst>
                                        <p:tav tm="0">
                                          <p:val>
                                            <p:fltVal val="0"/>
                                          </p:val>
                                        </p:tav>
                                        <p:tav tm="100000">
                                          <p:val>
                                            <p:strVal val="#ppt_h"/>
                                          </p:val>
                                        </p:tav>
                                      </p:tavLst>
                                    </p:anim>
                                    <p:animEffect transition="in" filter="fade">
                                      <p:cBhvr>
                                        <p:cTn id="87" dur="450"/>
                                        <p:tgtEl>
                                          <p:spTgt spid="25"/>
                                        </p:tgtEl>
                                      </p:cBhvr>
                                    </p:animEffect>
                                  </p:childTnLst>
                                </p:cTn>
                              </p:par>
                              <p:par>
                                <p:cTn id="88" presetID="53" presetClass="entr" presetSubtype="16" fill="hold" nodeType="withEffect">
                                  <p:stCondLst>
                                    <p:cond delay="3350"/>
                                  </p:stCondLst>
                                  <p:childTnLst>
                                    <p:set>
                                      <p:cBhvr>
                                        <p:cTn id="89" dur="1" fill="hold">
                                          <p:stCondLst>
                                            <p:cond delay="0"/>
                                          </p:stCondLst>
                                        </p:cTn>
                                        <p:tgtEl>
                                          <p:spTgt spid="26"/>
                                        </p:tgtEl>
                                        <p:attrNameLst>
                                          <p:attrName>style.visibility</p:attrName>
                                        </p:attrNameLst>
                                      </p:cBhvr>
                                      <p:to>
                                        <p:strVal val="visible"/>
                                      </p:to>
                                    </p:set>
                                    <p:anim calcmode="lin" valueType="num">
                                      <p:cBhvr>
                                        <p:cTn id="90" dur="450" fill="hold"/>
                                        <p:tgtEl>
                                          <p:spTgt spid="26"/>
                                        </p:tgtEl>
                                        <p:attrNameLst>
                                          <p:attrName>ppt_w</p:attrName>
                                        </p:attrNameLst>
                                      </p:cBhvr>
                                      <p:tavLst>
                                        <p:tav tm="0">
                                          <p:val>
                                            <p:fltVal val="0"/>
                                          </p:val>
                                        </p:tav>
                                        <p:tav tm="100000">
                                          <p:val>
                                            <p:strVal val="#ppt_w"/>
                                          </p:val>
                                        </p:tav>
                                      </p:tavLst>
                                    </p:anim>
                                    <p:anim calcmode="lin" valueType="num">
                                      <p:cBhvr>
                                        <p:cTn id="91" dur="450" fill="hold"/>
                                        <p:tgtEl>
                                          <p:spTgt spid="26"/>
                                        </p:tgtEl>
                                        <p:attrNameLst>
                                          <p:attrName>ppt_h</p:attrName>
                                        </p:attrNameLst>
                                      </p:cBhvr>
                                      <p:tavLst>
                                        <p:tav tm="0">
                                          <p:val>
                                            <p:fltVal val="0"/>
                                          </p:val>
                                        </p:tav>
                                        <p:tav tm="100000">
                                          <p:val>
                                            <p:strVal val="#ppt_h"/>
                                          </p:val>
                                        </p:tav>
                                      </p:tavLst>
                                    </p:anim>
                                    <p:animEffect transition="in" filter="fade">
                                      <p:cBhvr>
                                        <p:cTn id="92" dur="450"/>
                                        <p:tgtEl>
                                          <p:spTgt spid="26"/>
                                        </p:tgtEl>
                                      </p:cBhvr>
                                    </p:animEffect>
                                  </p:childTnLst>
                                </p:cTn>
                              </p:par>
                              <p:par>
                                <p:cTn id="93" presetID="53" presetClass="entr" presetSubtype="16" fill="hold" nodeType="withEffect">
                                  <p:stCondLst>
                                    <p:cond delay="3400"/>
                                  </p:stCondLst>
                                  <p:childTnLst>
                                    <p:set>
                                      <p:cBhvr>
                                        <p:cTn id="94" dur="1" fill="hold">
                                          <p:stCondLst>
                                            <p:cond delay="0"/>
                                          </p:stCondLst>
                                        </p:cTn>
                                        <p:tgtEl>
                                          <p:spTgt spid="27"/>
                                        </p:tgtEl>
                                        <p:attrNameLst>
                                          <p:attrName>style.visibility</p:attrName>
                                        </p:attrNameLst>
                                      </p:cBhvr>
                                      <p:to>
                                        <p:strVal val="visible"/>
                                      </p:to>
                                    </p:set>
                                    <p:anim calcmode="lin" valueType="num">
                                      <p:cBhvr>
                                        <p:cTn id="95" dur="450" fill="hold"/>
                                        <p:tgtEl>
                                          <p:spTgt spid="27"/>
                                        </p:tgtEl>
                                        <p:attrNameLst>
                                          <p:attrName>ppt_w</p:attrName>
                                        </p:attrNameLst>
                                      </p:cBhvr>
                                      <p:tavLst>
                                        <p:tav tm="0">
                                          <p:val>
                                            <p:fltVal val="0"/>
                                          </p:val>
                                        </p:tav>
                                        <p:tav tm="100000">
                                          <p:val>
                                            <p:strVal val="#ppt_w"/>
                                          </p:val>
                                        </p:tav>
                                      </p:tavLst>
                                    </p:anim>
                                    <p:anim calcmode="lin" valueType="num">
                                      <p:cBhvr>
                                        <p:cTn id="96" dur="450" fill="hold"/>
                                        <p:tgtEl>
                                          <p:spTgt spid="27"/>
                                        </p:tgtEl>
                                        <p:attrNameLst>
                                          <p:attrName>ppt_h</p:attrName>
                                        </p:attrNameLst>
                                      </p:cBhvr>
                                      <p:tavLst>
                                        <p:tav tm="0">
                                          <p:val>
                                            <p:fltVal val="0"/>
                                          </p:val>
                                        </p:tav>
                                        <p:tav tm="100000">
                                          <p:val>
                                            <p:strVal val="#ppt_h"/>
                                          </p:val>
                                        </p:tav>
                                      </p:tavLst>
                                    </p:anim>
                                    <p:animEffect transition="in" filter="fade">
                                      <p:cBhvr>
                                        <p:cTn id="97" dur="450"/>
                                        <p:tgtEl>
                                          <p:spTgt spid="27"/>
                                        </p:tgtEl>
                                      </p:cBhvr>
                                    </p:animEffect>
                                  </p:childTnLst>
                                </p:cTn>
                              </p:par>
                              <p:par>
                                <p:cTn id="98" presetID="53" presetClass="entr" presetSubtype="16" fill="hold" nodeType="withEffect">
                                  <p:stCondLst>
                                    <p:cond delay="3600"/>
                                  </p:stCondLst>
                                  <p:childTnLst>
                                    <p:set>
                                      <p:cBhvr>
                                        <p:cTn id="99" dur="1" fill="hold">
                                          <p:stCondLst>
                                            <p:cond delay="0"/>
                                          </p:stCondLst>
                                        </p:cTn>
                                        <p:tgtEl>
                                          <p:spTgt spid="28"/>
                                        </p:tgtEl>
                                        <p:attrNameLst>
                                          <p:attrName>style.visibility</p:attrName>
                                        </p:attrNameLst>
                                      </p:cBhvr>
                                      <p:to>
                                        <p:strVal val="visible"/>
                                      </p:to>
                                    </p:set>
                                    <p:anim calcmode="lin" valueType="num">
                                      <p:cBhvr>
                                        <p:cTn id="100" dur="450" fill="hold"/>
                                        <p:tgtEl>
                                          <p:spTgt spid="28"/>
                                        </p:tgtEl>
                                        <p:attrNameLst>
                                          <p:attrName>ppt_w</p:attrName>
                                        </p:attrNameLst>
                                      </p:cBhvr>
                                      <p:tavLst>
                                        <p:tav tm="0">
                                          <p:val>
                                            <p:fltVal val="0"/>
                                          </p:val>
                                        </p:tav>
                                        <p:tav tm="100000">
                                          <p:val>
                                            <p:strVal val="#ppt_w"/>
                                          </p:val>
                                        </p:tav>
                                      </p:tavLst>
                                    </p:anim>
                                    <p:anim calcmode="lin" valueType="num">
                                      <p:cBhvr>
                                        <p:cTn id="101" dur="450" fill="hold"/>
                                        <p:tgtEl>
                                          <p:spTgt spid="28"/>
                                        </p:tgtEl>
                                        <p:attrNameLst>
                                          <p:attrName>ppt_h</p:attrName>
                                        </p:attrNameLst>
                                      </p:cBhvr>
                                      <p:tavLst>
                                        <p:tav tm="0">
                                          <p:val>
                                            <p:fltVal val="0"/>
                                          </p:val>
                                        </p:tav>
                                        <p:tav tm="100000">
                                          <p:val>
                                            <p:strVal val="#ppt_h"/>
                                          </p:val>
                                        </p:tav>
                                      </p:tavLst>
                                    </p:anim>
                                    <p:animEffect transition="in" filter="fade">
                                      <p:cBhvr>
                                        <p:cTn id="102" dur="450"/>
                                        <p:tgtEl>
                                          <p:spTgt spid="28"/>
                                        </p:tgtEl>
                                      </p:cBhvr>
                                    </p:animEffect>
                                  </p:childTnLst>
                                </p:cTn>
                              </p:par>
                              <p:par>
                                <p:cTn id="103" presetID="53" presetClass="entr" presetSubtype="16" fill="hold" nodeType="withEffect">
                                  <p:stCondLst>
                                    <p:cond delay="3650"/>
                                  </p:stCondLst>
                                  <p:childTnLst>
                                    <p:set>
                                      <p:cBhvr>
                                        <p:cTn id="104" dur="1" fill="hold">
                                          <p:stCondLst>
                                            <p:cond delay="0"/>
                                          </p:stCondLst>
                                        </p:cTn>
                                        <p:tgtEl>
                                          <p:spTgt spid="29"/>
                                        </p:tgtEl>
                                        <p:attrNameLst>
                                          <p:attrName>style.visibility</p:attrName>
                                        </p:attrNameLst>
                                      </p:cBhvr>
                                      <p:to>
                                        <p:strVal val="visible"/>
                                      </p:to>
                                    </p:set>
                                    <p:anim calcmode="lin" valueType="num">
                                      <p:cBhvr>
                                        <p:cTn id="105" dur="450" fill="hold"/>
                                        <p:tgtEl>
                                          <p:spTgt spid="29"/>
                                        </p:tgtEl>
                                        <p:attrNameLst>
                                          <p:attrName>ppt_w</p:attrName>
                                        </p:attrNameLst>
                                      </p:cBhvr>
                                      <p:tavLst>
                                        <p:tav tm="0">
                                          <p:val>
                                            <p:fltVal val="0"/>
                                          </p:val>
                                        </p:tav>
                                        <p:tav tm="100000">
                                          <p:val>
                                            <p:strVal val="#ppt_w"/>
                                          </p:val>
                                        </p:tav>
                                      </p:tavLst>
                                    </p:anim>
                                    <p:anim calcmode="lin" valueType="num">
                                      <p:cBhvr>
                                        <p:cTn id="106" dur="450" fill="hold"/>
                                        <p:tgtEl>
                                          <p:spTgt spid="29"/>
                                        </p:tgtEl>
                                        <p:attrNameLst>
                                          <p:attrName>ppt_h</p:attrName>
                                        </p:attrNameLst>
                                      </p:cBhvr>
                                      <p:tavLst>
                                        <p:tav tm="0">
                                          <p:val>
                                            <p:fltVal val="0"/>
                                          </p:val>
                                        </p:tav>
                                        <p:tav tm="100000">
                                          <p:val>
                                            <p:strVal val="#ppt_h"/>
                                          </p:val>
                                        </p:tav>
                                      </p:tavLst>
                                    </p:anim>
                                    <p:animEffect transition="in" filter="fade">
                                      <p:cBhvr>
                                        <p:cTn id="107" dur="4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Conflicting observations never get averaged away</a:t>
            </a:r>
            <a:endParaRPr lang="en-US" sz="3200" dirty="0"/>
          </a:p>
        </p:txBody>
      </p:sp>
      <p:sp>
        <p:nvSpPr>
          <p:cNvPr id="4" name="shape_7_1"/>
          <p:cNvSpPr/>
          <p:nvPr/>
        </p:nvSpPr>
        <p:spPr>
          <a:xfrm>
            <a:off x="548640" y="1463040"/>
            <a:ext cx="4023360" cy="2011680"/>
          </a:xfrm>
          <a:prstGeom prst="roundRect">
            <a:avLst>
              <a:gd name="adj" fmla="val 5455"/>
            </a:avLst>
          </a:prstGeom>
          <a:solidFill>
            <a:schemeClr val="bg2"/>
          </a:solidFill>
          <a:ln w="12700">
            <a:solidFill>
              <a:srgbClr val="FFFFFF">
                <a:alpha val="0"/>
              </a:srgbClr>
            </a:solidFill>
            <a:prstDash val="solid"/>
          </a:ln>
        </p:spPr>
      </p:sp>
      <p:sp>
        <p:nvSpPr>
          <p:cNvPr id="5" name="text_7_2"/>
          <p:cNvSpPr txBox="1"/>
          <p:nvPr/>
        </p:nvSpPr>
        <p:spPr>
          <a:xfrm>
            <a:off x="777240" y="1691640"/>
            <a:ext cx="3611880" cy="1554480"/>
          </a:xfrm>
          <a:prstGeom prst="rect">
            <a:avLst/>
          </a:prstGeom>
          <a:noFill/>
          <a:ln/>
        </p:spPr>
        <p:txBody>
          <a:bodyPr wrap="square" lIns="0" tIns="0" rIns="0" bIns="0" rtlCol="0" anchor="ctr"/>
          <a:lstStyle/>
          <a:p>
            <a:pPr indent="0" marL="0">
              <a:buNone/>
            </a:pPr>
            <a:r>
              <a:rPr lang="en-US" sz="1200" b="1" spc="200" kern="0" dirty="0">
                <a:solidFill>
                  <a:schemeClr val="accent5"/>
                </a:solidFill>
              </a:rPr>
              <a:t>OPERATOR OBSERVATION</a:t>
            </a:r>
            <a:endParaRPr lang="en-US" sz="1200" dirty="0"/>
          </a:p>
          <a:p>
            <a:pPr indent="0" marL="0">
              <a:buNone/>
            </a:pPr>
            <a:r>
              <a:rPr lang="en-US" sz="2000" b="1" dirty="0">
                <a:solidFill>
                  <a:schemeClr val="tx1"/>
                </a:solidFill>
                <a:latin typeface="Courier New" pitchFamily="34" charset="0"/>
                <a:ea typeface="Courier New" pitchFamily="34" charset="-122"/>
                <a:cs typeface="Courier New" pitchFamily="34" charset="-120"/>
              </a:rPr>
              <a:t>protective_stop = Yes</a:t>
            </a:r>
            <a:endParaRPr lang="en-US" sz="1200" dirty="0"/>
          </a:p>
        </p:txBody>
      </p:sp>
      <p:sp>
        <p:nvSpPr>
          <p:cNvPr id="6" name="shape_7_3"/>
          <p:cNvSpPr/>
          <p:nvPr/>
        </p:nvSpPr>
        <p:spPr>
          <a:xfrm>
            <a:off x="7616952" y="1463040"/>
            <a:ext cx="4023360" cy="2011680"/>
          </a:xfrm>
          <a:prstGeom prst="roundRect">
            <a:avLst>
              <a:gd name="adj" fmla="val 5455"/>
            </a:avLst>
          </a:prstGeom>
          <a:solidFill>
            <a:schemeClr val="bg2"/>
          </a:solidFill>
          <a:ln w="12700">
            <a:solidFill>
              <a:srgbClr val="FFFFFF">
                <a:alpha val="0"/>
              </a:srgbClr>
            </a:solidFill>
            <a:prstDash val="solid"/>
          </a:ln>
        </p:spPr>
      </p:sp>
      <p:sp>
        <p:nvSpPr>
          <p:cNvPr id="7" name="text_7_4"/>
          <p:cNvSpPr txBox="1"/>
          <p:nvPr/>
        </p:nvSpPr>
        <p:spPr>
          <a:xfrm>
            <a:off x="7845552" y="1691640"/>
            <a:ext cx="3611880" cy="1554480"/>
          </a:xfrm>
          <a:prstGeom prst="rect">
            <a:avLst/>
          </a:prstGeom>
          <a:noFill/>
          <a:ln/>
        </p:spPr>
        <p:txBody>
          <a:bodyPr wrap="square" lIns="0" tIns="0" rIns="0" bIns="0" rtlCol="0" anchor="ctr"/>
          <a:lstStyle/>
          <a:p>
            <a:pPr indent="0" marL="0">
              <a:buNone/>
            </a:pPr>
            <a:r>
              <a:rPr lang="en-US" sz="1200" b="1" spc="200" kern="0" dirty="0">
                <a:solidFill>
                  <a:schemeClr val="accent5"/>
                </a:solidFill>
              </a:rPr>
              <a:t>SENSOR / CONTROLLER</a:t>
            </a:r>
            <a:endParaRPr lang="en-US" sz="1200" dirty="0"/>
          </a:p>
          <a:p>
            <a:pPr indent="0" marL="0">
              <a:buNone/>
            </a:pPr>
            <a:r>
              <a:rPr lang="en-US" sz="2000" b="1" dirty="0">
                <a:solidFill>
                  <a:schemeClr val="tx1"/>
                </a:solidFill>
                <a:latin typeface="Courier New" pitchFamily="34" charset="0"/>
                <a:ea typeface="Courier New" pitchFamily="34" charset="-122"/>
                <a:cs typeface="Courier New" pitchFamily="34" charset="-120"/>
              </a:rPr>
              <a:t>protective_stop = No</a:t>
            </a:r>
            <a:endParaRPr lang="en-US" sz="1200" dirty="0"/>
          </a:p>
        </p:txBody>
      </p:sp>
      <p:sp>
        <p:nvSpPr>
          <p:cNvPr id="8" name="conflictbadge"/>
          <p:cNvSpPr/>
          <p:nvPr/>
        </p:nvSpPr>
        <p:spPr>
          <a:xfrm>
            <a:off x="5074920" y="1828800"/>
            <a:ext cx="2011680" cy="1280160"/>
          </a:xfrm>
          <a:prstGeom prst="roundRect">
            <a:avLst>
              <a:gd name="adj" fmla="val 10714"/>
            </a:avLst>
          </a:prstGeom>
          <a:solidFill>
            <a:schemeClr val="accent3"/>
          </a:solidFill>
          <a:ln w="12700">
            <a:solidFill>
              <a:schemeClr val="accent3"/>
            </a:solidFill>
            <a:prstDash val="solid"/>
          </a:ln>
          <a:effectLst>
            <a:outerShdw sx="100000" sy="100000" kx="0" ky="0" algn="bl" rotWithShape="0" blurRad="101600" dist="25400" dir="5400000">
              <a:srgbClr val="0B1F33">
                <a:alpha val="12000"/>
              </a:srgbClr>
            </a:outerShdw>
          </a:effectLst>
        </p:spPr>
      </p:sp>
      <p:sp>
        <p:nvSpPr>
          <p:cNvPr id="9" name="text_7_5"/>
          <p:cNvSpPr txBox="1"/>
          <p:nvPr/>
        </p:nvSpPr>
        <p:spPr>
          <a:xfrm>
            <a:off x="5074920" y="1828800"/>
            <a:ext cx="2011680" cy="1280160"/>
          </a:xfrm>
          <a:prstGeom prst="rect">
            <a:avLst/>
          </a:prstGeom>
          <a:noFill/>
          <a:ln/>
        </p:spPr>
        <p:txBody>
          <a:bodyPr wrap="square" lIns="0" tIns="0" rIns="0" bIns="0" rtlCol="0" anchor="ctr"/>
          <a:lstStyle/>
          <a:p>
            <a:pPr algn="ctr" indent="0" marL="0">
              <a:buNone/>
            </a:pPr>
            <a:r>
              <a:rPr lang="en-US" sz="2400" b="1" spc="200" kern="0" dirty="0">
                <a:solidFill>
                  <a:schemeClr val="bg1"/>
                </a:solidFill>
              </a:rPr>
              <a:t>CONFLICT</a:t>
            </a:r>
            <a:endParaRPr lang="en-US" sz="2400" dirty="0"/>
          </a:p>
        </p:txBody>
      </p:sp>
      <p:sp>
        <p:nvSpPr>
          <p:cNvPr id="10" name="shape_7_6"/>
          <p:cNvSpPr/>
          <p:nvPr/>
        </p:nvSpPr>
        <p:spPr>
          <a:xfrm>
            <a:off x="4590288" y="2331720"/>
            <a:ext cx="457200" cy="274320"/>
          </a:xfrm>
          <a:prstGeom prst="rightArrow">
            <a:avLst/>
          </a:prstGeom>
          <a:solidFill>
            <a:schemeClr val="accent3"/>
          </a:solidFill>
          <a:ln w="12700">
            <a:solidFill>
              <a:schemeClr val="accent3"/>
            </a:solidFill>
            <a:prstDash val="solid"/>
          </a:ln>
        </p:spPr>
      </p:sp>
      <p:sp>
        <p:nvSpPr>
          <p:cNvPr id="11" name="shape_7_7"/>
          <p:cNvSpPr/>
          <p:nvPr/>
        </p:nvSpPr>
        <p:spPr>
          <a:xfrm>
            <a:off x="7123176" y="2331720"/>
            <a:ext cx="457200" cy="274320"/>
          </a:xfrm>
          <a:prstGeom prst="leftArrow">
            <a:avLst/>
          </a:prstGeom>
          <a:solidFill>
            <a:schemeClr val="accent3"/>
          </a:solidFill>
          <a:ln w="12700">
            <a:solidFill>
              <a:schemeClr val="accent3"/>
            </a:solidFill>
            <a:prstDash val="solid"/>
          </a:ln>
        </p:spPr>
      </p:sp>
      <p:sp>
        <p:nvSpPr>
          <p:cNvPr id="12" name="text_7_8"/>
          <p:cNvSpPr txBox="1"/>
          <p:nvPr/>
        </p:nvSpPr>
        <p:spPr>
          <a:xfrm>
            <a:off x="548640" y="3794760"/>
            <a:ext cx="548640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What the system does</a:t>
            </a:r>
            <a:endParaRPr lang="en-US" sz="2000" dirty="0"/>
          </a:p>
        </p:txBody>
      </p:sp>
      <p:sp>
        <p:nvSpPr>
          <p:cNvPr id="13" name="shape_7_9"/>
          <p:cNvSpPr/>
          <p:nvPr/>
        </p:nvSpPr>
        <p:spPr>
          <a:xfrm>
            <a:off x="594360" y="4434840"/>
            <a:ext cx="182880" cy="182880"/>
          </a:xfrm>
          <a:prstGeom prst="ellipse">
            <a:avLst/>
          </a:prstGeom>
          <a:solidFill>
            <a:schemeClr val="accent1"/>
          </a:solidFill>
          <a:ln w="12700">
            <a:solidFill>
              <a:schemeClr val="accent1"/>
            </a:solidFill>
            <a:prstDash val="solid"/>
          </a:ln>
        </p:spPr>
      </p:sp>
      <p:sp>
        <p:nvSpPr>
          <p:cNvPr id="14" name="text_7_10"/>
          <p:cNvSpPr txBox="1"/>
          <p:nvPr/>
        </p:nvSpPr>
        <p:spPr>
          <a:xfrm>
            <a:off x="960120" y="4343400"/>
            <a:ext cx="5120640" cy="365760"/>
          </a:xfrm>
          <a:prstGeom prst="rect">
            <a:avLst/>
          </a:prstGeom>
          <a:noFill/>
          <a:ln/>
        </p:spPr>
        <p:txBody>
          <a:bodyPr wrap="square" lIns="0" tIns="0" rIns="0" bIns="0" rtlCol="0" anchor="ctr"/>
          <a:lstStyle/>
          <a:p>
            <a:pPr indent="0" marL="0">
              <a:buNone/>
            </a:pPr>
            <a:r>
              <a:rPr lang="en-US" sz="1500" dirty="0">
                <a:solidFill>
                  <a:schemeClr val="tx1"/>
                </a:solidFill>
              </a:rPr>
              <a:t>Preserves both source records</a:t>
            </a:r>
            <a:endParaRPr lang="en-US" sz="1500" dirty="0"/>
          </a:p>
        </p:txBody>
      </p:sp>
      <p:sp>
        <p:nvSpPr>
          <p:cNvPr id="15" name="shape_7_11"/>
          <p:cNvSpPr/>
          <p:nvPr/>
        </p:nvSpPr>
        <p:spPr>
          <a:xfrm>
            <a:off x="594360" y="4892040"/>
            <a:ext cx="182880" cy="182880"/>
          </a:xfrm>
          <a:prstGeom prst="ellipse">
            <a:avLst/>
          </a:prstGeom>
          <a:solidFill>
            <a:schemeClr val="accent1"/>
          </a:solidFill>
          <a:ln w="12700">
            <a:solidFill>
              <a:schemeClr val="accent1"/>
            </a:solidFill>
            <a:prstDash val="solid"/>
          </a:ln>
        </p:spPr>
      </p:sp>
      <p:sp>
        <p:nvSpPr>
          <p:cNvPr id="16" name="text_7_12"/>
          <p:cNvSpPr txBox="1"/>
          <p:nvPr/>
        </p:nvSpPr>
        <p:spPr>
          <a:xfrm>
            <a:off x="960120" y="4800600"/>
            <a:ext cx="5120640" cy="365760"/>
          </a:xfrm>
          <a:prstGeom prst="rect">
            <a:avLst/>
          </a:prstGeom>
          <a:noFill/>
          <a:ln/>
        </p:spPr>
        <p:txBody>
          <a:bodyPr wrap="square" lIns="0" tIns="0" rIns="0" bIns="0" rtlCol="0" anchor="ctr"/>
          <a:lstStyle/>
          <a:p>
            <a:pPr indent="0" marL="0">
              <a:buNone/>
            </a:pPr>
            <a:r>
              <a:rPr lang="en-US" sz="1500" dirty="0">
                <a:solidFill>
                  <a:schemeClr val="tx1"/>
                </a:solidFill>
              </a:rPr>
              <a:t>Marks the affected rule Conflicted — never Supported</a:t>
            </a:r>
            <a:endParaRPr lang="en-US" sz="1500" dirty="0"/>
          </a:p>
        </p:txBody>
      </p:sp>
      <p:sp>
        <p:nvSpPr>
          <p:cNvPr id="17" name="shape_7_13"/>
          <p:cNvSpPr/>
          <p:nvPr/>
        </p:nvSpPr>
        <p:spPr>
          <a:xfrm>
            <a:off x="594360" y="5349240"/>
            <a:ext cx="182880" cy="182880"/>
          </a:xfrm>
          <a:prstGeom prst="ellipse">
            <a:avLst/>
          </a:prstGeom>
          <a:solidFill>
            <a:schemeClr val="accent1"/>
          </a:solidFill>
          <a:ln w="12700">
            <a:solidFill>
              <a:schemeClr val="accent1"/>
            </a:solidFill>
            <a:prstDash val="solid"/>
          </a:ln>
        </p:spPr>
      </p:sp>
      <p:sp>
        <p:nvSpPr>
          <p:cNvPr id="18" name="text_7_14"/>
          <p:cNvSpPr txBox="1"/>
          <p:nvPr/>
        </p:nvSpPr>
        <p:spPr>
          <a:xfrm>
            <a:off x="960120" y="5257800"/>
            <a:ext cx="5120640" cy="365760"/>
          </a:xfrm>
          <a:prstGeom prst="rect">
            <a:avLst/>
          </a:prstGeom>
          <a:noFill/>
          <a:ln/>
        </p:spPr>
        <p:txBody>
          <a:bodyPr wrap="square" lIns="0" tIns="0" rIns="0" bIns="0" rtlCol="0" anchor="ctr"/>
          <a:lstStyle/>
          <a:p>
            <a:pPr indent="0" marL="0">
              <a:buNone/>
            </a:pPr>
            <a:r>
              <a:rPr lang="en-US" sz="1500" dirty="0">
                <a:solidFill>
                  <a:schemeClr val="tx1"/>
                </a:solidFill>
              </a:rPr>
              <a:t>Raises the next-best check for a technician</a:t>
            </a:r>
            <a:endParaRPr lang="en-US" sz="1500" dirty="0"/>
          </a:p>
        </p:txBody>
      </p:sp>
      <p:sp>
        <p:nvSpPr>
          <p:cNvPr id="19" name="shape_7_15"/>
          <p:cNvSpPr/>
          <p:nvPr/>
        </p:nvSpPr>
        <p:spPr>
          <a:xfrm>
            <a:off x="594360" y="5806440"/>
            <a:ext cx="182880" cy="182880"/>
          </a:xfrm>
          <a:prstGeom prst="ellipse">
            <a:avLst/>
          </a:prstGeom>
          <a:solidFill>
            <a:schemeClr val="accent1"/>
          </a:solidFill>
          <a:ln w="12700">
            <a:solidFill>
              <a:schemeClr val="accent1"/>
            </a:solidFill>
            <a:prstDash val="solid"/>
          </a:ln>
        </p:spPr>
      </p:sp>
      <p:sp>
        <p:nvSpPr>
          <p:cNvPr id="20" name="text_7_16"/>
          <p:cNvSpPr txBox="1"/>
          <p:nvPr/>
        </p:nvSpPr>
        <p:spPr>
          <a:xfrm>
            <a:off x="960120" y="5715000"/>
            <a:ext cx="5120640" cy="365760"/>
          </a:xfrm>
          <a:prstGeom prst="rect">
            <a:avLst/>
          </a:prstGeom>
          <a:noFill/>
          <a:ln/>
        </p:spPr>
        <p:txBody>
          <a:bodyPr wrap="square" lIns="0" tIns="0" rIns="0" bIns="0" rtlCol="0" anchor="ctr"/>
          <a:lstStyle/>
          <a:p>
            <a:pPr indent="0" marL="0">
              <a:buNone/>
            </a:pPr>
            <a:r>
              <a:rPr lang="en-US" sz="1500" dirty="0">
                <a:solidFill>
                  <a:schemeClr val="tx1"/>
                </a:solidFill>
              </a:rPr>
              <a:t>Hazard symptoms still escalate independently</a:t>
            </a:r>
            <a:endParaRPr lang="en-US" sz="1500" dirty="0"/>
          </a:p>
        </p:txBody>
      </p:sp>
      <p:graphicFrame>
        <p:nvGraphicFramePr>
          <p:cNvPr id="8" name="mergetable"/>
          <p:cNvGraphicFramePr>
            <a:graphicFrameLocks noGrp="1"/>
          </p:cNvGraphicFramePr>
          <p:nvPr>
            <p:extLst>
              <p:ext uri="{D42A27DB-BD31-4B8C-83A1-F6EECF244321}">
                <p14:modId xmlns:p14="http://schemas.microsoft.com/office/powerpoint/2010/main" val="1579011935"/>
              </p:ext>
            </p:extLst>
          </p:nvPr>
        </p:nvGraphicFramePr>
        <p:xfrm>
          <a:off x="6492240" y="3840480"/>
          <a:ext cx="5120640" cy="914400"/>
        </p:xfrm>
        <a:graphic>
          <a:graphicData uri="http://schemas.openxmlformats.org/drawingml/2006/table">
            <a:tbl>
              <a:tblPr/>
              <a:tblGrid>
                <a:gridCol w="2011680"/>
                <a:gridCol w="1188720"/>
                <a:gridCol w="1920240"/>
              </a:tblGrid>
              <a:tr h="475488">
                <a:tc>
                  <a:txBody>
                    <a:bodyPr/>
                    <a:lstStyle/>
                    <a:p>
                      <a:pPr indent="0" marL="0">
                        <a:buNone/>
                      </a:pPr>
                      <a:r>
                        <a:rPr lang="en-US" sz="1300" b="1" dirty="0">
                          <a:solidFill>
                            <a:schemeClr val="bg1"/>
                          </a:solidFill>
                        </a:rPr>
                        <a:t>Source claims</a:t>
                      </a:r>
                      <a:endParaRPr lang="en-US" sz="1300" dirty="0"/>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Merged state</a:t>
                      </a:r>
                      <a:endParaRPr lang="en-US" sz="1300" dirty="0"/>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Payload rule</a:t>
                      </a:r>
                      <a:endParaRPr lang="en-US" sz="1300" dirty="0"/>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solidFill>
                  </a:tcPr>
                </a:tc>
              </a:tr>
              <a:tr h="475488">
                <a:tc>
                  <a:txBody>
                    <a:bodyPr/>
                    <a:lstStyle/>
                    <a:p>
                      <a:pPr algn="l" indent="0" marL="0">
                        <a:buNone/>
                      </a:pPr>
                      <a:r>
                        <a:rPr lang="en-US" sz="1300" dirty="0">
                          <a:solidFill>
                            <a:schemeClr val="tx1"/>
                          </a:solidFill>
                        </a:rPr>
                        <a:t>Operator: Yes</a:t>
                      </a:r>
                      <a:endParaRPr lang="en-US" sz="1300" dirty="0"/>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bg1"/>
                          </a:solidFill>
                        </a:rPr>
                        <a:t>Yes</a:t>
                      </a:r>
                      <a:endParaRPr lang="en-US" sz="1300" dirty="0"/>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4"/>
                    </a:solidFill>
                  </a:tcPr>
                </a:tc>
                <a:tc>
                  <a:txBody>
                    <a:bodyPr/>
                    <a:lstStyle/>
                    <a:p>
                      <a:pPr algn="l" indent="0" marL="0">
                        <a:buNone/>
                      </a:pPr>
                      <a:r>
                        <a:rPr lang="en-US" sz="1300" dirty="0">
                          <a:solidFill>
                            <a:schemeClr val="tx1"/>
                          </a:solidFill>
                        </a:rPr>
                        <a:t>Counts as evidence</a:t>
                      </a:r>
                      <a:endParaRPr lang="en-US" sz="1300" dirty="0"/>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bg2"/>
                    </a:solidFill>
                  </a:tcPr>
                </a:tc>
              </a:tr>
              <a:tr h="475488">
                <a:tc>
                  <a:txBody>
                    <a:bodyPr/>
                    <a:lstStyle/>
                    <a:p>
                      <a:pPr algn="l" indent="0" marL="0">
                        <a:buNone/>
                      </a:pPr>
                      <a:r>
                        <a:rPr lang="en-US" sz="1300" dirty="0">
                          <a:solidFill>
                            <a:schemeClr val="tx1"/>
                          </a:solidFill>
                        </a:rPr>
                        <a:t>Operator Yes + Sensor No</a:t>
                      </a:r>
                      <a:endParaRPr lang="en-US" sz="1300" dirty="0"/>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bg1"/>
                          </a:solidFill>
                        </a:rPr>
                        <a:t>Conflict</a:t>
                      </a:r>
                      <a:endParaRPr lang="en-US" sz="1300" dirty="0"/>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3"/>
                    </a:solidFill>
                  </a:tcPr>
                </a:tc>
                <a:tc>
                  <a:txBody>
                    <a:bodyPr/>
                    <a:lstStyle/>
                    <a:p>
                      <a:pPr algn="l" indent="0" marL="0">
                        <a:buNone/>
                      </a:pPr>
                      <a:r>
                        <a:rPr lang="en-US" sz="1300" dirty="0">
                          <a:solidFill>
                            <a:schemeClr val="tx1"/>
                          </a:solidFill>
                        </a:rPr>
                        <a:t>Conflicted</a:t>
                      </a:r>
                      <a:endParaRPr lang="en-US" sz="1300" dirty="0"/>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bg2"/>
                    </a:solidFill>
                  </a:tcPr>
                </a:tc>
              </a:tr>
              <a:tr h="475488">
                <a:tc>
                  <a:txBody>
                    <a:bodyPr/>
                    <a:lstStyle/>
                    <a:p>
                      <a:pPr algn="l" indent="0" marL="0">
                        <a:buNone/>
                      </a:pPr>
                      <a:r>
                        <a:rPr lang="en-US" sz="1300" dirty="0">
                          <a:solidFill>
                            <a:schemeClr val="tx1"/>
                          </a:solidFill>
                        </a:rPr>
                        <a:t>No claims</a:t>
                      </a:r>
                      <a:endParaRPr lang="en-US" sz="1300" dirty="0"/>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bg1"/>
                          </a:solidFill>
                        </a:rPr>
                        <a:t>Unknown</a:t>
                      </a:r>
                      <a:endParaRPr lang="en-US" sz="1300" dirty="0"/>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6B7C8F"/>
                    </a:solidFill>
                  </a:tcPr>
                </a:tc>
                <a:tc>
                  <a:txBody>
                    <a:bodyPr/>
                    <a:lstStyle/>
                    <a:p>
                      <a:pPr algn="l" indent="0" marL="0">
                        <a:buNone/>
                      </a:pPr>
                      <a:r>
                        <a:rPr lang="en-US" sz="1300" dirty="0">
                          <a:solidFill>
                            <a:schemeClr val="tx1"/>
                          </a:solidFill>
                        </a:rPr>
                        <a:t>Stays Possible</a:t>
                      </a:r>
                      <a:endParaRPr lang="en-US" sz="1300" dirty="0"/>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bg2"/>
                    </a:solidFill>
                  </a:tcPr>
                </a:tc>
              </a:tr>
              <a:tr h="475488">
                <a:tc>
                  <a:txBody>
                    <a:bodyPr/>
                    <a:lstStyle/>
                    <a:p>
                      <a:pPr algn="l" indent="0" marL="0">
                        <a:buNone/>
                      </a:pPr>
                      <a:r>
                        <a:rPr lang="en-US" sz="1300" dirty="0">
                          <a:solidFill>
                            <a:schemeClr val="tx1"/>
                          </a:solidFill>
                        </a:rPr>
                        <a:t>Sensor: No only</a:t>
                      </a:r>
                      <a:endParaRPr lang="en-US" sz="1300" dirty="0"/>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bg1"/>
                          </a:solidFill>
                        </a:rPr>
                        <a:t>No</a:t>
                      </a:r>
                      <a:endParaRPr lang="en-US" sz="1300" dirty="0"/>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solidFill>
                  </a:tcPr>
                </a:tc>
                <a:tc>
                  <a:txBody>
                    <a:bodyPr/>
                    <a:lstStyle/>
                    <a:p>
                      <a:pPr algn="l" indent="0" marL="0">
                        <a:buNone/>
                      </a:pPr>
                      <a:r>
                        <a:rPr lang="en-US" sz="1300" dirty="0">
                          <a:solidFill>
                            <a:schemeClr val="tx1"/>
                          </a:solidFill>
                        </a:rPr>
                        <a:t>Contradicted</a:t>
                      </a:r>
                      <a:endParaRPr lang="en-US" sz="1300" dirty="0"/>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7</a:t>
            </a:fld>
            <a:endParaRPr lang="en-US"/>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20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25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600" fill="hold"/>
                                        <p:tgtEl>
                                          <p:spTgt spid="5"/>
                                        </p:tgtEl>
                                        <p:attrNameLst>
                                          <p:attrName>ppt_x</p:attrName>
                                        </p:attrNameLst>
                                      </p:cBhvr>
                                      <p:tavLst>
                                        <p:tav tm="0">
                                          <p:val>
                                            <p:strVal val="0-#ppt_w/2"/>
                                          </p:val>
                                        </p:tav>
                                        <p:tav tm="100000">
                                          <p:val>
                                            <p:strVal val="#ppt_x"/>
                                          </p:val>
                                        </p:tav>
                                      </p:tavLst>
                                    </p:anim>
                                    <p:anim calcmode="lin" valueType="num">
                                      <p:cBhvr additive="base">
                                        <p:cTn id="16" dur="600" fill="hold"/>
                                        <p:tgtEl>
                                          <p:spTgt spid="5"/>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25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600" fill="hold"/>
                                        <p:tgtEl>
                                          <p:spTgt spid="7"/>
                                        </p:tgtEl>
                                        <p:attrNameLst>
                                          <p:attrName>ppt_x</p:attrName>
                                        </p:attrNameLst>
                                      </p:cBhvr>
                                      <p:tavLst>
                                        <p:tav tm="0">
                                          <p:val>
                                            <p:strVal val="1+#ppt_w/2"/>
                                          </p:val>
                                        </p:tav>
                                        <p:tav tm="100000">
                                          <p:val>
                                            <p:strVal val="#ppt_x"/>
                                          </p:val>
                                        </p:tav>
                                      </p:tavLst>
                                    </p:anim>
                                    <p:anim calcmode="lin" valueType="num">
                                      <p:cBhvr additive="base">
                                        <p:cTn id="20" dur="600" fill="hold"/>
                                        <p:tgtEl>
                                          <p:spTgt spid="7"/>
                                        </p:tgtEl>
                                        <p:attrNameLst>
                                          <p:attrName>ppt_y</p:attrName>
                                        </p:attrNameLst>
                                      </p:cBhvr>
                                      <p:tavLst>
                                        <p:tav tm="0">
                                          <p:val>
                                            <p:strVal val="#ppt_y"/>
                                          </p:val>
                                        </p:tav>
                                        <p:tav tm="100000">
                                          <p:val>
                                            <p:strVal val="#ppt_y"/>
                                          </p:val>
                                        </p:tav>
                                      </p:tavLst>
                                    </p:anim>
                                  </p:childTnLst>
                                </p:cTn>
                              </p:par>
                              <p:par>
                                <p:cTn id="21" presetID="22" presetClass="entr" presetSubtype="8" fill="hold" nodeType="withEffect">
                                  <p:stCondLst>
                                    <p:cond delay="70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300"/>
                                        <p:tgtEl>
                                          <p:spTgt spid="10"/>
                                        </p:tgtEl>
                                      </p:cBhvr>
                                    </p:animEffect>
                                  </p:childTnLst>
                                </p:cTn>
                              </p:par>
                              <p:par>
                                <p:cTn id="24" presetID="10" presetClass="entr" presetSubtype="0" fill="hold" nodeType="withEffect">
                                  <p:stCondLst>
                                    <p:cond delay="70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300"/>
                                        <p:tgtEl>
                                          <p:spTgt spid="11"/>
                                        </p:tgtEl>
                                      </p:cBhvr>
                                    </p:animEffect>
                                  </p:childTnLst>
                                </p:cTn>
                              </p:par>
                              <p:par>
                                <p:cTn id="27" presetID="53" presetClass="entr" presetSubtype="16" fill="hold" nodeType="withEffect">
                                  <p:stCondLst>
                                    <p:cond delay="1000"/>
                                  </p:stCondLst>
                                  <p:childTnLst>
                                    <p:set>
                                      <p:cBhvr>
                                        <p:cTn id="28" dur="1" fill="hold">
                                          <p:stCondLst>
                                            <p:cond delay="0"/>
                                          </p:stCondLst>
                                        </p:cTn>
                                        <p:tgtEl>
                                          <p:spTgt spid="8"/>
                                        </p:tgtEl>
                                        <p:attrNameLst>
                                          <p:attrName>style.visibility</p:attrName>
                                        </p:attrNameLst>
                                      </p:cBhvr>
                                      <p:to>
                                        <p:strVal val="visible"/>
                                      </p:to>
                                    </p:set>
                                    <p:anim calcmode="lin" valueType="num">
                                      <p:cBhvr>
                                        <p:cTn id="29" dur="500" fill="hold"/>
                                        <p:tgtEl>
                                          <p:spTgt spid="8"/>
                                        </p:tgtEl>
                                        <p:attrNameLst>
                                          <p:attrName>ppt_w</p:attrName>
                                        </p:attrNameLst>
                                      </p:cBhvr>
                                      <p:tavLst>
                                        <p:tav tm="0">
                                          <p:val>
                                            <p:fltVal val="0"/>
                                          </p:val>
                                        </p:tav>
                                        <p:tav tm="100000">
                                          <p:val>
                                            <p:strVal val="#ppt_w"/>
                                          </p:val>
                                        </p:tav>
                                      </p:tavLst>
                                    </p:anim>
                                    <p:anim calcmode="lin" valueType="num">
                                      <p:cBhvr>
                                        <p:cTn id="30" dur="500" fill="hold"/>
                                        <p:tgtEl>
                                          <p:spTgt spid="8"/>
                                        </p:tgtEl>
                                        <p:attrNameLst>
                                          <p:attrName>ppt_h</p:attrName>
                                        </p:attrNameLst>
                                      </p:cBhvr>
                                      <p:tavLst>
                                        <p:tav tm="0">
                                          <p:val>
                                            <p:fltVal val="0"/>
                                          </p:val>
                                        </p:tav>
                                        <p:tav tm="100000">
                                          <p:val>
                                            <p:strVal val="#ppt_h"/>
                                          </p:val>
                                        </p:tav>
                                      </p:tavLst>
                                    </p:anim>
                                    <p:animEffect transition="in" filter="fade">
                                      <p:cBhvr>
                                        <p:cTn id="31" dur="500"/>
                                        <p:tgtEl>
                                          <p:spTgt spid="8"/>
                                        </p:tgtEl>
                                      </p:cBhvr>
                                    </p:animEffect>
                                  </p:childTnLst>
                                </p:cTn>
                              </p:par>
                              <p:par>
                                <p:cTn id="32" presetID="53" presetClass="entr" presetSubtype="16" fill="hold" nodeType="withEffect">
                                  <p:stCondLst>
                                    <p:cond delay="1050"/>
                                  </p:stCondLst>
                                  <p:childTnLst>
                                    <p:set>
                                      <p:cBhvr>
                                        <p:cTn id="33" dur="1" fill="hold">
                                          <p:stCondLst>
                                            <p:cond delay="0"/>
                                          </p:stCondLst>
                                        </p:cTn>
                                        <p:tgtEl>
                                          <p:spTgt spid="9"/>
                                        </p:tgtEl>
                                        <p:attrNameLst>
                                          <p:attrName>style.visibility</p:attrName>
                                        </p:attrNameLst>
                                      </p:cBhvr>
                                      <p:to>
                                        <p:strVal val="visible"/>
                                      </p:to>
                                    </p:set>
                                    <p:anim calcmode="lin" valueType="num">
                                      <p:cBhvr>
                                        <p:cTn id="34" dur="500" fill="hold"/>
                                        <p:tgtEl>
                                          <p:spTgt spid="9"/>
                                        </p:tgtEl>
                                        <p:attrNameLst>
                                          <p:attrName>ppt_w</p:attrName>
                                        </p:attrNameLst>
                                      </p:cBhvr>
                                      <p:tavLst>
                                        <p:tav tm="0">
                                          <p:val>
                                            <p:fltVal val="0"/>
                                          </p:val>
                                        </p:tav>
                                        <p:tav tm="100000">
                                          <p:val>
                                            <p:strVal val="#ppt_w"/>
                                          </p:val>
                                        </p:tav>
                                      </p:tavLst>
                                    </p:anim>
                                    <p:anim calcmode="lin" valueType="num">
                                      <p:cBhvr>
                                        <p:cTn id="35" dur="500" fill="hold"/>
                                        <p:tgtEl>
                                          <p:spTgt spid="9"/>
                                        </p:tgtEl>
                                        <p:attrNameLst>
                                          <p:attrName>ppt_h</p:attrName>
                                        </p:attrNameLst>
                                      </p:cBhvr>
                                      <p:tavLst>
                                        <p:tav tm="0">
                                          <p:val>
                                            <p:fltVal val="0"/>
                                          </p:val>
                                        </p:tav>
                                        <p:tav tm="100000">
                                          <p:val>
                                            <p:strVal val="#ppt_h"/>
                                          </p:val>
                                        </p:tav>
                                      </p:tavLst>
                                    </p:anim>
                                    <p:animEffect transition="in" filter="fade">
                                      <p:cBhvr>
                                        <p:cTn id="36" dur="500"/>
                                        <p:tgtEl>
                                          <p:spTgt spid="9"/>
                                        </p:tgtEl>
                                      </p:cBhvr>
                                    </p:animEffect>
                                  </p:childTnLst>
                                </p:cTn>
                              </p:par>
                              <p:par>
                                <p:cTn id="37" presetID="10" presetClass="entr" presetSubtype="0" fill="hold" nodeType="withEffect">
                                  <p:stCondLst>
                                    <p:cond delay="150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par>
                                <p:cTn id="40" presetID="26" presetClass="emph" presetSubtype="0" repeatCount="indefinite" fill="hold" nodeType="withEffect">
                                  <p:stCondLst>
                                    <p:cond delay="1600"/>
                                  </p:stCondLst>
                                  <p:childTnLst>
                                    <p:animScale>
                                      <p:cBhvr>
                                        <p:cTn id="41" dur="450" autoRev="1" fill="hold"/>
                                        <p:tgtEl>
                                          <p:spTgt spid="8"/>
                                        </p:tgtEl>
                                      </p:cBhvr>
                                      <p:by x="108000" y="108000"/>
                                    </p:animScale>
                                  </p:childTnLst>
                                </p:cTn>
                              </p:par>
                              <p:par>
                                <p:cTn id="42" presetID="53" presetClass="entr" presetSubtype="16" fill="hold" nodeType="withEffect">
                                  <p:stCondLst>
                                    <p:cond delay="1700"/>
                                  </p:stCondLst>
                                  <p:childTnLst>
                                    <p:set>
                                      <p:cBhvr>
                                        <p:cTn id="43" dur="1" fill="hold">
                                          <p:stCondLst>
                                            <p:cond delay="0"/>
                                          </p:stCondLst>
                                        </p:cTn>
                                        <p:tgtEl>
                                          <p:spTgt spid="13"/>
                                        </p:tgtEl>
                                        <p:attrNameLst>
                                          <p:attrName>style.visibility</p:attrName>
                                        </p:attrNameLst>
                                      </p:cBhvr>
                                      <p:to>
                                        <p:strVal val="visible"/>
                                      </p:to>
                                    </p:set>
                                    <p:anim calcmode="lin" valueType="num">
                                      <p:cBhvr>
                                        <p:cTn id="44" dur="300" fill="hold"/>
                                        <p:tgtEl>
                                          <p:spTgt spid="13"/>
                                        </p:tgtEl>
                                        <p:attrNameLst>
                                          <p:attrName>ppt_w</p:attrName>
                                        </p:attrNameLst>
                                      </p:cBhvr>
                                      <p:tavLst>
                                        <p:tav tm="0">
                                          <p:val>
                                            <p:fltVal val="0"/>
                                          </p:val>
                                        </p:tav>
                                        <p:tav tm="100000">
                                          <p:val>
                                            <p:strVal val="#ppt_w"/>
                                          </p:val>
                                        </p:tav>
                                      </p:tavLst>
                                    </p:anim>
                                    <p:anim calcmode="lin" valueType="num">
                                      <p:cBhvr>
                                        <p:cTn id="45" dur="300" fill="hold"/>
                                        <p:tgtEl>
                                          <p:spTgt spid="13"/>
                                        </p:tgtEl>
                                        <p:attrNameLst>
                                          <p:attrName>ppt_h</p:attrName>
                                        </p:attrNameLst>
                                      </p:cBhvr>
                                      <p:tavLst>
                                        <p:tav tm="0">
                                          <p:val>
                                            <p:fltVal val="0"/>
                                          </p:val>
                                        </p:tav>
                                        <p:tav tm="100000">
                                          <p:val>
                                            <p:strVal val="#ppt_h"/>
                                          </p:val>
                                        </p:tav>
                                      </p:tavLst>
                                    </p:anim>
                                    <p:animEffect transition="in" filter="fade">
                                      <p:cBhvr>
                                        <p:cTn id="46" dur="300"/>
                                        <p:tgtEl>
                                          <p:spTgt spid="13"/>
                                        </p:tgtEl>
                                      </p:cBhvr>
                                    </p:animEffect>
                                  </p:childTnLst>
                                </p:cTn>
                              </p:par>
                              <p:par>
                                <p:cTn id="47" presetID="22" presetClass="entr" presetSubtype="8" fill="hold" nodeType="withEffect">
                                  <p:stCondLst>
                                    <p:cond delay="1700"/>
                                  </p:stCondLst>
                                  <p:childTnLst>
                                    <p:set>
                                      <p:cBhvr>
                                        <p:cTn id="48" dur="1" fill="hold">
                                          <p:stCondLst>
                                            <p:cond delay="0"/>
                                          </p:stCondLst>
                                        </p:cTn>
                                        <p:tgtEl>
                                          <p:spTgt spid="14"/>
                                        </p:tgtEl>
                                        <p:attrNameLst>
                                          <p:attrName>style.visibility</p:attrName>
                                        </p:attrNameLst>
                                      </p:cBhvr>
                                      <p:to>
                                        <p:strVal val="visible"/>
                                      </p:to>
                                    </p:set>
                                    <p:animEffect transition="in" filter="wipe(left)">
                                      <p:cBhvr>
                                        <p:cTn id="49" dur="400"/>
                                        <p:tgtEl>
                                          <p:spTgt spid="14"/>
                                        </p:tgtEl>
                                      </p:cBhvr>
                                    </p:animEffect>
                                  </p:childTnLst>
                                </p:cTn>
                              </p:par>
                              <p:par>
                                <p:cTn id="50" presetID="22" presetClass="entr" presetSubtype="8" fill="hold" nodeType="withEffect">
                                  <p:stCondLst>
                                    <p:cond delay="1700"/>
                                  </p:stCondLst>
                                  <p:childTnLst>
                                    <p:set>
                                      <p:cBhvr>
                                        <p:cTn id="51" dur="1" fill="hold">
                                          <p:stCondLst>
                                            <p:cond delay="0"/>
                                          </p:stCondLst>
                                        </p:cTn>
                                        <p:tgtEl>
                                          <p:spTgt spid="8"/>
                                        </p:tgtEl>
                                        <p:attrNameLst>
                                          <p:attrName>style.visibility</p:attrName>
                                        </p:attrNameLst>
                                      </p:cBhvr>
                                      <p:to>
                                        <p:strVal val="visible"/>
                                      </p:to>
                                    </p:set>
                                    <p:animEffect transition="in" filter="wipe(left)">
                                      <p:cBhvr>
                                        <p:cTn id="52" dur="700"/>
                                        <p:tgtEl>
                                          <p:spTgt spid="8"/>
                                        </p:tgtEl>
                                      </p:cBhvr>
                                    </p:animEffect>
                                  </p:childTnLst>
                                </p:cTn>
                              </p:par>
                              <p:par>
                                <p:cTn id="53" presetID="53" presetClass="entr" presetSubtype="16" fill="hold" nodeType="withEffect">
                                  <p:stCondLst>
                                    <p:cond delay="1950"/>
                                  </p:stCondLst>
                                  <p:childTnLst>
                                    <p:set>
                                      <p:cBhvr>
                                        <p:cTn id="54" dur="1" fill="hold">
                                          <p:stCondLst>
                                            <p:cond delay="0"/>
                                          </p:stCondLst>
                                        </p:cTn>
                                        <p:tgtEl>
                                          <p:spTgt spid="15"/>
                                        </p:tgtEl>
                                        <p:attrNameLst>
                                          <p:attrName>style.visibility</p:attrName>
                                        </p:attrNameLst>
                                      </p:cBhvr>
                                      <p:to>
                                        <p:strVal val="visible"/>
                                      </p:to>
                                    </p:set>
                                    <p:anim calcmode="lin" valueType="num">
                                      <p:cBhvr>
                                        <p:cTn id="55" dur="300" fill="hold"/>
                                        <p:tgtEl>
                                          <p:spTgt spid="15"/>
                                        </p:tgtEl>
                                        <p:attrNameLst>
                                          <p:attrName>ppt_w</p:attrName>
                                        </p:attrNameLst>
                                      </p:cBhvr>
                                      <p:tavLst>
                                        <p:tav tm="0">
                                          <p:val>
                                            <p:fltVal val="0"/>
                                          </p:val>
                                        </p:tav>
                                        <p:tav tm="100000">
                                          <p:val>
                                            <p:strVal val="#ppt_w"/>
                                          </p:val>
                                        </p:tav>
                                      </p:tavLst>
                                    </p:anim>
                                    <p:anim calcmode="lin" valueType="num">
                                      <p:cBhvr>
                                        <p:cTn id="56" dur="300" fill="hold"/>
                                        <p:tgtEl>
                                          <p:spTgt spid="15"/>
                                        </p:tgtEl>
                                        <p:attrNameLst>
                                          <p:attrName>ppt_h</p:attrName>
                                        </p:attrNameLst>
                                      </p:cBhvr>
                                      <p:tavLst>
                                        <p:tav tm="0">
                                          <p:val>
                                            <p:fltVal val="0"/>
                                          </p:val>
                                        </p:tav>
                                        <p:tav tm="100000">
                                          <p:val>
                                            <p:strVal val="#ppt_h"/>
                                          </p:val>
                                        </p:tav>
                                      </p:tavLst>
                                    </p:anim>
                                    <p:animEffect transition="in" filter="fade">
                                      <p:cBhvr>
                                        <p:cTn id="57" dur="300"/>
                                        <p:tgtEl>
                                          <p:spTgt spid="15"/>
                                        </p:tgtEl>
                                      </p:cBhvr>
                                    </p:animEffect>
                                  </p:childTnLst>
                                </p:cTn>
                              </p:par>
                              <p:par>
                                <p:cTn id="58" presetID="22" presetClass="entr" presetSubtype="8" fill="hold" nodeType="withEffect">
                                  <p:stCondLst>
                                    <p:cond delay="1950"/>
                                  </p:stCondLst>
                                  <p:childTnLst>
                                    <p:set>
                                      <p:cBhvr>
                                        <p:cTn id="59" dur="1" fill="hold">
                                          <p:stCondLst>
                                            <p:cond delay="0"/>
                                          </p:stCondLst>
                                        </p:cTn>
                                        <p:tgtEl>
                                          <p:spTgt spid="16"/>
                                        </p:tgtEl>
                                        <p:attrNameLst>
                                          <p:attrName>style.visibility</p:attrName>
                                        </p:attrNameLst>
                                      </p:cBhvr>
                                      <p:to>
                                        <p:strVal val="visible"/>
                                      </p:to>
                                    </p:set>
                                    <p:animEffect transition="in" filter="wipe(left)">
                                      <p:cBhvr>
                                        <p:cTn id="60" dur="400"/>
                                        <p:tgtEl>
                                          <p:spTgt spid="16"/>
                                        </p:tgtEl>
                                      </p:cBhvr>
                                    </p:animEffect>
                                  </p:childTnLst>
                                </p:cTn>
                              </p:par>
                              <p:par>
                                <p:cTn id="61" presetID="53" presetClass="entr" presetSubtype="16" fill="hold" nodeType="withEffect">
                                  <p:stCondLst>
                                    <p:cond delay="2200"/>
                                  </p:stCondLst>
                                  <p:childTnLst>
                                    <p:set>
                                      <p:cBhvr>
                                        <p:cTn id="62" dur="1" fill="hold">
                                          <p:stCondLst>
                                            <p:cond delay="0"/>
                                          </p:stCondLst>
                                        </p:cTn>
                                        <p:tgtEl>
                                          <p:spTgt spid="17"/>
                                        </p:tgtEl>
                                        <p:attrNameLst>
                                          <p:attrName>style.visibility</p:attrName>
                                        </p:attrNameLst>
                                      </p:cBhvr>
                                      <p:to>
                                        <p:strVal val="visible"/>
                                      </p:to>
                                    </p:set>
                                    <p:anim calcmode="lin" valueType="num">
                                      <p:cBhvr>
                                        <p:cTn id="63" dur="300" fill="hold"/>
                                        <p:tgtEl>
                                          <p:spTgt spid="17"/>
                                        </p:tgtEl>
                                        <p:attrNameLst>
                                          <p:attrName>ppt_w</p:attrName>
                                        </p:attrNameLst>
                                      </p:cBhvr>
                                      <p:tavLst>
                                        <p:tav tm="0">
                                          <p:val>
                                            <p:fltVal val="0"/>
                                          </p:val>
                                        </p:tav>
                                        <p:tav tm="100000">
                                          <p:val>
                                            <p:strVal val="#ppt_w"/>
                                          </p:val>
                                        </p:tav>
                                      </p:tavLst>
                                    </p:anim>
                                    <p:anim calcmode="lin" valueType="num">
                                      <p:cBhvr>
                                        <p:cTn id="64" dur="300" fill="hold"/>
                                        <p:tgtEl>
                                          <p:spTgt spid="17"/>
                                        </p:tgtEl>
                                        <p:attrNameLst>
                                          <p:attrName>ppt_h</p:attrName>
                                        </p:attrNameLst>
                                      </p:cBhvr>
                                      <p:tavLst>
                                        <p:tav tm="0">
                                          <p:val>
                                            <p:fltVal val="0"/>
                                          </p:val>
                                        </p:tav>
                                        <p:tav tm="100000">
                                          <p:val>
                                            <p:strVal val="#ppt_h"/>
                                          </p:val>
                                        </p:tav>
                                      </p:tavLst>
                                    </p:anim>
                                    <p:animEffect transition="in" filter="fade">
                                      <p:cBhvr>
                                        <p:cTn id="65" dur="300"/>
                                        <p:tgtEl>
                                          <p:spTgt spid="17"/>
                                        </p:tgtEl>
                                      </p:cBhvr>
                                    </p:animEffect>
                                  </p:childTnLst>
                                </p:cTn>
                              </p:par>
                              <p:par>
                                <p:cTn id="66" presetID="22" presetClass="entr" presetSubtype="8" fill="hold" nodeType="withEffect">
                                  <p:stCondLst>
                                    <p:cond delay="2200"/>
                                  </p:stCondLst>
                                  <p:childTnLst>
                                    <p:set>
                                      <p:cBhvr>
                                        <p:cTn id="67" dur="1" fill="hold">
                                          <p:stCondLst>
                                            <p:cond delay="0"/>
                                          </p:stCondLst>
                                        </p:cTn>
                                        <p:tgtEl>
                                          <p:spTgt spid="18"/>
                                        </p:tgtEl>
                                        <p:attrNameLst>
                                          <p:attrName>style.visibility</p:attrName>
                                        </p:attrNameLst>
                                      </p:cBhvr>
                                      <p:to>
                                        <p:strVal val="visible"/>
                                      </p:to>
                                    </p:set>
                                    <p:animEffect transition="in" filter="wipe(left)">
                                      <p:cBhvr>
                                        <p:cTn id="68" dur="400"/>
                                        <p:tgtEl>
                                          <p:spTgt spid="18"/>
                                        </p:tgtEl>
                                      </p:cBhvr>
                                    </p:animEffect>
                                  </p:childTnLst>
                                </p:cTn>
                              </p:par>
                              <p:par>
                                <p:cTn id="69" presetID="53" presetClass="entr" presetSubtype="16" fill="hold" nodeType="withEffect">
                                  <p:stCondLst>
                                    <p:cond delay="2450"/>
                                  </p:stCondLst>
                                  <p:childTnLst>
                                    <p:set>
                                      <p:cBhvr>
                                        <p:cTn id="70" dur="1" fill="hold">
                                          <p:stCondLst>
                                            <p:cond delay="0"/>
                                          </p:stCondLst>
                                        </p:cTn>
                                        <p:tgtEl>
                                          <p:spTgt spid="19"/>
                                        </p:tgtEl>
                                        <p:attrNameLst>
                                          <p:attrName>style.visibility</p:attrName>
                                        </p:attrNameLst>
                                      </p:cBhvr>
                                      <p:to>
                                        <p:strVal val="visible"/>
                                      </p:to>
                                    </p:set>
                                    <p:anim calcmode="lin" valueType="num">
                                      <p:cBhvr>
                                        <p:cTn id="71" dur="300" fill="hold"/>
                                        <p:tgtEl>
                                          <p:spTgt spid="19"/>
                                        </p:tgtEl>
                                        <p:attrNameLst>
                                          <p:attrName>ppt_w</p:attrName>
                                        </p:attrNameLst>
                                      </p:cBhvr>
                                      <p:tavLst>
                                        <p:tav tm="0">
                                          <p:val>
                                            <p:fltVal val="0"/>
                                          </p:val>
                                        </p:tav>
                                        <p:tav tm="100000">
                                          <p:val>
                                            <p:strVal val="#ppt_w"/>
                                          </p:val>
                                        </p:tav>
                                      </p:tavLst>
                                    </p:anim>
                                    <p:anim calcmode="lin" valueType="num">
                                      <p:cBhvr>
                                        <p:cTn id="72" dur="300" fill="hold"/>
                                        <p:tgtEl>
                                          <p:spTgt spid="19"/>
                                        </p:tgtEl>
                                        <p:attrNameLst>
                                          <p:attrName>ppt_h</p:attrName>
                                        </p:attrNameLst>
                                      </p:cBhvr>
                                      <p:tavLst>
                                        <p:tav tm="0">
                                          <p:val>
                                            <p:fltVal val="0"/>
                                          </p:val>
                                        </p:tav>
                                        <p:tav tm="100000">
                                          <p:val>
                                            <p:strVal val="#ppt_h"/>
                                          </p:val>
                                        </p:tav>
                                      </p:tavLst>
                                    </p:anim>
                                    <p:animEffect transition="in" filter="fade">
                                      <p:cBhvr>
                                        <p:cTn id="73" dur="300"/>
                                        <p:tgtEl>
                                          <p:spTgt spid="19"/>
                                        </p:tgtEl>
                                      </p:cBhvr>
                                    </p:animEffect>
                                  </p:childTnLst>
                                </p:cTn>
                              </p:par>
                              <p:par>
                                <p:cTn id="74" presetID="22" presetClass="entr" presetSubtype="8" fill="hold" nodeType="withEffect">
                                  <p:stCondLst>
                                    <p:cond delay="2450"/>
                                  </p:stCondLst>
                                  <p:childTnLst>
                                    <p:set>
                                      <p:cBhvr>
                                        <p:cTn id="75" dur="1" fill="hold">
                                          <p:stCondLst>
                                            <p:cond delay="0"/>
                                          </p:stCondLst>
                                        </p:cTn>
                                        <p:tgtEl>
                                          <p:spTgt spid="20"/>
                                        </p:tgtEl>
                                        <p:attrNameLst>
                                          <p:attrName>style.visibility</p:attrName>
                                        </p:attrNameLst>
                                      </p:cBhvr>
                                      <p:to>
                                        <p:strVal val="visible"/>
                                      </p:to>
                                    </p:set>
                                    <p:animEffect transition="in" filter="wipe(left)">
                                      <p:cBhvr>
                                        <p:cTn id="76"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bg1"/>
                </a:solidFill>
                <a:latin typeface="Cambria" pitchFamily="34" charset="0"/>
                <a:ea typeface="Cambria" pitchFamily="34" charset="-122"/>
                <a:cs typeface="Cambria" pitchFamily="34" charset="-120"/>
              </a:rPr>
              <a:t>Authentic data: UCI Robot Execution Failures</a:t>
            </a:r>
            <a:endParaRPr lang="en-US" sz="3200" dirty="0"/>
          </a:p>
        </p:txBody>
      </p:sp>
      <p:sp>
        <p:nvSpPr>
          <p:cNvPr id="4" name="shape_8_1"/>
          <p:cNvSpPr/>
          <p:nvPr/>
        </p:nvSpPr>
        <p:spPr>
          <a:xfrm>
            <a:off x="548640" y="1417320"/>
            <a:ext cx="1691640" cy="1325880"/>
          </a:xfrm>
          <a:prstGeom prst="roundRect">
            <a:avLst>
              <a:gd name="adj" fmla="val 8276"/>
            </a:avLst>
          </a:prstGeom>
          <a:solidFill>
            <a:schemeClr val="bg1">
              <a:alpha val="9000"/>
            </a:schemeClr>
          </a:solidFill>
          <a:ln w="15875">
            <a:solidFill>
              <a:schemeClr val="accent1"/>
            </a:solidFill>
            <a:prstDash val="solid"/>
          </a:ln>
        </p:spPr>
      </p:sp>
      <p:sp>
        <p:nvSpPr>
          <p:cNvPr id="5" name="text_8_2"/>
          <p:cNvSpPr txBox="1"/>
          <p:nvPr/>
        </p:nvSpPr>
        <p:spPr>
          <a:xfrm>
            <a:off x="685800" y="1508760"/>
            <a:ext cx="457200" cy="365760"/>
          </a:xfrm>
          <a:prstGeom prst="rect">
            <a:avLst/>
          </a:prstGeom>
          <a:noFill/>
          <a:ln/>
        </p:spPr>
        <p:txBody>
          <a:bodyPr wrap="square" lIns="0" tIns="0" rIns="0" bIns="0" rtlCol="0" anchor="ctr"/>
          <a:lstStyle/>
          <a:p>
            <a:pPr indent="0" marL="0">
              <a:buNone/>
            </a:pPr>
            <a:r>
              <a:rPr lang="en-US" sz="1800" b="1" dirty="0">
                <a:solidFill>
                  <a:schemeClr val="accent2"/>
                </a:solidFill>
                <a:latin typeface="Cambria" pitchFamily="34" charset="0"/>
                <a:ea typeface="Cambria" pitchFamily="34" charset="-122"/>
                <a:cs typeface="Cambria" pitchFamily="34" charset="-120"/>
              </a:rPr>
              <a:t>1</a:t>
            </a:r>
            <a:endParaRPr lang="en-US" sz="1800" dirty="0"/>
          </a:p>
        </p:txBody>
      </p:sp>
      <p:sp>
        <p:nvSpPr>
          <p:cNvPr id="6" name="text_8_3"/>
          <p:cNvSpPr txBox="1"/>
          <p:nvPr/>
        </p:nvSpPr>
        <p:spPr>
          <a:xfrm>
            <a:off x="658368" y="1874520"/>
            <a:ext cx="1472184" cy="822960"/>
          </a:xfrm>
          <a:prstGeom prst="rect">
            <a:avLst/>
          </a:prstGeom>
          <a:noFill/>
          <a:ln/>
        </p:spPr>
        <p:txBody>
          <a:bodyPr wrap="square" lIns="0" tIns="0" rIns="0" bIns="0" rtlCol="0" anchor="t"/>
          <a:lstStyle/>
          <a:p>
            <a:pPr indent="0" marL="0">
              <a:buNone/>
            </a:pPr>
            <a:r>
              <a:rPr lang="en-US" sz="1500" b="1" dirty="0">
                <a:solidFill>
                  <a:schemeClr val="bg1"/>
                </a:solidFill>
              </a:rPr>
              <a:t>Extract</a:t>
            </a:r>
            <a:endParaRPr lang="en-US" sz="1500" dirty="0"/>
          </a:p>
          <a:p>
            <a:pPr indent="0" marL="0">
              <a:buNone/>
            </a:pPr>
            <a:r>
              <a:rPr lang="en-US" sz="1200" dirty="0">
                <a:solidFill>
                  <a:srgbClr val="A9BCCF"/>
                </a:solidFill>
              </a:rPr>
              <a:t>Parse LP1–LP5 files</a:t>
            </a:r>
            <a:endParaRPr lang="en-US" sz="1500" dirty="0"/>
          </a:p>
        </p:txBody>
      </p:sp>
      <p:sp>
        <p:nvSpPr>
          <p:cNvPr id="7" name="shape_8_4"/>
          <p:cNvSpPr/>
          <p:nvPr/>
        </p:nvSpPr>
        <p:spPr>
          <a:xfrm>
            <a:off x="2423160" y="1417320"/>
            <a:ext cx="1691640" cy="1325880"/>
          </a:xfrm>
          <a:prstGeom prst="roundRect">
            <a:avLst>
              <a:gd name="adj" fmla="val 8276"/>
            </a:avLst>
          </a:prstGeom>
          <a:solidFill>
            <a:schemeClr val="bg1">
              <a:alpha val="9000"/>
            </a:schemeClr>
          </a:solidFill>
          <a:ln w="15875">
            <a:solidFill>
              <a:schemeClr val="accent1"/>
            </a:solidFill>
            <a:prstDash val="solid"/>
          </a:ln>
        </p:spPr>
      </p:sp>
      <p:sp>
        <p:nvSpPr>
          <p:cNvPr id="8" name="text_8_5"/>
          <p:cNvSpPr txBox="1"/>
          <p:nvPr/>
        </p:nvSpPr>
        <p:spPr>
          <a:xfrm>
            <a:off x="2560320" y="1508760"/>
            <a:ext cx="457200" cy="365760"/>
          </a:xfrm>
          <a:prstGeom prst="rect">
            <a:avLst/>
          </a:prstGeom>
          <a:noFill/>
          <a:ln/>
        </p:spPr>
        <p:txBody>
          <a:bodyPr wrap="square" lIns="0" tIns="0" rIns="0" bIns="0" rtlCol="0" anchor="ctr"/>
          <a:lstStyle/>
          <a:p>
            <a:pPr indent="0" marL="0">
              <a:buNone/>
            </a:pPr>
            <a:r>
              <a:rPr lang="en-US" sz="1800" b="1" dirty="0">
                <a:solidFill>
                  <a:schemeClr val="accent2"/>
                </a:solidFill>
                <a:latin typeface="Cambria" pitchFamily="34" charset="0"/>
                <a:ea typeface="Cambria" pitchFamily="34" charset="-122"/>
                <a:cs typeface="Cambria" pitchFamily="34" charset="-120"/>
              </a:rPr>
              <a:t>2</a:t>
            </a:r>
            <a:endParaRPr lang="en-US" sz="1800" dirty="0"/>
          </a:p>
        </p:txBody>
      </p:sp>
      <p:sp>
        <p:nvSpPr>
          <p:cNvPr id="9" name="text_8_6"/>
          <p:cNvSpPr txBox="1"/>
          <p:nvPr/>
        </p:nvSpPr>
        <p:spPr>
          <a:xfrm>
            <a:off x="2532888" y="1874520"/>
            <a:ext cx="1472184" cy="822960"/>
          </a:xfrm>
          <a:prstGeom prst="rect">
            <a:avLst/>
          </a:prstGeom>
          <a:noFill/>
          <a:ln/>
        </p:spPr>
        <p:txBody>
          <a:bodyPr wrap="square" lIns="0" tIns="0" rIns="0" bIns="0" rtlCol="0" anchor="t"/>
          <a:lstStyle/>
          <a:p>
            <a:pPr indent="0" marL="0">
              <a:buNone/>
            </a:pPr>
            <a:r>
              <a:rPr lang="en-US" sz="1500" b="1" dirty="0">
                <a:solidFill>
                  <a:schemeClr val="bg1"/>
                </a:solidFill>
              </a:rPr>
              <a:t>Clean incomplete</a:t>
            </a:r>
            <a:endParaRPr lang="en-US" sz="1500" dirty="0"/>
          </a:p>
          <a:p>
            <a:pPr indent="0" marL="0">
              <a:buNone/>
            </a:pPr>
            <a:r>
              <a:rPr lang="en-US" sz="1200" dirty="0">
                <a:solidFill>
                  <a:srgbClr val="A9BCCF"/>
                </a:solidFill>
              </a:rPr>
              <a:t>15-sample windows</a:t>
            </a:r>
            <a:endParaRPr lang="en-US" sz="1500" dirty="0"/>
          </a:p>
        </p:txBody>
      </p:sp>
      <p:sp>
        <p:nvSpPr>
          <p:cNvPr id="10" name="shape_8_7"/>
          <p:cNvSpPr/>
          <p:nvPr/>
        </p:nvSpPr>
        <p:spPr>
          <a:xfrm>
            <a:off x="4297680" y="1417320"/>
            <a:ext cx="1691640" cy="1325880"/>
          </a:xfrm>
          <a:prstGeom prst="roundRect">
            <a:avLst>
              <a:gd name="adj" fmla="val 8276"/>
            </a:avLst>
          </a:prstGeom>
          <a:solidFill>
            <a:schemeClr val="bg1">
              <a:alpha val="9000"/>
            </a:schemeClr>
          </a:solidFill>
          <a:ln w="15875">
            <a:solidFill>
              <a:schemeClr val="accent1"/>
            </a:solidFill>
            <a:prstDash val="solid"/>
          </a:ln>
        </p:spPr>
      </p:sp>
      <p:sp>
        <p:nvSpPr>
          <p:cNvPr id="11" name="text_8_8"/>
          <p:cNvSpPr txBox="1"/>
          <p:nvPr/>
        </p:nvSpPr>
        <p:spPr>
          <a:xfrm>
            <a:off x="4434840" y="1508760"/>
            <a:ext cx="457200" cy="365760"/>
          </a:xfrm>
          <a:prstGeom prst="rect">
            <a:avLst/>
          </a:prstGeom>
          <a:noFill/>
          <a:ln/>
        </p:spPr>
        <p:txBody>
          <a:bodyPr wrap="square" lIns="0" tIns="0" rIns="0" bIns="0" rtlCol="0" anchor="ctr"/>
          <a:lstStyle/>
          <a:p>
            <a:pPr indent="0" marL="0">
              <a:buNone/>
            </a:pPr>
            <a:r>
              <a:rPr lang="en-US" sz="1800" b="1" dirty="0">
                <a:solidFill>
                  <a:schemeClr val="accent2"/>
                </a:solidFill>
                <a:latin typeface="Cambria" pitchFamily="34" charset="0"/>
                <a:ea typeface="Cambria" pitchFamily="34" charset="-122"/>
                <a:cs typeface="Cambria" pitchFamily="34" charset="-120"/>
              </a:rPr>
              <a:t>3</a:t>
            </a:r>
            <a:endParaRPr lang="en-US" sz="1800" dirty="0"/>
          </a:p>
        </p:txBody>
      </p:sp>
      <p:sp>
        <p:nvSpPr>
          <p:cNvPr id="12" name="text_8_9"/>
          <p:cNvSpPr txBox="1"/>
          <p:nvPr/>
        </p:nvSpPr>
        <p:spPr>
          <a:xfrm>
            <a:off x="4407408" y="1874520"/>
            <a:ext cx="1472184" cy="822960"/>
          </a:xfrm>
          <a:prstGeom prst="rect">
            <a:avLst/>
          </a:prstGeom>
          <a:noFill/>
          <a:ln/>
        </p:spPr>
        <p:txBody>
          <a:bodyPr wrap="square" lIns="0" tIns="0" rIns="0" bIns="0" rtlCol="0" anchor="t"/>
          <a:lstStyle/>
          <a:p>
            <a:pPr indent="0" marL="0">
              <a:buNone/>
            </a:pPr>
            <a:r>
              <a:rPr lang="en-US" sz="1500" b="1" dirty="0">
                <a:solidFill>
                  <a:schemeClr val="bg1"/>
                </a:solidFill>
              </a:rPr>
              <a:t>Clean outliers</a:t>
            </a:r>
            <a:endParaRPr lang="en-US" sz="1500" dirty="0"/>
          </a:p>
          <a:p>
            <a:pPr indent="0" marL="0">
              <a:buNone/>
            </a:pPr>
            <a:r>
              <a:rPr lang="en-US" sz="1200" dirty="0">
                <a:solidFill>
                  <a:srgbClr val="A9BCCF"/>
                </a:solidFill>
              </a:rPr>
              <a:t>Missing / extreme values</a:t>
            </a:r>
            <a:endParaRPr lang="en-US" sz="1500" dirty="0"/>
          </a:p>
        </p:txBody>
      </p:sp>
      <p:sp>
        <p:nvSpPr>
          <p:cNvPr id="13" name="shape_8_10"/>
          <p:cNvSpPr/>
          <p:nvPr/>
        </p:nvSpPr>
        <p:spPr>
          <a:xfrm>
            <a:off x="6172200" y="1417320"/>
            <a:ext cx="1691640" cy="1325880"/>
          </a:xfrm>
          <a:prstGeom prst="roundRect">
            <a:avLst>
              <a:gd name="adj" fmla="val 8276"/>
            </a:avLst>
          </a:prstGeom>
          <a:solidFill>
            <a:schemeClr val="bg1">
              <a:alpha val="9000"/>
            </a:schemeClr>
          </a:solidFill>
          <a:ln w="15875">
            <a:solidFill>
              <a:schemeClr val="accent1"/>
            </a:solidFill>
            <a:prstDash val="solid"/>
          </a:ln>
        </p:spPr>
      </p:sp>
      <p:sp>
        <p:nvSpPr>
          <p:cNvPr id="14" name="text_8_11"/>
          <p:cNvSpPr txBox="1"/>
          <p:nvPr/>
        </p:nvSpPr>
        <p:spPr>
          <a:xfrm>
            <a:off x="6309360" y="1508760"/>
            <a:ext cx="457200" cy="365760"/>
          </a:xfrm>
          <a:prstGeom prst="rect">
            <a:avLst/>
          </a:prstGeom>
          <a:noFill/>
          <a:ln/>
        </p:spPr>
        <p:txBody>
          <a:bodyPr wrap="square" lIns="0" tIns="0" rIns="0" bIns="0" rtlCol="0" anchor="ctr"/>
          <a:lstStyle/>
          <a:p>
            <a:pPr indent="0" marL="0">
              <a:buNone/>
            </a:pPr>
            <a:r>
              <a:rPr lang="en-US" sz="1800" b="1" dirty="0">
                <a:solidFill>
                  <a:schemeClr val="accent2"/>
                </a:solidFill>
                <a:latin typeface="Cambria" pitchFamily="34" charset="0"/>
                <a:ea typeface="Cambria" pitchFamily="34" charset="-122"/>
                <a:cs typeface="Cambria" pitchFamily="34" charset="-120"/>
              </a:rPr>
              <a:t>4</a:t>
            </a:r>
            <a:endParaRPr lang="en-US" sz="1800" dirty="0"/>
          </a:p>
        </p:txBody>
      </p:sp>
      <p:sp>
        <p:nvSpPr>
          <p:cNvPr id="15" name="text_8_12"/>
          <p:cNvSpPr txBox="1"/>
          <p:nvPr/>
        </p:nvSpPr>
        <p:spPr>
          <a:xfrm>
            <a:off x="6281928" y="1874520"/>
            <a:ext cx="1472184" cy="822960"/>
          </a:xfrm>
          <a:prstGeom prst="rect">
            <a:avLst/>
          </a:prstGeom>
          <a:noFill/>
          <a:ln/>
        </p:spPr>
        <p:txBody>
          <a:bodyPr wrap="square" lIns="0" tIns="0" rIns="0" bIns="0" rtlCol="0" anchor="t"/>
          <a:lstStyle/>
          <a:p>
            <a:pPr indent="0" marL="0">
              <a:buNone/>
            </a:pPr>
            <a:r>
              <a:rPr lang="en-US" sz="1500" b="1" dirty="0">
                <a:solidFill>
                  <a:schemeClr val="bg1"/>
                </a:solidFill>
              </a:rPr>
              <a:t>Deduplicate</a:t>
            </a:r>
            <a:endParaRPr lang="en-US" sz="1500" dirty="0"/>
          </a:p>
          <a:p>
            <a:pPr indent="0" marL="0">
              <a:buNone/>
            </a:pPr>
            <a:r>
              <a:rPr lang="en-US" sz="1200" dirty="0">
                <a:solidFill>
                  <a:srgbClr val="A9BCCF"/>
                </a:solidFill>
              </a:rPr>
              <a:t>Sensor fingerprints</a:t>
            </a:r>
            <a:endParaRPr lang="en-US" sz="1500" dirty="0"/>
          </a:p>
        </p:txBody>
      </p:sp>
      <p:sp>
        <p:nvSpPr>
          <p:cNvPr id="16" name="shape_8_13"/>
          <p:cNvSpPr/>
          <p:nvPr/>
        </p:nvSpPr>
        <p:spPr>
          <a:xfrm>
            <a:off x="8046720" y="1417320"/>
            <a:ext cx="1691640" cy="1325880"/>
          </a:xfrm>
          <a:prstGeom prst="roundRect">
            <a:avLst>
              <a:gd name="adj" fmla="val 8276"/>
            </a:avLst>
          </a:prstGeom>
          <a:solidFill>
            <a:schemeClr val="bg1">
              <a:alpha val="9000"/>
            </a:schemeClr>
          </a:solidFill>
          <a:ln w="15875">
            <a:solidFill>
              <a:schemeClr val="accent1"/>
            </a:solidFill>
            <a:prstDash val="solid"/>
          </a:ln>
        </p:spPr>
      </p:sp>
      <p:sp>
        <p:nvSpPr>
          <p:cNvPr id="17" name="text_8_14"/>
          <p:cNvSpPr txBox="1"/>
          <p:nvPr/>
        </p:nvSpPr>
        <p:spPr>
          <a:xfrm>
            <a:off x="8183880" y="1508760"/>
            <a:ext cx="457200" cy="365760"/>
          </a:xfrm>
          <a:prstGeom prst="rect">
            <a:avLst/>
          </a:prstGeom>
          <a:noFill/>
          <a:ln/>
        </p:spPr>
        <p:txBody>
          <a:bodyPr wrap="square" lIns="0" tIns="0" rIns="0" bIns="0" rtlCol="0" anchor="ctr"/>
          <a:lstStyle/>
          <a:p>
            <a:pPr indent="0" marL="0">
              <a:buNone/>
            </a:pPr>
            <a:r>
              <a:rPr lang="en-US" sz="1800" b="1" dirty="0">
                <a:solidFill>
                  <a:schemeClr val="accent2"/>
                </a:solidFill>
                <a:latin typeface="Cambria" pitchFamily="34" charset="0"/>
                <a:ea typeface="Cambria" pitchFamily="34" charset="-122"/>
                <a:cs typeface="Cambria" pitchFamily="34" charset="-120"/>
              </a:rPr>
              <a:t>5</a:t>
            </a:r>
            <a:endParaRPr lang="en-US" sz="1800" dirty="0"/>
          </a:p>
        </p:txBody>
      </p:sp>
      <p:sp>
        <p:nvSpPr>
          <p:cNvPr id="18" name="text_8_15"/>
          <p:cNvSpPr txBox="1"/>
          <p:nvPr/>
        </p:nvSpPr>
        <p:spPr>
          <a:xfrm>
            <a:off x="8156448" y="1874520"/>
            <a:ext cx="1472184" cy="822960"/>
          </a:xfrm>
          <a:prstGeom prst="rect">
            <a:avLst/>
          </a:prstGeom>
          <a:noFill/>
          <a:ln/>
        </p:spPr>
        <p:txBody>
          <a:bodyPr wrap="square" lIns="0" tIns="0" rIns="0" bIns="0" rtlCol="0" anchor="t"/>
          <a:lstStyle/>
          <a:p>
            <a:pPr indent="0" marL="0">
              <a:buNone/>
            </a:pPr>
            <a:r>
              <a:rPr lang="en-US" sz="1500" b="1" dirty="0">
                <a:solidFill>
                  <a:schemeClr val="bg1"/>
                </a:solidFill>
              </a:rPr>
              <a:t>Knowledge map</a:t>
            </a:r>
            <a:endParaRPr lang="en-US" sz="1500" dirty="0"/>
          </a:p>
          <a:p>
            <a:pPr indent="0" marL="0">
              <a:buNone/>
            </a:pPr>
            <a:r>
              <a:rPr lang="en-US" sz="1200" dirty="0">
                <a:solidFill>
                  <a:srgbClr val="A9BCCF"/>
                </a:solidFill>
              </a:rPr>
              <a:t>failure_class → symptoms</a:t>
            </a:r>
            <a:endParaRPr lang="en-US" sz="1500" dirty="0"/>
          </a:p>
        </p:txBody>
      </p:sp>
      <p:sp>
        <p:nvSpPr>
          <p:cNvPr id="19" name="shape_8_16"/>
          <p:cNvSpPr/>
          <p:nvPr/>
        </p:nvSpPr>
        <p:spPr>
          <a:xfrm>
            <a:off x="9921240" y="1417320"/>
            <a:ext cx="1691640" cy="1325880"/>
          </a:xfrm>
          <a:prstGeom prst="roundRect">
            <a:avLst>
              <a:gd name="adj" fmla="val 8276"/>
            </a:avLst>
          </a:prstGeom>
          <a:solidFill>
            <a:schemeClr val="bg1">
              <a:alpha val="9000"/>
            </a:schemeClr>
          </a:solidFill>
          <a:ln w="15875">
            <a:solidFill>
              <a:schemeClr val="accent1"/>
            </a:solidFill>
            <a:prstDash val="solid"/>
          </a:ln>
        </p:spPr>
      </p:sp>
      <p:sp>
        <p:nvSpPr>
          <p:cNvPr id="20" name="text_8_17"/>
          <p:cNvSpPr txBox="1"/>
          <p:nvPr/>
        </p:nvSpPr>
        <p:spPr>
          <a:xfrm>
            <a:off x="10058400" y="1508760"/>
            <a:ext cx="457200" cy="365760"/>
          </a:xfrm>
          <a:prstGeom prst="rect">
            <a:avLst/>
          </a:prstGeom>
          <a:noFill/>
          <a:ln/>
        </p:spPr>
        <p:txBody>
          <a:bodyPr wrap="square" lIns="0" tIns="0" rIns="0" bIns="0" rtlCol="0" anchor="ctr"/>
          <a:lstStyle/>
          <a:p>
            <a:pPr indent="0" marL="0">
              <a:buNone/>
            </a:pPr>
            <a:r>
              <a:rPr lang="en-US" sz="1800" b="1" dirty="0">
                <a:solidFill>
                  <a:schemeClr val="accent2"/>
                </a:solidFill>
                <a:latin typeface="Cambria" pitchFamily="34" charset="0"/>
                <a:ea typeface="Cambria" pitchFamily="34" charset="-122"/>
                <a:cs typeface="Cambria" pitchFamily="34" charset="-120"/>
              </a:rPr>
              <a:t>6</a:t>
            </a:r>
            <a:endParaRPr lang="en-US" sz="1800" dirty="0"/>
          </a:p>
        </p:txBody>
      </p:sp>
      <p:sp>
        <p:nvSpPr>
          <p:cNvPr id="21" name="text_8_18"/>
          <p:cNvSpPr txBox="1"/>
          <p:nvPr/>
        </p:nvSpPr>
        <p:spPr>
          <a:xfrm>
            <a:off x="10030968" y="1874520"/>
            <a:ext cx="1472184" cy="822960"/>
          </a:xfrm>
          <a:prstGeom prst="rect">
            <a:avLst/>
          </a:prstGeom>
          <a:noFill/>
          <a:ln/>
        </p:spPr>
        <p:txBody>
          <a:bodyPr wrap="square" lIns="0" tIns="0" rIns="0" bIns="0" rtlCol="0" anchor="t"/>
          <a:lstStyle/>
          <a:p>
            <a:pPr indent="0" marL="0">
              <a:buNone/>
            </a:pPr>
            <a:r>
              <a:rPr lang="en-US" sz="1500" b="1" dirty="0">
                <a:solidFill>
                  <a:schemeClr val="bg1"/>
                </a:solidFill>
              </a:rPr>
              <a:t>Load</a:t>
            </a:r>
            <a:endParaRPr lang="en-US" sz="1500" dirty="0"/>
          </a:p>
          <a:p>
            <a:pPr indent="0" marL="0">
              <a:buNone/>
            </a:pPr>
            <a:r>
              <a:rPr lang="en-US" sz="1200" dirty="0">
                <a:solidFill>
                  <a:srgbClr val="A9BCCF"/>
                </a:solidFill>
              </a:rPr>
              <a:t>Clean CSV + cases</a:t>
            </a:r>
            <a:endParaRPr lang="en-US" sz="1500" dirty="0"/>
          </a:p>
        </p:txBody>
      </p:sp>
      <p:sp>
        <p:nvSpPr>
          <p:cNvPr id="22" name="shape_8_19"/>
          <p:cNvSpPr/>
          <p:nvPr/>
        </p:nvSpPr>
        <p:spPr>
          <a:xfrm>
            <a:off x="640080" y="2944368"/>
            <a:ext cx="10789920" cy="0"/>
          </a:xfrm>
          <a:prstGeom prst="line">
            <a:avLst/>
          </a:prstGeom>
          <a:noFill/>
          <a:ln w="12700">
            <a:solidFill>
              <a:srgbClr val="A9BCCF">
                <a:alpha val="60000"/>
              </a:srgbClr>
            </a:solidFill>
            <a:prstDash val="dash"/>
          </a:ln>
        </p:spPr>
      </p:sp>
      <p:sp>
        <p:nvSpPr>
          <p:cNvPr id="23" name="packet_8_20"/>
          <p:cNvSpPr/>
          <p:nvPr/>
        </p:nvSpPr>
        <p:spPr>
          <a:xfrm>
            <a:off x="640080" y="2834640"/>
            <a:ext cx="219456" cy="219456"/>
          </a:xfrm>
          <a:prstGeom prst="ellipse">
            <a:avLst/>
          </a:prstGeom>
          <a:solidFill>
            <a:schemeClr val="accent1"/>
          </a:solidFill>
          <a:ln w="12700">
            <a:solidFill>
              <a:schemeClr val="bg1"/>
            </a:solidFill>
            <a:prstDash val="solid"/>
          </a:ln>
        </p:spPr>
      </p:sp>
      <p:sp>
        <p:nvSpPr>
          <p:cNvPr id="24" name="packet_8_21"/>
          <p:cNvSpPr/>
          <p:nvPr/>
        </p:nvSpPr>
        <p:spPr>
          <a:xfrm>
            <a:off x="640080" y="2834640"/>
            <a:ext cx="219456" cy="219456"/>
          </a:xfrm>
          <a:prstGeom prst="ellipse">
            <a:avLst/>
          </a:prstGeom>
          <a:solidFill>
            <a:schemeClr val="accent2"/>
          </a:solidFill>
          <a:ln w="12700">
            <a:solidFill>
              <a:schemeClr val="bg1"/>
            </a:solidFill>
            <a:prstDash val="solid"/>
          </a:ln>
        </p:spPr>
      </p:sp>
      <p:sp>
        <p:nvSpPr>
          <p:cNvPr id="25" name="packet_8_22"/>
          <p:cNvSpPr/>
          <p:nvPr/>
        </p:nvSpPr>
        <p:spPr>
          <a:xfrm>
            <a:off x="640080" y="2834640"/>
            <a:ext cx="219456" cy="219456"/>
          </a:xfrm>
          <a:prstGeom prst="ellipse">
            <a:avLst/>
          </a:prstGeom>
          <a:solidFill>
            <a:schemeClr val="accent1"/>
          </a:solidFill>
          <a:ln w="12700">
            <a:solidFill>
              <a:schemeClr val="bg1"/>
            </a:solidFill>
            <a:prstDash val="solid"/>
          </a:ln>
        </p:spPr>
      </p:sp>
      <p:sp>
        <p:nvSpPr>
          <p:cNvPr id="26" name="shape_8_23"/>
          <p:cNvSpPr/>
          <p:nvPr/>
        </p:nvSpPr>
        <p:spPr>
          <a:xfrm>
            <a:off x="548640" y="3794760"/>
            <a:ext cx="2651760" cy="1691640"/>
          </a:xfrm>
          <a:prstGeom prst="roundRect">
            <a:avLst>
              <a:gd name="adj" fmla="val 6486"/>
            </a:avLst>
          </a:prstGeom>
          <a:solidFill>
            <a:schemeClr val="bg1">
              <a:alpha val="9000"/>
            </a:schemeClr>
          </a:solidFill>
          <a:ln w="12700">
            <a:solidFill>
              <a:srgbClr val="FFFFFF">
                <a:alpha val="0"/>
              </a:srgbClr>
            </a:solidFill>
            <a:prstDash val="solid"/>
          </a:ln>
        </p:spPr>
      </p:sp>
      <p:sp>
        <p:nvSpPr>
          <p:cNvPr id="27" name="text_8_24"/>
          <p:cNvSpPr txBox="1"/>
          <p:nvPr/>
        </p:nvSpPr>
        <p:spPr>
          <a:xfrm>
            <a:off x="548640" y="3931920"/>
            <a:ext cx="2651760" cy="914400"/>
          </a:xfrm>
          <a:prstGeom prst="rect">
            <a:avLst/>
          </a:prstGeom>
          <a:noFill/>
          <a:ln/>
        </p:spPr>
        <p:txBody>
          <a:bodyPr wrap="square" lIns="0" tIns="0" rIns="0" bIns="0" rtlCol="0" anchor="ctr"/>
          <a:lstStyle/>
          <a:p>
            <a:pPr algn="ctr" indent="0" marL="0">
              <a:buNone/>
            </a:pPr>
            <a:r>
              <a:rPr lang="en-US" sz="5400" b="1" dirty="0">
                <a:solidFill>
                  <a:schemeClr val="accent2"/>
                </a:solidFill>
                <a:latin typeface="Cambria" pitchFamily="34" charset="0"/>
                <a:ea typeface="Cambria" pitchFamily="34" charset="-122"/>
                <a:cs typeface="Cambria" pitchFamily="34" charset="-120"/>
              </a:rPr>
              <a:t>463</a:t>
            </a:r>
            <a:endParaRPr lang="en-US" sz="5400" dirty="0"/>
          </a:p>
        </p:txBody>
      </p:sp>
      <p:sp>
        <p:nvSpPr>
          <p:cNvPr id="28" name="text_8_25"/>
          <p:cNvSpPr txBox="1"/>
          <p:nvPr/>
        </p:nvSpPr>
        <p:spPr>
          <a:xfrm>
            <a:off x="548640" y="4892040"/>
            <a:ext cx="2651760" cy="411480"/>
          </a:xfrm>
          <a:prstGeom prst="rect">
            <a:avLst/>
          </a:prstGeom>
          <a:noFill/>
          <a:ln/>
        </p:spPr>
        <p:txBody>
          <a:bodyPr wrap="square" lIns="0" tIns="0" rIns="0" bIns="0" rtlCol="0" anchor="ctr"/>
          <a:lstStyle/>
          <a:p>
            <a:pPr algn="ctr" indent="0" marL="0">
              <a:buNone/>
            </a:pPr>
            <a:r>
              <a:rPr lang="en-US" sz="1500" dirty="0">
                <a:solidFill>
                  <a:schemeClr val="bg1"/>
                </a:solidFill>
              </a:rPr>
              <a:t>UCI instances</a:t>
            </a:r>
            <a:endParaRPr lang="en-US" sz="1500" dirty="0"/>
          </a:p>
        </p:txBody>
      </p:sp>
      <p:sp>
        <p:nvSpPr>
          <p:cNvPr id="29" name="shape_8_26"/>
          <p:cNvSpPr/>
          <p:nvPr/>
        </p:nvSpPr>
        <p:spPr>
          <a:xfrm>
            <a:off x="3383280" y="3794760"/>
            <a:ext cx="2651760" cy="1691640"/>
          </a:xfrm>
          <a:prstGeom prst="roundRect">
            <a:avLst>
              <a:gd name="adj" fmla="val 6486"/>
            </a:avLst>
          </a:prstGeom>
          <a:solidFill>
            <a:schemeClr val="bg1">
              <a:alpha val="9000"/>
            </a:schemeClr>
          </a:solidFill>
          <a:ln w="12700">
            <a:solidFill>
              <a:srgbClr val="FFFFFF">
                <a:alpha val="0"/>
              </a:srgbClr>
            </a:solidFill>
            <a:prstDash val="solid"/>
          </a:ln>
        </p:spPr>
      </p:sp>
      <p:sp>
        <p:nvSpPr>
          <p:cNvPr id="30" name="text_8_27"/>
          <p:cNvSpPr txBox="1"/>
          <p:nvPr/>
        </p:nvSpPr>
        <p:spPr>
          <a:xfrm>
            <a:off x="3383280" y="3931920"/>
            <a:ext cx="2651760" cy="914400"/>
          </a:xfrm>
          <a:prstGeom prst="rect">
            <a:avLst/>
          </a:prstGeom>
          <a:noFill/>
          <a:ln/>
        </p:spPr>
        <p:txBody>
          <a:bodyPr wrap="square" lIns="0" tIns="0" rIns="0" bIns="0" rtlCol="0" anchor="ctr"/>
          <a:lstStyle/>
          <a:p>
            <a:pPr algn="ctr" indent="0" marL="0">
              <a:buNone/>
            </a:pPr>
            <a:r>
              <a:rPr lang="en-US" sz="5400" b="1" dirty="0">
                <a:solidFill>
                  <a:schemeClr val="accent2"/>
                </a:solidFill>
                <a:latin typeface="Cambria" pitchFamily="34" charset="0"/>
                <a:ea typeface="Cambria" pitchFamily="34" charset="-122"/>
                <a:cs typeface="Cambria" pitchFamily="34" charset="-120"/>
              </a:rPr>
              <a:t>451</a:t>
            </a:r>
            <a:endParaRPr lang="en-US" sz="5400" dirty="0"/>
          </a:p>
        </p:txBody>
      </p:sp>
      <p:sp>
        <p:nvSpPr>
          <p:cNvPr id="31" name="text_8_28"/>
          <p:cNvSpPr txBox="1"/>
          <p:nvPr/>
        </p:nvSpPr>
        <p:spPr>
          <a:xfrm>
            <a:off x="3383280" y="4892040"/>
            <a:ext cx="2651760" cy="411480"/>
          </a:xfrm>
          <a:prstGeom prst="rect">
            <a:avLst/>
          </a:prstGeom>
          <a:noFill/>
          <a:ln/>
        </p:spPr>
        <p:txBody>
          <a:bodyPr wrap="square" lIns="0" tIns="0" rIns="0" bIns="0" rtlCol="0" anchor="ctr"/>
          <a:lstStyle/>
          <a:p>
            <a:pPr algn="ctr" indent="0" marL="0">
              <a:buNone/>
            </a:pPr>
            <a:r>
              <a:rPr lang="en-US" sz="1500" dirty="0">
                <a:solidFill>
                  <a:schemeClr val="bg1"/>
                </a:solidFill>
              </a:rPr>
              <a:t>sensor rows kept</a:t>
            </a:r>
            <a:endParaRPr lang="en-US" sz="1500" dirty="0"/>
          </a:p>
        </p:txBody>
      </p:sp>
      <p:sp>
        <p:nvSpPr>
          <p:cNvPr id="32" name="shape_8_29"/>
          <p:cNvSpPr/>
          <p:nvPr/>
        </p:nvSpPr>
        <p:spPr>
          <a:xfrm>
            <a:off x="6217920" y="3794760"/>
            <a:ext cx="2651760" cy="1691640"/>
          </a:xfrm>
          <a:prstGeom prst="roundRect">
            <a:avLst>
              <a:gd name="adj" fmla="val 6486"/>
            </a:avLst>
          </a:prstGeom>
          <a:solidFill>
            <a:schemeClr val="bg1">
              <a:alpha val="9000"/>
            </a:schemeClr>
          </a:solidFill>
          <a:ln w="12700">
            <a:solidFill>
              <a:srgbClr val="FFFFFF">
                <a:alpha val="0"/>
              </a:srgbClr>
            </a:solidFill>
            <a:prstDash val="solid"/>
          </a:ln>
        </p:spPr>
      </p:sp>
      <p:sp>
        <p:nvSpPr>
          <p:cNvPr id="33" name="text_8_30"/>
          <p:cNvSpPr txBox="1"/>
          <p:nvPr/>
        </p:nvSpPr>
        <p:spPr>
          <a:xfrm>
            <a:off x="6217920" y="3931920"/>
            <a:ext cx="2651760" cy="914400"/>
          </a:xfrm>
          <a:prstGeom prst="rect">
            <a:avLst/>
          </a:prstGeom>
          <a:noFill/>
          <a:ln/>
        </p:spPr>
        <p:txBody>
          <a:bodyPr wrap="square" lIns="0" tIns="0" rIns="0" bIns="0" rtlCol="0" anchor="ctr"/>
          <a:lstStyle/>
          <a:p>
            <a:pPr algn="ctr" indent="0" marL="0">
              <a:buNone/>
            </a:pPr>
            <a:r>
              <a:rPr lang="en-US" sz="5400" b="1" dirty="0">
                <a:solidFill>
                  <a:schemeClr val="accent2"/>
                </a:solidFill>
                <a:latin typeface="Cambria" pitchFamily="34" charset="0"/>
                <a:ea typeface="Cambria" pitchFamily="34" charset="-122"/>
                <a:cs typeface="Cambria" pitchFamily="34" charset="-120"/>
              </a:rPr>
              <a:t>785</a:t>
            </a:r>
            <a:endParaRPr lang="en-US" sz="5400" dirty="0"/>
          </a:p>
        </p:txBody>
      </p:sp>
      <p:sp>
        <p:nvSpPr>
          <p:cNvPr id="34" name="text_8_31"/>
          <p:cNvSpPr txBox="1"/>
          <p:nvPr/>
        </p:nvSpPr>
        <p:spPr>
          <a:xfrm>
            <a:off x="6217920" y="4892040"/>
            <a:ext cx="2651760" cy="411480"/>
          </a:xfrm>
          <a:prstGeom prst="rect">
            <a:avLst/>
          </a:prstGeom>
          <a:noFill/>
          <a:ln/>
        </p:spPr>
        <p:txBody>
          <a:bodyPr wrap="square" lIns="0" tIns="0" rIns="0" bIns="0" rtlCol="0" anchor="ctr"/>
          <a:lstStyle/>
          <a:p>
            <a:pPr algn="ctr" indent="0" marL="0">
              <a:buNone/>
            </a:pPr>
            <a:r>
              <a:rPr lang="en-US" sz="1500" dirty="0">
                <a:solidFill>
                  <a:schemeClr val="bg1"/>
                </a:solidFill>
              </a:rPr>
              <a:t>evidence rows mapped</a:t>
            </a:r>
            <a:endParaRPr lang="en-US" sz="1500" dirty="0"/>
          </a:p>
        </p:txBody>
      </p:sp>
      <p:sp>
        <p:nvSpPr>
          <p:cNvPr id="35" name="shape_8_32"/>
          <p:cNvSpPr/>
          <p:nvPr/>
        </p:nvSpPr>
        <p:spPr>
          <a:xfrm>
            <a:off x="9052560" y="3794760"/>
            <a:ext cx="2651760" cy="1691640"/>
          </a:xfrm>
          <a:prstGeom prst="roundRect">
            <a:avLst>
              <a:gd name="adj" fmla="val 6486"/>
            </a:avLst>
          </a:prstGeom>
          <a:solidFill>
            <a:schemeClr val="bg1">
              <a:alpha val="9000"/>
            </a:schemeClr>
          </a:solidFill>
          <a:ln w="12700">
            <a:solidFill>
              <a:srgbClr val="FFFFFF">
                <a:alpha val="0"/>
              </a:srgbClr>
            </a:solidFill>
            <a:prstDash val="solid"/>
          </a:ln>
        </p:spPr>
      </p:sp>
      <p:sp>
        <p:nvSpPr>
          <p:cNvPr id="36" name="text_8_33"/>
          <p:cNvSpPr txBox="1"/>
          <p:nvPr/>
        </p:nvSpPr>
        <p:spPr>
          <a:xfrm>
            <a:off x="9052560" y="3931920"/>
            <a:ext cx="2651760" cy="914400"/>
          </a:xfrm>
          <a:prstGeom prst="rect">
            <a:avLst/>
          </a:prstGeom>
          <a:noFill/>
          <a:ln/>
        </p:spPr>
        <p:txBody>
          <a:bodyPr wrap="square" lIns="0" tIns="0" rIns="0" bIns="0" rtlCol="0" anchor="ctr"/>
          <a:lstStyle/>
          <a:p>
            <a:pPr algn="ctr" indent="0" marL="0">
              <a:buNone/>
            </a:pPr>
            <a:r>
              <a:rPr lang="en-US" sz="5400" b="1" dirty="0">
                <a:solidFill>
                  <a:schemeClr val="accent2"/>
                </a:solidFill>
                <a:latin typeface="Cambria" pitchFamily="34" charset="0"/>
                <a:ea typeface="Cambria" pitchFamily="34" charset="-122"/>
                <a:cs typeface="Cambria" pitchFamily="34" charset="-120"/>
              </a:rPr>
              <a:t>5</a:t>
            </a:r>
            <a:endParaRPr lang="en-US" sz="5400" dirty="0"/>
          </a:p>
        </p:txBody>
      </p:sp>
      <p:sp>
        <p:nvSpPr>
          <p:cNvPr id="37" name="text_8_34"/>
          <p:cNvSpPr txBox="1"/>
          <p:nvPr/>
        </p:nvSpPr>
        <p:spPr>
          <a:xfrm>
            <a:off x="9052560" y="4892040"/>
            <a:ext cx="2651760" cy="411480"/>
          </a:xfrm>
          <a:prstGeom prst="rect">
            <a:avLst/>
          </a:prstGeom>
          <a:noFill/>
          <a:ln/>
        </p:spPr>
        <p:txBody>
          <a:bodyPr wrap="square" lIns="0" tIns="0" rIns="0" bIns="0" rtlCol="0" anchor="ctr"/>
          <a:lstStyle/>
          <a:p>
            <a:pPr algn="ctr" indent="0" marL="0">
              <a:buNone/>
            </a:pPr>
            <a:r>
              <a:rPr lang="en-US" sz="1500" dirty="0">
                <a:solidFill>
                  <a:schemeClr val="bg1"/>
                </a:solidFill>
              </a:rPr>
              <a:t>LP prediction cases</a:t>
            </a:r>
            <a:endParaRPr lang="en-US" sz="1500" dirty="0"/>
          </a:p>
        </p:txBody>
      </p:sp>
      <p:sp>
        <p:nvSpPr>
          <p:cNvPr id="38" name="text_8_35"/>
          <p:cNvSpPr txBox="1"/>
          <p:nvPr/>
        </p:nvSpPr>
        <p:spPr>
          <a:xfrm>
            <a:off x="548640" y="5760720"/>
            <a:ext cx="11064240" cy="365760"/>
          </a:xfrm>
          <a:prstGeom prst="rect">
            <a:avLst/>
          </a:prstGeom>
          <a:noFill/>
          <a:ln/>
        </p:spPr>
        <p:txBody>
          <a:bodyPr wrap="square" lIns="0" tIns="0" rIns="0" bIns="0" rtlCol="0" anchor="ctr"/>
          <a:lstStyle/>
          <a:p>
            <a:pPr indent="0" marL="0">
              <a:buNone/>
            </a:pPr>
            <a:r>
              <a:rPr lang="en-US" sz="1300" dirty="0">
                <a:solidFill>
                  <a:srgbClr val="A9BCCF"/>
                </a:solidFill>
              </a:rPr>
              <a:t>Source: UCI Machine Learning Repository · DOI 10.24432/C5M89N · CC BY 4.0   |   4 outliers + 8 duplicates removed</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CCF"/>
                </a:solidFill>
              </a:defRPr>
            </a:lvl1pPr>
          </a:lstStyle>
          <a:p>
            <a:pPr algn="r"/>
            <a:fld id="{F7021451-1387-4CA6-816F-3879F97B5CBC}" type="slidenum">
              <a:rPr b="0" lang="en-US"/>
              <a:t>8</a:t>
            </a:fld>
            <a:endParaRPr lang="en-US"/>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p:cTn id="7" dur="400" fill="hold"/>
                                        <p:tgtEl>
                                          <p:spTgt spid="4"/>
                                        </p:tgtEl>
                                        <p:attrNameLst>
                                          <p:attrName>ppt_w</p:attrName>
                                        </p:attrNameLst>
                                      </p:cBhvr>
                                      <p:tavLst>
                                        <p:tav tm="0">
                                          <p:val>
                                            <p:fltVal val="0"/>
                                          </p:val>
                                        </p:tav>
                                        <p:tav tm="100000">
                                          <p:val>
                                            <p:strVal val="#ppt_w"/>
                                          </p:val>
                                        </p:tav>
                                      </p:tavLst>
                                    </p:anim>
                                    <p:anim calcmode="lin" valueType="num">
                                      <p:cBhvr>
                                        <p:cTn id="8" dur="400" fill="hold"/>
                                        <p:tgtEl>
                                          <p:spTgt spid="4"/>
                                        </p:tgtEl>
                                        <p:attrNameLst>
                                          <p:attrName>ppt_h</p:attrName>
                                        </p:attrNameLst>
                                      </p:cBhvr>
                                      <p:tavLst>
                                        <p:tav tm="0">
                                          <p:val>
                                            <p:fltVal val="0"/>
                                          </p:val>
                                        </p:tav>
                                        <p:tav tm="100000">
                                          <p:val>
                                            <p:strVal val="#ppt_h"/>
                                          </p:val>
                                        </p:tav>
                                      </p:tavLst>
                                    </p:anim>
                                    <p:animEffect transition="in" filter="fade">
                                      <p:cBhvr>
                                        <p:cTn id="9" dur="400"/>
                                        <p:tgtEl>
                                          <p:spTgt spid="4"/>
                                        </p:tgtEl>
                                      </p:cBhvr>
                                    </p:animEffect>
                                  </p:childTnLst>
                                </p:cTn>
                              </p:par>
                              <p:par>
                                <p:cTn id="10" presetID="10" presetClass="entr" presetSubtype="0" fill="hold" nodeType="withEffect">
                                  <p:stCondLst>
                                    <p:cond delay="30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300"/>
                                        <p:tgtEl>
                                          <p:spTgt spid="5"/>
                                        </p:tgtEl>
                                      </p:cBhvr>
                                    </p:animEffect>
                                  </p:childTnLst>
                                </p:cTn>
                              </p:par>
                              <p:par>
                                <p:cTn id="13" presetID="10" presetClass="entr" presetSubtype="0" fill="hold" nodeType="withEffect">
                                  <p:stCondLst>
                                    <p:cond delay="35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par>
                                <p:cTn id="16" presetID="53" presetClass="entr" presetSubtype="16" fill="hold" nodeType="withEffect">
                                  <p:stCondLst>
                                    <p:cond delay="500"/>
                                  </p:stCondLst>
                                  <p:childTnLst>
                                    <p:set>
                                      <p:cBhvr>
                                        <p:cTn id="17" dur="1" fill="hold">
                                          <p:stCondLst>
                                            <p:cond delay="0"/>
                                          </p:stCondLst>
                                        </p:cTn>
                                        <p:tgtEl>
                                          <p:spTgt spid="7"/>
                                        </p:tgtEl>
                                        <p:attrNameLst>
                                          <p:attrName>style.visibility</p:attrName>
                                        </p:attrNameLst>
                                      </p:cBhvr>
                                      <p:to>
                                        <p:strVal val="visible"/>
                                      </p:to>
                                    </p:set>
                                    <p:anim calcmode="lin" valueType="num">
                                      <p:cBhvr>
                                        <p:cTn id="18" dur="400" fill="hold"/>
                                        <p:tgtEl>
                                          <p:spTgt spid="7"/>
                                        </p:tgtEl>
                                        <p:attrNameLst>
                                          <p:attrName>ppt_w</p:attrName>
                                        </p:attrNameLst>
                                      </p:cBhvr>
                                      <p:tavLst>
                                        <p:tav tm="0">
                                          <p:val>
                                            <p:fltVal val="0"/>
                                          </p:val>
                                        </p:tav>
                                        <p:tav tm="100000">
                                          <p:val>
                                            <p:strVal val="#ppt_w"/>
                                          </p:val>
                                        </p:tav>
                                      </p:tavLst>
                                    </p:anim>
                                    <p:anim calcmode="lin" valueType="num">
                                      <p:cBhvr>
                                        <p:cTn id="19" dur="400" fill="hold"/>
                                        <p:tgtEl>
                                          <p:spTgt spid="7"/>
                                        </p:tgtEl>
                                        <p:attrNameLst>
                                          <p:attrName>ppt_h</p:attrName>
                                        </p:attrNameLst>
                                      </p:cBhvr>
                                      <p:tavLst>
                                        <p:tav tm="0">
                                          <p:val>
                                            <p:fltVal val="0"/>
                                          </p:val>
                                        </p:tav>
                                        <p:tav tm="100000">
                                          <p:val>
                                            <p:strVal val="#ppt_h"/>
                                          </p:val>
                                        </p:tav>
                                      </p:tavLst>
                                    </p:anim>
                                    <p:animEffect transition="in" filter="fade">
                                      <p:cBhvr>
                                        <p:cTn id="20" dur="400"/>
                                        <p:tgtEl>
                                          <p:spTgt spid="7"/>
                                        </p:tgtEl>
                                      </p:cBhvr>
                                    </p:animEffect>
                                  </p:childTnLst>
                                </p:cTn>
                              </p:par>
                              <p:par>
                                <p:cTn id="21" presetID="10" presetClass="entr" presetSubtype="0" fill="hold" nodeType="withEffect">
                                  <p:stCondLst>
                                    <p:cond delay="60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300"/>
                                        <p:tgtEl>
                                          <p:spTgt spid="8"/>
                                        </p:tgtEl>
                                      </p:cBhvr>
                                    </p:animEffect>
                                  </p:childTnLst>
                                </p:cTn>
                              </p:par>
                              <p:par>
                                <p:cTn id="24" presetID="10" presetClass="entr" presetSubtype="0" fill="hold" nodeType="withEffect">
                                  <p:stCondLst>
                                    <p:cond delay="65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00"/>
                                        <p:tgtEl>
                                          <p:spTgt spid="9"/>
                                        </p:tgtEl>
                                      </p:cBhvr>
                                    </p:animEffect>
                                  </p:childTnLst>
                                </p:cTn>
                              </p:par>
                              <p:par>
                                <p:cTn id="27" presetID="53" presetClass="entr" presetSubtype="16" fill="hold" nodeType="withEffect">
                                  <p:stCondLst>
                                    <p:cond delay="800"/>
                                  </p:stCondLst>
                                  <p:childTnLst>
                                    <p:set>
                                      <p:cBhvr>
                                        <p:cTn id="28" dur="1" fill="hold">
                                          <p:stCondLst>
                                            <p:cond delay="0"/>
                                          </p:stCondLst>
                                        </p:cTn>
                                        <p:tgtEl>
                                          <p:spTgt spid="10"/>
                                        </p:tgtEl>
                                        <p:attrNameLst>
                                          <p:attrName>style.visibility</p:attrName>
                                        </p:attrNameLst>
                                      </p:cBhvr>
                                      <p:to>
                                        <p:strVal val="visible"/>
                                      </p:to>
                                    </p:set>
                                    <p:anim calcmode="lin" valueType="num">
                                      <p:cBhvr>
                                        <p:cTn id="29" dur="400" fill="hold"/>
                                        <p:tgtEl>
                                          <p:spTgt spid="10"/>
                                        </p:tgtEl>
                                        <p:attrNameLst>
                                          <p:attrName>ppt_w</p:attrName>
                                        </p:attrNameLst>
                                      </p:cBhvr>
                                      <p:tavLst>
                                        <p:tav tm="0">
                                          <p:val>
                                            <p:fltVal val="0"/>
                                          </p:val>
                                        </p:tav>
                                        <p:tav tm="100000">
                                          <p:val>
                                            <p:strVal val="#ppt_w"/>
                                          </p:val>
                                        </p:tav>
                                      </p:tavLst>
                                    </p:anim>
                                    <p:anim calcmode="lin" valueType="num">
                                      <p:cBhvr>
                                        <p:cTn id="30" dur="400" fill="hold"/>
                                        <p:tgtEl>
                                          <p:spTgt spid="10"/>
                                        </p:tgtEl>
                                        <p:attrNameLst>
                                          <p:attrName>ppt_h</p:attrName>
                                        </p:attrNameLst>
                                      </p:cBhvr>
                                      <p:tavLst>
                                        <p:tav tm="0">
                                          <p:val>
                                            <p:fltVal val="0"/>
                                          </p:val>
                                        </p:tav>
                                        <p:tav tm="100000">
                                          <p:val>
                                            <p:strVal val="#ppt_h"/>
                                          </p:val>
                                        </p:tav>
                                      </p:tavLst>
                                    </p:anim>
                                    <p:animEffect transition="in" filter="fade">
                                      <p:cBhvr>
                                        <p:cTn id="31" dur="400"/>
                                        <p:tgtEl>
                                          <p:spTgt spid="10"/>
                                        </p:tgtEl>
                                      </p:cBhvr>
                                    </p:animEffect>
                                  </p:childTnLst>
                                </p:cTn>
                              </p:par>
                              <p:par>
                                <p:cTn id="32" presetID="10" presetClass="entr" presetSubtype="0" fill="hold" nodeType="withEffect">
                                  <p:stCondLst>
                                    <p:cond delay="9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00"/>
                                        <p:tgtEl>
                                          <p:spTgt spid="11"/>
                                        </p:tgtEl>
                                      </p:cBhvr>
                                    </p:animEffect>
                                  </p:childTnLst>
                                </p:cTn>
                              </p:par>
                              <p:par>
                                <p:cTn id="35" presetID="10" presetClass="entr" presetSubtype="0" fill="hold" nodeType="withEffect">
                                  <p:stCondLst>
                                    <p:cond delay="95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400"/>
                                        <p:tgtEl>
                                          <p:spTgt spid="12"/>
                                        </p:tgtEl>
                                      </p:cBhvr>
                                    </p:animEffect>
                                  </p:childTnLst>
                                </p:cTn>
                              </p:par>
                              <p:par>
                                <p:cTn id="38" presetID="53" presetClass="entr" presetSubtype="16" fill="hold" nodeType="withEffect">
                                  <p:stCondLst>
                                    <p:cond delay="1100"/>
                                  </p:stCondLst>
                                  <p:childTnLst>
                                    <p:set>
                                      <p:cBhvr>
                                        <p:cTn id="39" dur="1" fill="hold">
                                          <p:stCondLst>
                                            <p:cond delay="0"/>
                                          </p:stCondLst>
                                        </p:cTn>
                                        <p:tgtEl>
                                          <p:spTgt spid="13"/>
                                        </p:tgtEl>
                                        <p:attrNameLst>
                                          <p:attrName>style.visibility</p:attrName>
                                        </p:attrNameLst>
                                      </p:cBhvr>
                                      <p:to>
                                        <p:strVal val="visible"/>
                                      </p:to>
                                    </p:set>
                                    <p:anim calcmode="lin" valueType="num">
                                      <p:cBhvr>
                                        <p:cTn id="40" dur="400" fill="hold"/>
                                        <p:tgtEl>
                                          <p:spTgt spid="13"/>
                                        </p:tgtEl>
                                        <p:attrNameLst>
                                          <p:attrName>ppt_w</p:attrName>
                                        </p:attrNameLst>
                                      </p:cBhvr>
                                      <p:tavLst>
                                        <p:tav tm="0">
                                          <p:val>
                                            <p:fltVal val="0"/>
                                          </p:val>
                                        </p:tav>
                                        <p:tav tm="100000">
                                          <p:val>
                                            <p:strVal val="#ppt_w"/>
                                          </p:val>
                                        </p:tav>
                                      </p:tavLst>
                                    </p:anim>
                                    <p:anim calcmode="lin" valueType="num">
                                      <p:cBhvr>
                                        <p:cTn id="41" dur="400" fill="hold"/>
                                        <p:tgtEl>
                                          <p:spTgt spid="13"/>
                                        </p:tgtEl>
                                        <p:attrNameLst>
                                          <p:attrName>ppt_h</p:attrName>
                                        </p:attrNameLst>
                                      </p:cBhvr>
                                      <p:tavLst>
                                        <p:tav tm="0">
                                          <p:val>
                                            <p:fltVal val="0"/>
                                          </p:val>
                                        </p:tav>
                                        <p:tav tm="100000">
                                          <p:val>
                                            <p:strVal val="#ppt_h"/>
                                          </p:val>
                                        </p:tav>
                                      </p:tavLst>
                                    </p:anim>
                                    <p:animEffect transition="in" filter="fade">
                                      <p:cBhvr>
                                        <p:cTn id="42" dur="400"/>
                                        <p:tgtEl>
                                          <p:spTgt spid="13"/>
                                        </p:tgtEl>
                                      </p:cBhvr>
                                    </p:animEffect>
                                  </p:childTnLst>
                                </p:cTn>
                              </p:par>
                              <p:par>
                                <p:cTn id="43" presetID="10" presetClass="entr" presetSubtype="0" fill="hold" nodeType="withEffect">
                                  <p:stCondLst>
                                    <p:cond delay="120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300"/>
                                        <p:tgtEl>
                                          <p:spTgt spid="14"/>
                                        </p:tgtEl>
                                      </p:cBhvr>
                                    </p:animEffect>
                                  </p:childTnLst>
                                </p:cTn>
                              </p:par>
                              <p:par>
                                <p:cTn id="46" presetID="10" presetClass="entr" presetSubtype="0" fill="hold" nodeType="withEffect">
                                  <p:stCondLst>
                                    <p:cond delay="125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400"/>
                                        <p:tgtEl>
                                          <p:spTgt spid="15"/>
                                        </p:tgtEl>
                                      </p:cBhvr>
                                    </p:animEffect>
                                  </p:childTnLst>
                                </p:cTn>
                              </p:par>
                              <p:par>
                                <p:cTn id="49" presetID="53" presetClass="entr" presetSubtype="16" fill="hold" nodeType="withEffect">
                                  <p:stCondLst>
                                    <p:cond delay="1400"/>
                                  </p:stCondLst>
                                  <p:childTnLst>
                                    <p:set>
                                      <p:cBhvr>
                                        <p:cTn id="50" dur="1" fill="hold">
                                          <p:stCondLst>
                                            <p:cond delay="0"/>
                                          </p:stCondLst>
                                        </p:cTn>
                                        <p:tgtEl>
                                          <p:spTgt spid="16"/>
                                        </p:tgtEl>
                                        <p:attrNameLst>
                                          <p:attrName>style.visibility</p:attrName>
                                        </p:attrNameLst>
                                      </p:cBhvr>
                                      <p:to>
                                        <p:strVal val="visible"/>
                                      </p:to>
                                    </p:set>
                                    <p:anim calcmode="lin" valueType="num">
                                      <p:cBhvr>
                                        <p:cTn id="51" dur="400" fill="hold"/>
                                        <p:tgtEl>
                                          <p:spTgt spid="16"/>
                                        </p:tgtEl>
                                        <p:attrNameLst>
                                          <p:attrName>ppt_w</p:attrName>
                                        </p:attrNameLst>
                                      </p:cBhvr>
                                      <p:tavLst>
                                        <p:tav tm="0">
                                          <p:val>
                                            <p:fltVal val="0"/>
                                          </p:val>
                                        </p:tav>
                                        <p:tav tm="100000">
                                          <p:val>
                                            <p:strVal val="#ppt_w"/>
                                          </p:val>
                                        </p:tav>
                                      </p:tavLst>
                                    </p:anim>
                                    <p:anim calcmode="lin" valueType="num">
                                      <p:cBhvr>
                                        <p:cTn id="52" dur="400" fill="hold"/>
                                        <p:tgtEl>
                                          <p:spTgt spid="16"/>
                                        </p:tgtEl>
                                        <p:attrNameLst>
                                          <p:attrName>ppt_h</p:attrName>
                                        </p:attrNameLst>
                                      </p:cBhvr>
                                      <p:tavLst>
                                        <p:tav tm="0">
                                          <p:val>
                                            <p:fltVal val="0"/>
                                          </p:val>
                                        </p:tav>
                                        <p:tav tm="100000">
                                          <p:val>
                                            <p:strVal val="#ppt_h"/>
                                          </p:val>
                                        </p:tav>
                                      </p:tavLst>
                                    </p:anim>
                                    <p:animEffect transition="in" filter="fade">
                                      <p:cBhvr>
                                        <p:cTn id="53" dur="400"/>
                                        <p:tgtEl>
                                          <p:spTgt spid="16"/>
                                        </p:tgtEl>
                                      </p:cBhvr>
                                    </p:animEffect>
                                  </p:childTnLst>
                                </p:cTn>
                              </p:par>
                              <p:par>
                                <p:cTn id="54" presetID="10" presetClass="entr" presetSubtype="0" fill="hold" nodeType="withEffect">
                                  <p:stCondLst>
                                    <p:cond delay="150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300"/>
                                        <p:tgtEl>
                                          <p:spTgt spid="17"/>
                                        </p:tgtEl>
                                      </p:cBhvr>
                                    </p:animEffect>
                                  </p:childTnLst>
                                </p:cTn>
                              </p:par>
                              <p:par>
                                <p:cTn id="57" presetID="10" presetClass="entr" presetSubtype="0" fill="hold" nodeType="withEffect">
                                  <p:stCondLst>
                                    <p:cond delay="155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400"/>
                                        <p:tgtEl>
                                          <p:spTgt spid="18"/>
                                        </p:tgtEl>
                                      </p:cBhvr>
                                    </p:animEffect>
                                  </p:childTnLst>
                                </p:cTn>
                              </p:par>
                              <p:par>
                                <p:cTn id="60" presetID="53" presetClass="entr" presetSubtype="16" fill="hold" nodeType="withEffect">
                                  <p:stCondLst>
                                    <p:cond delay="1700"/>
                                  </p:stCondLst>
                                  <p:childTnLst>
                                    <p:set>
                                      <p:cBhvr>
                                        <p:cTn id="61" dur="1" fill="hold">
                                          <p:stCondLst>
                                            <p:cond delay="0"/>
                                          </p:stCondLst>
                                        </p:cTn>
                                        <p:tgtEl>
                                          <p:spTgt spid="19"/>
                                        </p:tgtEl>
                                        <p:attrNameLst>
                                          <p:attrName>style.visibility</p:attrName>
                                        </p:attrNameLst>
                                      </p:cBhvr>
                                      <p:to>
                                        <p:strVal val="visible"/>
                                      </p:to>
                                    </p:set>
                                    <p:anim calcmode="lin" valueType="num">
                                      <p:cBhvr>
                                        <p:cTn id="62" dur="400" fill="hold"/>
                                        <p:tgtEl>
                                          <p:spTgt spid="19"/>
                                        </p:tgtEl>
                                        <p:attrNameLst>
                                          <p:attrName>ppt_w</p:attrName>
                                        </p:attrNameLst>
                                      </p:cBhvr>
                                      <p:tavLst>
                                        <p:tav tm="0">
                                          <p:val>
                                            <p:fltVal val="0"/>
                                          </p:val>
                                        </p:tav>
                                        <p:tav tm="100000">
                                          <p:val>
                                            <p:strVal val="#ppt_w"/>
                                          </p:val>
                                        </p:tav>
                                      </p:tavLst>
                                    </p:anim>
                                    <p:anim calcmode="lin" valueType="num">
                                      <p:cBhvr>
                                        <p:cTn id="63" dur="400" fill="hold"/>
                                        <p:tgtEl>
                                          <p:spTgt spid="19"/>
                                        </p:tgtEl>
                                        <p:attrNameLst>
                                          <p:attrName>ppt_h</p:attrName>
                                        </p:attrNameLst>
                                      </p:cBhvr>
                                      <p:tavLst>
                                        <p:tav tm="0">
                                          <p:val>
                                            <p:fltVal val="0"/>
                                          </p:val>
                                        </p:tav>
                                        <p:tav tm="100000">
                                          <p:val>
                                            <p:strVal val="#ppt_h"/>
                                          </p:val>
                                        </p:tav>
                                      </p:tavLst>
                                    </p:anim>
                                    <p:animEffect transition="in" filter="fade">
                                      <p:cBhvr>
                                        <p:cTn id="64" dur="400"/>
                                        <p:tgtEl>
                                          <p:spTgt spid="19"/>
                                        </p:tgtEl>
                                      </p:cBhvr>
                                    </p:animEffect>
                                  </p:childTnLst>
                                </p:cTn>
                              </p:par>
                              <p:par>
                                <p:cTn id="65" presetID="10" presetClass="entr" presetSubtype="0" fill="hold" nodeType="withEffect">
                                  <p:stCondLst>
                                    <p:cond delay="180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300"/>
                                        <p:tgtEl>
                                          <p:spTgt spid="20"/>
                                        </p:tgtEl>
                                      </p:cBhvr>
                                    </p:animEffect>
                                  </p:childTnLst>
                                </p:cTn>
                              </p:par>
                              <p:par>
                                <p:cTn id="68" presetID="10" presetClass="entr" presetSubtype="0" fill="hold" nodeType="withEffect">
                                  <p:stCondLst>
                                    <p:cond delay="1850"/>
                                  </p:stCondLst>
                                  <p:childTnLst>
                                    <p:set>
                                      <p:cBhvr>
                                        <p:cTn id="69" dur="1" fill="hold">
                                          <p:stCondLst>
                                            <p:cond delay="0"/>
                                          </p:stCondLst>
                                        </p:cTn>
                                        <p:tgtEl>
                                          <p:spTgt spid="21"/>
                                        </p:tgtEl>
                                        <p:attrNameLst>
                                          <p:attrName>style.visibility</p:attrName>
                                        </p:attrNameLst>
                                      </p:cBhvr>
                                      <p:to>
                                        <p:strVal val="visible"/>
                                      </p:to>
                                    </p:set>
                                    <p:animEffect transition="in" filter="fade">
                                      <p:cBhvr>
                                        <p:cTn id="70" dur="400"/>
                                        <p:tgtEl>
                                          <p:spTgt spid="21"/>
                                        </p:tgtEl>
                                      </p:cBhvr>
                                    </p:animEffect>
                                  </p:childTnLst>
                                </p:cTn>
                              </p:par>
                              <p:par>
                                <p:cTn id="71" presetID="10" presetClass="entr" presetSubtype="0" fill="hold" nodeType="withEffect">
                                  <p:stCondLst>
                                    <p:cond delay="2000"/>
                                  </p:stCondLst>
                                  <p:childTnLst>
                                    <p:set>
                                      <p:cBhvr>
                                        <p:cTn id="72" dur="1" fill="hold">
                                          <p:stCondLst>
                                            <p:cond delay="0"/>
                                          </p:stCondLst>
                                        </p:cTn>
                                        <p:tgtEl>
                                          <p:spTgt spid="22"/>
                                        </p:tgtEl>
                                        <p:attrNameLst>
                                          <p:attrName>style.visibility</p:attrName>
                                        </p:attrNameLst>
                                      </p:cBhvr>
                                      <p:to>
                                        <p:strVal val="visible"/>
                                      </p:to>
                                    </p:set>
                                    <p:animEffect transition="in" filter="fade">
                                      <p:cBhvr>
                                        <p:cTn id="73" dur="300"/>
                                        <p:tgtEl>
                                          <p:spTgt spid="22"/>
                                        </p:tgtEl>
                                      </p:cBhvr>
                                    </p:animEffect>
                                  </p:childTnLst>
                                </p:cTn>
                              </p:par>
                              <p:par>
                                <p:cTn id="74" presetID="10" presetClass="entr" presetSubtype="0" fill="hold" nodeType="withEffect">
                                  <p:stCondLst>
                                    <p:cond delay="2100"/>
                                  </p:stCondLst>
                                  <p:childTnLst>
                                    <p:set>
                                      <p:cBhvr>
                                        <p:cTn id="75" dur="1" fill="hold">
                                          <p:stCondLst>
                                            <p:cond delay="0"/>
                                          </p:stCondLst>
                                        </p:cTn>
                                        <p:tgtEl>
                                          <p:spTgt spid="23"/>
                                        </p:tgtEl>
                                        <p:attrNameLst>
                                          <p:attrName>style.visibility</p:attrName>
                                        </p:attrNameLst>
                                      </p:cBhvr>
                                      <p:to>
                                        <p:strVal val="visible"/>
                                      </p:to>
                                    </p:set>
                                    <p:animEffect transition="in" filter="fade">
                                      <p:cBhvr>
                                        <p:cTn id="76" dur="300"/>
                                        <p:tgtEl>
                                          <p:spTgt spid="23"/>
                                        </p:tgtEl>
                                      </p:cBhvr>
                                    </p:animEffect>
                                  </p:childTnLst>
                                </p:cTn>
                              </p:par>
                              <p:par>
                                <p:cTn id="77" presetID="10" presetClass="entr" presetSubtype="0" fill="hold" nodeType="withEffect">
                                  <p:stCondLst>
                                    <p:cond delay="2100"/>
                                  </p:stCondLst>
                                  <p:childTnLst>
                                    <p:set>
                                      <p:cBhvr>
                                        <p:cTn id="78" dur="1" fill="hold">
                                          <p:stCondLst>
                                            <p:cond delay="0"/>
                                          </p:stCondLst>
                                        </p:cTn>
                                        <p:tgtEl>
                                          <p:spTgt spid="24"/>
                                        </p:tgtEl>
                                        <p:attrNameLst>
                                          <p:attrName>style.visibility</p:attrName>
                                        </p:attrNameLst>
                                      </p:cBhvr>
                                      <p:to>
                                        <p:strVal val="visible"/>
                                      </p:to>
                                    </p:set>
                                    <p:animEffect transition="in" filter="fade">
                                      <p:cBhvr>
                                        <p:cTn id="79" dur="300"/>
                                        <p:tgtEl>
                                          <p:spTgt spid="24"/>
                                        </p:tgtEl>
                                      </p:cBhvr>
                                    </p:animEffect>
                                  </p:childTnLst>
                                </p:cTn>
                              </p:par>
                              <p:par>
                                <p:cTn id="80" presetID="10" presetClass="entr" presetSubtype="0" fill="hold" nodeType="withEffect">
                                  <p:stCondLst>
                                    <p:cond delay="2100"/>
                                  </p:stCondLst>
                                  <p:childTnLst>
                                    <p:set>
                                      <p:cBhvr>
                                        <p:cTn id="81" dur="1" fill="hold">
                                          <p:stCondLst>
                                            <p:cond delay="0"/>
                                          </p:stCondLst>
                                        </p:cTn>
                                        <p:tgtEl>
                                          <p:spTgt spid="25"/>
                                        </p:tgtEl>
                                        <p:attrNameLst>
                                          <p:attrName>style.visibility</p:attrName>
                                        </p:attrNameLst>
                                      </p:cBhvr>
                                      <p:to>
                                        <p:strVal val="visible"/>
                                      </p:to>
                                    </p:set>
                                    <p:animEffect transition="in" filter="fade">
                                      <p:cBhvr>
                                        <p:cTn id="82" dur="300"/>
                                        <p:tgtEl>
                                          <p:spTgt spid="25"/>
                                        </p:tgtEl>
                                      </p:cBhvr>
                                    </p:animEffect>
                                  </p:childTnLst>
                                </p:cTn>
                              </p:par>
                              <p:par>
                                <p:cTn id="83" presetID="0" presetClass="path" presetSubtype="0" repeatCount="indefinite" fill="hold" nodeType="withEffect">
                                  <p:stCondLst>
                                    <p:cond delay="2300"/>
                                  </p:stCondLst>
                                  <p:childTnLst>
                                    <p:animMotion origin="layout" path="M 0 0 L 0.88500 0.00000 E" pathEditMode="relative" rAng="0" ptsTypes="AA">
                                      <p:cBhvr>
                                        <p:cTn id="84" dur="3300" fill="hold"/>
                                        <p:tgtEl>
                                          <p:spTgt spid="23"/>
                                        </p:tgtEl>
                                        <p:attrNameLst>
                                          <p:attrName>ppt_x</p:attrName>
                                          <p:attrName>ppt_y</p:attrName>
                                        </p:attrNameLst>
                                      </p:cBhvr>
                                      <p:rCtr x="0.44250" y="0.00000"/>
                                    </p:animMotion>
                                  </p:childTnLst>
                                </p:cTn>
                              </p:par>
                              <p:par>
                                <p:cTn id="85" presetID="2" presetClass="entr" presetSubtype="4" fill="hold" nodeType="withEffect">
                                  <p:stCondLst>
                                    <p:cond delay="2400"/>
                                  </p:stCondLst>
                                  <p:childTnLst>
                                    <p:set>
                                      <p:cBhvr>
                                        <p:cTn id="86" dur="1" fill="hold">
                                          <p:stCondLst>
                                            <p:cond delay="0"/>
                                          </p:stCondLst>
                                        </p:cTn>
                                        <p:tgtEl>
                                          <p:spTgt spid="26"/>
                                        </p:tgtEl>
                                        <p:attrNameLst>
                                          <p:attrName>style.visibility</p:attrName>
                                        </p:attrNameLst>
                                      </p:cBhvr>
                                      <p:to>
                                        <p:strVal val="visible"/>
                                      </p:to>
                                    </p:set>
                                    <p:anim calcmode="lin" valueType="num">
                                      <p:cBhvr additive="base">
                                        <p:cTn id="87" dur="500" fill="hold"/>
                                        <p:tgtEl>
                                          <p:spTgt spid="26"/>
                                        </p:tgtEl>
                                        <p:attrNameLst>
                                          <p:attrName>ppt_x</p:attrName>
                                        </p:attrNameLst>
                                      </p:cBhvr>
                                      <p:tavLst>
                                        <p:tav tm="0">
                                          <p:val>
                                            <p:strVal val="#ppt_x"/>
                                          </p:val>
                                        </p:tav>
                                        <p:tav tm="100000">
                                          <p:val>
                                            <p:strVal val="#ppt_x"/>
                                          </p:val>
                                        </p:tav>
                                      </p:tavLst>
                                    </p:anim>
                                    <p:anim calcmode="lin" valueType="num">
                                      <p:cBhvr additive="base">
                                        <p:cTn id="88" dur="500" fill="hold"/>
                                        <p:tgtEl>
                                          <p:spTgt spid="26"/>
                                        </p:tgtEl>
                                        <p:attrNameLst>
                                          <p:attrName>ppt_y</p:attrName>
                                        </p:attrNameLst>
                                      </p:cBhvr>
                                      <p:tavLst>
                                        <p:tav tm="0">
                                          <p:val>
                                            <p:strVal val="1+#ppt_h/2"/>
                                          </p:val>
                                        </p:tav>
                                        <p:tav tm="100000">
                                          <p:val>
                                            <p:strVal val="#ppt_y"/>
                                          </p:val>
                                        </p:tav>
                                      </p:tavLst>
                                    </p:anim>
                                  </p:childTnLst>
                                </p:cTn>
                              </p:par>
                              <p:par>
                                <p:cTn id="89" presetID="53" presetClass="entr" presetSubtype="16" fill="hold" nodeType="withEffect">
                                  <p:stCondLst>
                                    <p:cond delay="2500"/>
                                  </p:stCondLst>
                                  <p:childTnLst>
                                    <p:set>
                                      <p:cBhvr>
                                        <p:cTn id="90" dur="1" fill="hold">
                                          <p:stCondLst>
                                            <p:cond delay="0"/>
                                          </p:stCondLst>
                                        </p:cTn>
                                        <p:tgtEl>
                                          <p:spTgt spid="27"/>
                                        </p:tgtEl>
                                        <p:attrNameLst>
                                          <p:attrName>style.visibility</p:attrName>
                                        </p:attrNameLst>
                                      </p:cBhvr>
                                      <p:to>
                                        <p:strVal val="visible"/>
                                      </p:to>
                                    </p:set>
                                    <p:anim calcmode="lin" valueType="num">
                                      <p:cBhvr>
                                        <p:cTn id="91" dur="450" fill="hold"/>
                                        <p:tgtEl>
                                          <p:spTgt spid="27"/>
                                        </p:tgtEl>
                                        <p:attrNameLst>
                                          <p:attrName>ppt_w</p:attrName>
                                        </p:attrNameLst>
                                      </p:cBhvr>
                                      <p:tavLst>
                                        <p:tav tm="0">
                                          <p:val>
                                            <p:fltVal val="0"/>
                                          </p:val>
                                        </p:tav>
                                        <p:tav tm="100000">
                                          <p:val>
                                            <p:strVal val="#ppt_w"/>
                                          </p:val>
                                        </p:tav>
                                      </p:tavLst>
                                    </p:anim>
                                    <p:anim calcmode="lin" valueType="num">
                                      <p:cBhvr>
                                        <p:cTn id="92" dur="450" fill="hold"/>
                                        <p:tgtEl>
                                          <p:spTgt spid="27"/>
                                        </p:tgtEl>
                                        <p:attrNameLst>
                                          <p:attrName>ppt_h</p:attrName>
                                        </p:attrNameLst>
                                      </p:cBhvr>
                                      <p:tavLst>
                                        <p:tav tm="0">
                                          <p:val>
                                            <p:fltVal val="0"/>
                                          </p:val>
                                        </p:tav>
                                        <p:tav tm="100000">
                                          <p:val>
                                            <p:strVal val="#ppt_h"/>
                                          </p:val>
                                        </p:tav>
                                      </p:tavLst>
                                    </p:anim>
                                    <p:animEffect transition="in" filter="fade">
                                      <p:cBhvr>
                                        <p:cTn id="93" dur="450"/>
                                        <p:tgtEl>
                                          <p:spTgt spid="27"/>
                                        </p:tgtEl>
                                      </p:cBhvr>
                                    </p:animEffect>
                                  </p:childTnLst>
                                </p:cTn>
                              </p:par>
                              <p:par>
                                <p:cTn id="94" presetID="10" presetClass="entr" presetSubtype="0" fill="hold" nodeType="withEffect">
                                  <p:stCondLst>
                                    <p:cond delay="2700"/>
                                  </p:stCondLst>
                                  <p:childTnLst>
                                    <p:set>
                                      <p:cBhvr>
                                        <p:cTn id="95" dur="1" fill="hold">
                                          <p:stCondLst>
                                            <p:cond delay="0"/>
                                          </p:stCondLst>
                                        </p:cTn>
                                        <p:tgtEl>
                                          <p:spTgt spid="28"/>
                                        </p:tgtEl>
                                        <p:attrNameLst>
                                          <p:attrName>style.visibility</p:attrName>
                                        </p:attrNameLst>
                                      </p:cBhvr>
                                      <p:to>
                                        <p:strVal val="visible"/>
                                      </p:to>
                                    </p:set>
                                    <p:animEffect transition="in" filter="fade">
                                      <p:cBhvr>
                                        <p:cTn id="96" dur="400"/>
                                        <p:tgtEl>
                                          <p:spTgt spid="28"/>
                                        </p:tgtEl>
                                      </p:cBhvr>
                                    </p:animEffect>
                                  </p:childTnLst>
                                </p:cTn>
                              </p:par>
                              <p:par>
                                <p:cTn id="97" presetID="2" presetClass="entr" presetSubtype="4" fill="hold" nodeType="withEffect">
                                  <p:stCondLst>
                                    <p:cond delay="2700"/>
                                  </p:stCondLst>
                                  <p:childTnLst>
                                    <p:set>
                                      <p:cBhvr>
                                        <p:cTn id="98" dur="1" fill="hold">
                                          <p:stCondLst>
                                            <p:cond delay="0"/>
                                          </p:stCondLst>
                                        </p:cTn>
                                        <p:tgtEl>
                                          <p:spTgt spid="29"/>
                                        </p:tgtEl>
                                        <p:attrNameLst>
                                          <p:attrName>style.visibility</p:attrName>
                                        </p:attrNameLst>
                                      </p:cBhvr>
                                      <p:to>
                                        <p:strVal val="visible"/>
                                      </p:to>
                                    </p:set>
                                    <p:anim calcmode="lin" valueType="num">
                                      <p:cBhvr additive="base">
                                        <p:cTn id="99" dur="500" fill="hold"/>
                                        <p:tgtEl>
                                          <p:spTgt spid="29"/>
                                        </p:tgtEl>
                                        <p:attrNameLst>
                                          <p:attrName>ppt_x</p:attrName>
                                        </p:attrNameLst>
                                      </p:cBhvr>
                                      <p:tavLst>
                                        <p:tav tm="0">
                                          <p:val>
                                            <p:strVal val="#ppt_x"/>
                                          </p:val>
                                        </p:tav>
                                        <p:tav tm="100000">
                                          <p:val>
                                            <p:strVal val="#ppt_x"/>
                                          </p:val>
                                        </p:tav>
                                      </p:tavLst>
                                    </p:anim>
                                    <p:anim calcmode="lin" valueType="num">
                                      <p:cBhvr additive="base">
                                        <p:cTn id="100" dur="500" fill="hold"/>
                                        <p:tgtEl>
                                          <p:spTgt spid="29"/>
                                        </p:tgtEl>
                                        <p:attrNameLst>
                                          <p:attrName>ppt_y</p:attrName>
                                        </p:attrNameLst>
                                      </p:cBhvr>
                                      <p:tavLst>
                                        <p:tav tm="0">
                                          <p:val>
                                            <p:strVal val="1+#ppt_h/2"/>
                                          </p:val>
                                        </p:tav>
                                        <p:tav tm="100000">
                                          <p:val>
                                            <p:strVal val="#ppt_y"/>
                                          </p:val>
                                        </p:tav>
                                      </p:tavLst>
                                    </p:anim>
                                  </p:childTnLst>
                                </p:cTn>
                              </p:par>
                              <p:par>
                                <p:cTn id="101" presetID="53" presetClass="entr" presetSubtype="16" fill="hold" nodeType="withEffect">
                                  <p:stCondLst>
                                    <p:cond delay="2800"/>
                                  </p:stCondLst>
                                  <p:childTnLst>
                                    <p:set>
                                      <p:cBhvr>
                                        <p:cTn id="102" dur="1" fill="hold">
                                          <p:stCondLst>
                                            <p:cond delay="0"/>
                                          </p:stCondLst>
                                        </p:cTn>
                                        <p:tgtEl>
                                          <p:spTgt spid="30"/>
                                        </p:tgtEl>
                                        <p:attrNameLst>
                                          <p:attrName>style.visibility</p:attrName>
                                        </p:attrNameLst>
                                      </p:cBhvr>
                                      <p:to>
                                        <p:strVal val="visible"/>
                                      </p:to>
                                    </p:set>
                                    <p:anim calcmode="lin" valueType="num">
                                      <p:cBhvr>
                                        <p:cTn id="103" dur="450" fill="hold"/>
                                        <p:tgtEl>
                                          <p:spTgt spid="30"/>
                                        </p:tgtEl>
                                        <p:attrNameLst>
                                          <p:attrName>ppt_w</p:attrName>
                                        </p:attrNameLst>
                                      </p:cBhvr>
                                      <p:tavLst>
                                        <p:tav tm="0">
                                          <p:val>
                                            <p:fltVal val="0"/>
                                          </p:val>
                                        </p:tav>
                                        <p:tav tm="100000">
                                          <p:val>
                                            <p:strVal val="#ppt_w"/>
                                          </p:val>
                                        </p:tav>
                                      </p:tavLst>
                                    </p:anim>
                                    <p:anim calcmode="lin" valueType="num">
                                      <p:cBhvr>
                                        <p:cTn id="104" dur="450" fill="hold"/>
                                        <p:tgtEl>
                                          <p:spTgt spid="30"/>
                                        </p:tgtEl>
                                        <p:attrNameLst>
                                          <p:attrName>ppt_h</p:attrName>
                                        </p:attrNameLst>
                                      </p:cBhvr>
                                      <p:tavLst>
                                        <p:tav tm="0">
                                          <p:val>
                                            <p:fltVal val="0"/>
                                          </p:val>
                                        </p:tav>
                                        <p:tav tm="100000">
                                          <p:val>
                                            <p:strVal val="#ppt_h"/>
                                          </p:val>
                                        </p:tav>
                                      </p:tavLst>
                                    </p:anim>
                                    <p:animEffect transition="in" filter="fade">
                                      <p:cBhvr>
                                        <p:cTn id="105" dur="450"/>
                                        <p:tgtEl>
                                          <p:spTgt spid="30"/>
                                        </p:tgtEl>
                                      </p:cBhvr>
                                    </p:animEffect>
                                  </p:childTnLst>
                                </p:cTn>
                              </p:par>
                              <p:par>
                                <p:cTn id="106" presetID="10" presetClass="entr" presetSubtype="0" fill="hold" nodeType="withEffect">
                                  <p:stCondLst>
                                    <p:cond delay="3000"/>
                                  </p:stCondLst>
                                  <p:childTnLst>
                                    <p:set>
                                      <p:cBhvr>
                                        <p:cTn id="107" dur="1" fill="hold">
                                          <p:stCondLst>
                                            <p:cond delay="0"/>
                                          </p:stCondLst>
                                        </p:cTn>
                                        <p:tgtEl>
                                          <p:spTgt spid="31"/>
                                        </p:tgtEl>
                                        <p:attrNameLst>
                                          <p:attrName>style.visibility</p:attrName>
                                        </p:attrNameLst>
                                      </p:cBhvr>
                                      <p:to>
                                        <p:strVal val="visible"/>
                                      </p:to>
                                    </p:set>
                                    <p:animEffect transition="in" filter="fade">
                                      <p:cBhvr>
                                        <p:cTn id="108" dur="400"/>
                                        <p:tgtEl>
                                          <p:spTgt spid="31"/>
                                        </p:tgtEl>
                                      </p:cBhvr>
                                    </p:animEffect>
                                  </p:childTnLst>
                                </p:cTn>
                              </p:par>
                              <p:par>
                                <p:cTn id="109" presetID="2" presetClass="entr" presetSubtype="4" fill="hold" nodeType="withEffect">
                                  <p:stCondLst>
                                    <p:cond delay="3000"/>
                                  </p:stCondLst>
                                  <p:childTnLst>
                                    <p:set>
                                      <p:cBhvr>
                                        <p:cTn id="110" dur="1" fill="hold">
                                          <p:stCondLst>
                                            <p:cond delay="0"/>
                                          </p:stCondLst>
                                        </p:cTn>
                                        <p:tgtEl>
                                          <p:spTgt spid="32"/>
                                        </p:tgtEl>
                                        <p:attrNameLst>
                                          <p:attrName>style.visibility</p:attrName>
                                        </p:attrNameLst>
                                      </p:cBhvr>
                                      <p:to>
                                        <p:strVal val="visible"/>
                                      </p:to>
                                    </p:set>
                                    <p:anim calcmode="lin" valueType="num">
                                      <p:cBhvr additive="base">
                                        <p:cTn id="111" dur="500" fill="hold"/>
                                        <p:tgtEl>
                                          <p:spTgt spid="32"/>
                                        </p:tgtEl>
                                        <p:attrNameLst>
                                          <p:attrName>ppt_x</p:attrName>
                                        </p:attrNameLst>
                                      </p:cBhvr>
                                      <p:tavLst>
                                        <p:tav tm="0">
                                          <p:val>
                                            <p:strVal val="#ppt_x"/>
                                          </p:val>
                                        </p:tav>
                                        <p:tav tm="100000">
                                          <p:val>
                                            <p:strVal val="#ppt_x"/>
                                          </p:val>
                                        </p:tav>
                                      </p:tavLst>
                                    </p:anim>
                                    <p:anim calcmode="lin" valueType="num">
                                      <p:cBhvr additive="base">
                                        <p:cTn id="112" dur="500" fill="hold"/>
                                        <p:tgtEl>
                                          <p:spTgt spid="32"/>
                                        </p:tgtEl>
                                        <p:attrNameLst>
                                          <p:attrName>ppt_y</p:attrName>
                                        </p:attrNameLst>
                                      </p:cBhvr>
                                      <p:tavLst>
                                        <p:tav tm="0">
                                          <p:val>
                                            <p:strVal val="1+#ppt_h/2"/>
                                          </p:val>
                                        </p:tav>
                                        <p:tav tm="100000">
                                          <p:val>
                                            <p:strVal val="#ppt_y"/>
                                          </p:val>
                                        </p:tav>
                                      </p:tavLst>
                                    </p:anim>
                                  </p:childTnLst>
                                </p:cTn>
                              </p:par>
                              <p:par>
                                <p:cTn id="113" presetID="53" presetClass="entr" presetSubtype="16" fill="hold" nodeType="withEffect">
                                  <p:stCondLst>
                                    <p:cond delay="3100"/>
                                  </p:stCondLst>
                                  <p:childTnLst>
                                    <p:set>
                                      <p:cBhvr>
                                        <p:cTn id="114" dur="1" fill="hold">
                                          <p:stCondLst>
                                            <p:cond delay="0"/>
                                          </p:stCondLst>
                                        </p:cTn>
                                        <p:tgtEl>
                                          <p:spTgt spid="33"/>
                                        </p:tgtEl>
                                        <p:attrNameLst>
                                          <p:attrName>style.visibility</p:attrName>
                                        </p:attrNameLst>
                                      </p:cBhvr>
                                      <p:to>
                                        <p:strVal val="visible"/>
                                      </p:to>
                                    </p:set>
                                    <p:anim calcmode="lin" valueType="num">
                                      <p:cBhvr>
                                        <p:cTn id="115" dur="450" fill="hold"/>
                                        <p:tgtEl>
                                          <p:spTgt spid="33"/>
                                        </p:tgtEl>
                                        <p:attrNameLst>
                                          <p:attrName>ppt_w</p:attrName>
                                        </p:attrNameLst>
                                      </p:cBhvr>
                                      <p:tavLst>
                                        <p:tav tm="0">
                                          <p:val>
                                            <p:fltVal val="0"/>
                                          </p:val>
                                        </p:tav>
                                        <p:tav tm="100000">
                                          <p:val>
                                            <p:strVal val="#ppt_w"/>
                                          </p:val>
                                        </p:tav>
                                      </p:tavLst>
                                    </p:anim>
                                    <p:anim calcmode="lin" valueType="num">
                                      <p:cBhvr>
                                        <p:cTn id="116" dur="450" fill="hold"/>
                                        <p:tgtEl>
                                          <p:spTgt spid="33"/>
                                        </p:tgtEl>
                                        <p:attrNameLst>
                                          <p:attrName>ppt_h</p:attrName>
                                        </p:attrNameLst>
                                      </p:cBhvr>
                                      <p:tavLst>
                                        <p:tav tm="0">
                                          <p:val>
                                            <p:fltVal val="0"/>
                                          </p:val>
                                        </p:tav>
                                        <p:tav tm="100000">
                                          <p:val>
                                            <p:strVal val="#ppt_h"/>
                                          </p:val>
                                        </p:tav>
                                      </p:tavLst>
                                    </p:anim>
                                    <p:animEffect transition="in" filter="fade">
                                      <p:cBhvr>
                                        <p:cTn id="117" dur="450"/>
                                        <p:tgtEl>
                                          <p:spTgt spid="33"/>
                                        </p:tgtEl>
                                      </p:cBhvr>
                                    </p:animEffect>
                                  </p:childTnLst>
                                </p:cTn>
                              </p:par>
                              <p:par>
                                <p:cTn id="118" presetID="10" presetClass="entr" presetSubtype="0" fill="hold" nodeType="withEffect">
                                  <p:stCondLst>
                                    <p:cond delay="3300"/>
                                  </p:stCondLst>
                                  <p:childTnLst>
                                    <p:set>
                                      <p:cBhvr>
                                        <p:cTn id="119" dur="1" fill="hold">
                                          <p:stCondLst>
                                            <p:cond delay="0"/>
                                          </p:stCondLst>
                                        </p:cTn>
                                        <p:tgtEl>
                                          <p:spTgt spid="34"/>
                                        </p:tgtEl>
                                        <p:attrNameLst>
                                          <p:attrName>style.visibility</p:attrName>
                                        </p:attrNameLst>
                                      </p:cBhvr>
                                      <p:to>
                                        <p:strVal val="visible"/>
                                      </p:to>
                                    </p:set>
                                    <p:animEffect transition="in" filter="fade">
                                      <p:cBhvr>
                                        <p:cTn id="120" dur="400"/>
                                        <p:tgtEl>
                                          <p:spTgt spid="34"/>
                                        </p:tgtEl>
                                      </p:cBhvr>
                                    </p:animEffect>
                                  </p:childTnLst>
                                </p:cTn>
                              </p:par>
                              <p:par>
                                <p:cTn id="121" presetID="2" presetClass="entr" presetSubtype="4" fill="hold" nodeType="withEffect">
                                  <p:stCondLst>
                                    <p:cond delay="3300"/>
                                  </p:stCondLst>
                                  <p:childTnLst>
                                    <p:set>
                                      <p:cBhvr>
                                        <p:cTn id="122" dur="1" fill="hold">
                                          <p:stCondLst>
                                            <p:cond delay="0"/>
                                          </p:stCondLst>
                                        </p:cTn>
                                        <p:tgtEl>
                                          <p:spTgt spid="35"/>
                                        </p:tgtEl>
                                        <p:attrNameLst>
                                          <p:attrName>style.visibility</p:attrName>
                                        </p:attrNameLst>
                                      </p:cBhvr>
                                      <p:to>
                                        <p:strVal val="visible"/>
                                      </p:to>
                                    </p:set>
                                    <p:anim calcmode="lin" valueType="num">
                                      <p:cBhvr additive="base">
                                        <p:cTn id="123" dur="500" fill="hold"/>
                                        <p:tgtEl>
                                          <p:spTgt spid="35"/>
                                        </p:tgtEl>
                                        <p:attrNameLst>
                                          <p:attrName>ppt_x</p:attrName>
                                        </p:attrNameLst>
                                      </p:cBhvr>
                                      <p:tavLst>
                                        <p:tav tm="0">
                                          <p:val>
                                            <p:strVal val="#ppt_x"/>
                                          </p:val>
                                        </p:tav>
                                        <p:tav tm="100000">
                                          <p:val>
                                            <p:strVal val="#ppt_x"/>
                                          </p:val>
                                        </p:tav>
                                      </p:tavLst>
                                    </p:anim>
                                    <p:anim calcmode="lin" valueType="num">
                                      <p:cBhvr additive="base">
                                        <p:cTn id="124" dur="500" fill="hold"/>
                                        <p:tgtEl>
                                          <p:spTgt spid="35"/>
                                        </p:tgtEl>
                                        <p:attrNameLst>
                                          <p:attrName>ppt_y</p:attrName>
                                        </p:attrNameLst>
                                      </p:cBhvr>
                                      <p:tavLst>
                                        <p:tav tm="0">
                                          <p:val>
                                            <p:strVal val="1+#ppt_h/2"/>
                                          </p:val>
                                        </p:tav>
                                        <p:tav tm="100000">
                                          <p:val>
                                            <p:strVal val="#ppt_y"/>
                                          </p:val>
                                        </p:tav>
                                      </p:tavLst>
                                    </p:anim>
                                  </p:childTnLst>
                                </p:cTn>
                              </p:par>
                              <p:par>
                                <p:cTn id="125" presetID="0" presetClass="path" presetSubtype="0" repeatCount="indefinite" fill="hold" nodeType="withEffect">
                                  <p:stCondLst>
                                    <p:cond delay="3400"/>
                                  </p:stCondLst>
                                  <p:childTnLst>
                                    <p:animMotion origin="layout" path="M 0 0 L 0.88500 0.00000 E" pathEditMode="relative" rAng="0" ptsTypes="AA">
                                      <p:cBhvr>
                                        <p:cTn id="126" dur="3300" fill="hold"/>
                                        <p:tgtEl>
                                          <p:spTgt spid="24"/>
                                        </p:tgtEl>
                                        <p:attrNameLst>
                                          <p:attrName>ppt_x</p:attrName>
                                          <p:attrName>ppt_y</p:attrName>
                                        </p:attrNameLst>
                                      </p:cBhvr>
                                      <p:rCtr x="0.44250" y="0.00000"/>
                                    </p:animMotion>
                                  </p:childTnLst>
                                </p:cTn>
                              </p:par>
                              <p:par>
                                <p:cTn id="127" presetID="53" presetClass="entr" presetSubtype="16" fill="hold" nodeType="withEffect">
                                  <p:stCondLst>
                                    <p:cond delay="3400"/>
                                  </p:stCondLst>
                                  <p:childTnLst>
                                    <p:set>
                                      <p:cBhvr>
                                        <p:cTn id="128" dur="1" fill="hold">
                                          <p:stCondLst>
                                            <p:cond delay="0"/>
                                          </p:stCondLst>
                                        </p:cTn>
                                        <p:tgtEl>
                                          <p:spTgt spid="36"/>
                                        </p:tgtEl>
                                        <p:attrNameLst>
                                          <p:attrName>style.visibility</p:attrName>
                                        </p:attrNameLst>
                                      </p:cBhvr>
                                      <p:to>
                                        <p:strVal val="visible"/>
                                      </p:to>
                                    </p:set>
                                    <p:anim calcmode="lin" valueType="num">
                                      <p:cBhvr>
                                        <p:cTn id="129" dur="450" fill="hold"/>
                                        <p:tgtEl>
                                          <p:spTgt spid="36"/>
                                        </p:tgtEl>
                                        <p:attrNameLst>
                                          <p:attrName>ppt_w</p:attrName>
                                        </p:attrNameLst>
                                      </p:cBhvr>
                                      <p:tavLst>
                                        <p:tav tm="0">
                                          <p:val>
                                            <p:fltVal val="0"/>
                                          </p:val>
                                        </p:tav>
                                        <p:tav tm="100000">
                                          <p:val>
                                            <p:strVal val="#ppt_w"/>
                                          </p:val>
                                        </p:tav>
                                      </p:tavLst>
                                    </p:anim>
                                    <p:anim calcmode="lin" valueType="num">
                                      <p:cBhvr>
                                        <p:cTn id="130" dur="450" fill="hold"/>
                                        <p:tgtEl>
                                          <p:spTgt spid="36"/>
                                        </p:tgtEl>
                                        <p:attrNameLst>
                                          <p:attrName>ppt_h</p:attrName>
                                        </p:attrNameLst>
                                      </p:cBhvr>
                                      <p:tavLst>
                                        <p:tav tm="0">
                                          <p:val>
                                            <p:fltVal val="0"/>
                                          </p:val>
                                        </p:tav>
                                        <p:tav tm="100000">
                                          <p:val>
                                            <p:strVal val="#ppt_h"/>
                                          </p:val>
                                        </p:tav>
                                      </p:tavLst>
                                    </p:anim>
                                    <p:animEffect transition="in" filter="fade">
                                      <p:cBhvr>
                                        <p:cTn id="131" dur="450"/>
                                        <p:tgtEl>
                                          <p:spTgt spid="36"/>
                                        </p:tgtEl>
                                      </p:cBhvr>
                                    </p:animEffect>
                                  </p:childTnLst>
                                </p:cTn>
                              </p:par>
                              <p:par>
                                <p:cTn id="132" presetID="10" presetClass="entr" presetSubtype="0" fill="hold" nodeType="withEffect">
                                  <p:stCondLst>
                                    <p:cond delay="3600"/>
                                  </p:stCondLst>
                                  <p:childTnLst>
                                    <p:set>
                                      <p:cBhvr>
                                        <p:cTn id="133" dur="1" fill="hold">
                                          <p:stCondLst>
                                            <p:cond delay="0"/>
                                          </p:stCondLst>
                                        </p:cTn>
                                        <p:tgtEl>
                                          <p:spTgt spid="37"/>
                                        </p:tgtEl>
                                        <p:attrNameLst>
                                          <p:attrName>style.visibility</p:attrName>
                                        </p:attrNameLst>
                                      </p:cBhvr>
                                      <p:to>
                                        <p:strVal val="visible"/>
                                      </p:to>
                                    </p:set>
                                    <p:animEffect transition="in" filter="fade">
                                      <p:cBhvr>
                                        <p:cTn id="134" dur="400"/>
                                        <p:tgtEl>
                                          <p:spTgt spid="37"/>
                                        </p:tgtEl>
                                      </p:cBhvr>
                                    </p:animEffect>
                                  </p:childTnLst>
                                </p:cTn>
                              </p:par>
                              <p:par>
                                <p:cTn id="135" presetID="10" presetClass="entr" presetSubtype="0" fill="hold" nodeType="withEffect">
                                  <p:stCondLst>
                                    <p:cond delay="3700"/>
                                  </p:stCondLst>
                                  <p:childTnLst>
                                    <p:set>
                                      <p:cBhvr>
                                        <p:cTn id="136" dur="1" fill="hold">
                                          <p:stCondLst>
                                            <p:cond delay="0"/>
                                          </p:stCondLst>
                                        </p:cTn>
                                        <p:tgtEl>
                                          <p:spTgt spid="38"/>
                                        </p:tgtEl>
                                        <p:attrNameLst>
                                          <p:attrName>style.visibility</p:attrName>
                                        </p:attrNameLst>
                                      </p:cBhvr>
                                      <p:to>
                                        <p:strVal val="visible"/>
                                      </p:to>
                                    </p:set>
                                    <p:animEffect transition="in" filter="fade">
                                      <p:cBhvr>
                                        <p:cTn id="137" dur="500"/>
                                        <p:tgtEl>
                                          <p:spTgt spid="38"/>
                                        </p:tgtEl>
                                      </p:cBhvr>
                                    </p:animEffect>
                                  </p:childTnLst>
                                </p:cTn>
                              </p:par>
                              <p:par>
                                <p:cTn id="138" presetID="0" presetClass="path" presetSubtype="0" repeatCount="indefinite" fill="hold" nodeType="withEffect">
                                  <p:stCondLst>
                                    <p:cond delay="4500"/>
                                  </p:stCondLst>
                                  <p:childTnLst>
                                    <p:animMotion origin="layout" path="M 0 0 L 0.88500 0.00000 E" pathEditMode="relative" rAng="0" ptsTypes="AA">
                                      <p:cBhvr>
                                        <p:cTn id="139" dur="3300" fill="hold"/>
                                        <p:tgtEl>
                                          <p:spTgt spid="25"/>
                                        </p:tgtEl>
                                        <p:attrNameLst>
                                          <p:attrName>ppt_x</p:attrName>
                                          <p:attrName>ppt_y</p:attrName>
                                        </p:attrNameLst>
                                      </p:cBhvr>
                                      <p:rCtr x="0.44250" y="0.000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What the cleaning pipeline did</a:t>
            </a:r>
            <a:endParaRPr lang="en-US" sz="3200" dirty="0"/>
          </a:p>
        </p:txBody>
      </p:sp>
      <p:graphicFrame>
        <p:nvGraphicFramePr>
          <p:cNvPr id="4" name="lpchart" descr=""/>
          <p:cNvGraphicFramePr/>
          <p:nvPr/>
        </p:nvGraphicFramePr>
        <p:xfrm>
          <a:off x="548640" y="1371600"/>
          <a:ext cx="6400800" cy="4754880"/>
        </p:xfrm>
        <a:graphic xmlns:a="http://schemas.openxmlformats.org/drawingml/2006/main">
          <a:graphicData uri="http://schemas.openxmlformats.org/drawingml/2006/chart">
            <c:chart xmlns:c="http://schemas.openxmlformats.org/drawingml/2006/chart" r:id="rId1"/>
          </a:graphicData>
        </a:graphic>
      </p:graphicFrame>
      <p:sp>
        <p:nvSpPr>
          <p:cNvPr id="5" name="text_9_1"/>
          <p:cNvSpPr txBox="1"/>
          <p:nvPr/>
        </p:nvSpPr>
        <p:spPr>
          <a:xfrm>
            <a:off x="7315200" y="1371600"/>
            <a:ext cx="4297680" cy="36576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Noise removed</a:t>
            </a:r>
            <a:endParaRPr lang="en-US" sz="1800" dirty="0"/>
          </a:p>
        </p:txBody>
      </p:sp>
      <p:graphicFrame>
        <p:nvGraphicFramePr>
          <p:cNvPr id="10" name="noisetable"/>
          <p:cNvGraphicFramePr>
            <a:graphicFrameLocks noGrp="1"/>
          </p:cNvGraphicFramePr>
          <p:nvPr>
            <p:extLst>
              <p:ext uri="{D42A27DB-BD31-4B8C-83A1-F6EECF244321}">
                <p14:modId xmlns:p14="http://schemas.microsoft.com/office/powerpoint/2010/main" val="1579011935"/>
              </p:ext>
            </p:extLst>
          </p:nvPr>
        </p:nvGraphicFramePr>
        <p:xfrm>
          <a:off x="7315200" y="1828800"/>
          <a:ext cx="4297680" cy="914400"/>
        </p:xfrm>
        <a:graphic>
          <a:graphicData uri="http://schemas.openxmlformats.org/drawingml/2006/table">
            <a:tbl>
              <a:tblPr/>
              <a:tblGrid>
                <a:gridCol w="3200400"/>
                <a:gridCol w="1097280"/>
              </a:tblGrid>
              <a:tr h="411480">
                <a:tc>
                  <a:txBody>
                    <a:bodyPr/>
                    <a:lstStyle/>
                    <a:p>
                      <a:pPr algn="l" indent="0" marL="0">
                        <a:buNone/>
                      </a:pPr>
                      <a:r>
                        <a:rPr lang="en-US" sz="1300" b="1" dirty="0">
                          <a:solidFill>
                            <a:schemeClr val="bg1"/>
                          </a:solidFill>
                        </a:rPr>
                        <a:t>Drop reason</a:t>
                      </a:r>
                      <a:endParaRPr lang="en-US" sz="13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Count</a:t>
                      </a:r>
                      <a:endParaRPr lang="en-US" sz="13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tx2"/>
                    </a:solidFill>
                  </a:tcPr>
                </a:tc>
              </a:tr>
              <a:tr h="411480">
                <a:tc>
                  <a:txBody>
                    <a:bodyPr/>
                    <a:lstStyle/>
                    <a:p>
                      <a:pPr algn="l" indent="0" marL="0">
                        <a:buNone/>
                      </a:pPr>
                      <a:r>
                        <a:rPr lang="en-US" sz="1300" dirty="0">
                          <a:solidFill>
                            <a:schemeClr val="tx1"/>
                          </a:solidFill>
                        </a:rPr>
                        <a:t>incomplete_ft_window</a:t>
                      </a:r>
                      <a:endParaRPr lang="en-US" sz="13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0</a:t>
                      </a:r>
                      <a:endParaRPr lang="en-US" sz="13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2"/>
                    </a:solidFill>
                  </a:tcPr>
                </a:tc>
              </a:tr>
              <a:tr h="411480">
                <a:tc>
                  <a:txBody>
                    <a:bodyPr/>
                    <a:lstStyle/>
                    <a:p>
                      <a:pPr algn="l" indent="0" marL="0">
                        <a:buNone/>
                      </a:pPr>
                      <a:r>
                        <a:rPr lang="en-US" sz="1300" dirty="0">
                          <a:solidFill>
                            <a:schemeClr val="tx1"/>
                          </a:solidFill>
                        </a:rPr>
                        <a:t>missing_class_or_features</a:t>
                      </a:r>
                      <a:endParaRPr lang="en-US" sz="13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0</a:t>
                      </a:r>
                      <a:endParaRPr lang="en-US" sz="13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1"/>
                    </a:solidFill>
                  </a:tcPr>
                </a:tc>
              </a:tr>
              <a:tr h="411480">
                <a:tc>
                  <a:txBody>
                    <a:bodyPr/>
                    <a:lstStyle/>
                    <a:p>
                      <a:pPr algn="l" indent="0" marL="0">
                        <a:buNone/>
                      </a:pPr>
                      <a:r>
                        <a:rPr lang="en-US" sz="1300" dirty="0">
                          <a:solidFill>
                            <a:schemeClr val="tx1"/>
                          </a:solidFill>
                        </a:rPr>
                        <a:t>extreme_sensor_outlier</a:t>
                      </a:r>
                      <a:endParaRPr lang="en-US" sz="13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tx1"/>
                          </a:solidFill>
                        </a:rPr>
                        <a:t>4</a:t>
                      </a:r>
                      <a:endParaRPr lang="en-US" sz="13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2"/>
                    </a:solidFill>
                  </a:tcPr>
                </a:tc>
              </a:tr>
              <a:tr h="411480">
                <a:tc>
                  <a:txBody>
                    <a:bodyPr/>
                    <a:lstStyle/>
                    <a:p>
                      <a:pPr algn="l" indent="0" marL="0">
                        <a:buNone/>
                      </a:pPr>
                      <a:r>
                        <a:rPr lang="en-US" sz="1300" dirty="0">
                          <a:solidFill>
                            <a:schemeClr val="tx1"/>
                          </a:solidFill>
                        </a:rPr>
                        <a:t>duplicate</a:t>
                      </a:r>
                      <a:endParaRPr lang="en-US" sz="13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rPr>
                        <a:t>8</a:t>
                      </a:r>
                      <a:endParaRPr lang="en-US" sz="13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1"/>
                    </a:solidFill>
                  </a:tcPr>
                </a:tc>
              </a:tr>
              <a:tr h="411480">
                <a:tc>
                  <a:txBody>
                    <a:bodyPr/>
                    <a:lstStyle/>
                    <a:p>
                      <a:pPr algn="l" indent="0" marL="0">
                        <a:buNone/>
                      </a:pPr>
                      <a:r>
                        <a:rPr lang="en-US" sz="1300" dirty="0">
                          <a:solidFill>
                            <a:schemeClr val="tx1"/>
                          </a:solidFill>
                        </a:rPr>
                        <a:t>unmapped_class</a:t>
                      </a:r>
                      <a:endParaRPr lang="en-US" sz="13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0</a:t>
                      </a:r>
                      <a:endParaRPr lang="en-US" sz="1300" dirty="0"/>
                    </a:p>
                  </a:txBody>
                  <a:tcPr marL="64008" marR="64008" marT="64008" marB="64008"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2"/>
                    </a:solidFill>
                  </a:tcPr>
                </a:tc>
              </a:tr>
            </a:tbl>
          </a:graphicData>
        </a:graphic>
      </p:graphicFrame>
      <p:sp>
        <p:nvSpPr>
          <p:cNvPr id="7" name="shape_9_2"/>
          <p:cNvSpPr/>
          <p:nvPr/>
        </p:nvSpPr>
        <p:spPr>
          <a:xfrm>
            <a:off x="7315200" y="4572000"/>
            <a:ext cx="4297680" cy="1554480"/>
          </a:xfrm>
          <a:prstGeom prst="roundRect">
            <a:avLst>
              <a:gd name="adj" fmla="val 7059"/>
            </a:avLst>
          </a:prstGeom>
          <a:solidFill>
            <a:schemeClr val="accent2">
              <a:alpha val="20000"/>
            </a:schemeClr>
          </a:solidFill>
          <a:ln w="12700">
            <a:solidFill>
              <a:srgbClr val="FFFFFF">
                <a:alpha val="0"/>
              </a:srgbClr>
            </a:solidFill>
            <a:prstDash val="solid"/>
          </a:ln>
        </p:spPr>
      </p:sp>
      <p:sp>
        <p:nvSpPr>
          <p:cNvPr id="8" name="text_9_3"/>
          <p:cNvSpPr txBox="1"/>
          <p:nvPr/>
        </p:nvSpPr>
        <p:spPr>
          <a:xfrm>
            <a:off x="7498080" y="4663440"/>
            <a:ext cx="3931920" cy="1371600"/>
          </a:xfrm>
          <a:prstGeom prst="rect">
            <a:avLst/>
          </a:prstGeom>
          <a:noFill/>
          <a:ln/>
        </p:spPr>
        <p:txBody>
          <a:bodyPr wrap="square" lIns="0" tIns="0" rIns="0" bIns="0" rtlCol="0" anchor="ctr"/>
          <a:lstStyle/>
          <a:p>
            <a:pPr indent="0" marL="0">
              <a:buNone/>
            </a:pPr>
            <a:r>
              <a:rPr lang="en-US" sz="1300" b="1" dirty="0">
                <a:solidFill>
                  <a:schemeClr val="tx1"/>
                </a:solidFill>
              </a:rPr>
              <a:t>Honesty note  </a:t>
            </a:r>
            <a:pPr indent="0" marL="0">
              <a:buNone/>
            </a:pPr>
            <a:r>
              <a:rPr lang="en-US" sz="1300" dirty="0">
                <a:solidFill>
                  <a:schemeClr val="tx1"/>
                </a:solidFill>
              </a:rPr>
              <a:t>UCI does not use our symptom strings — an explicit knowledge-map step links failure classes to KB evidence. 13/13 PASS measures software behaviour, not field accuracy.</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9</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20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1000"/>
                                        <p:tgtEl>
                                          <p:spTgt spid="4"/>
                                        </p:tgtEl>
                                      </p:cBhvr>
                                    </p:animEffect>
                                  </p:childTnLst>
                                </p:cTn>
                              </p:par>
                              <p:par>
                                <p:cTn id="8" presetID="10" presetClass="entr" presetSubtype="0" fill="hold" nodeType="withEffect">
                                  <p:stCondLst>
                                    <p:cond delay="7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par>
                                <p:cTn id="11" presetID="22" presetClass="entr" presetSubtype="8" fill="hold" nodeType="withEffect">
                                  <p:stCondLst>
                                    <p:cond delay="800"/>
                                  </p:stCondLst>
                                  <p:childTnLst>
                                    <p:set>
                                      <p:cBhvr>
                                        <p:cTn id="12" dur="1" fill="hold">
                                          <p:stCondLst>
                                            <p:cond delay="0"/>
                                          </p:stCondLst>
                                        </p:cTn>
                                        <p:tgtEl>
                                          <p:spTgt spid="10"/>
                                        </p:tgtEl>
                                        <p:attrNameLst>
                                          <p:attrName>style.visibility</p:attrName>
                                        </p:attrNameLst>
                                      </p:cBhvr>
                                      <p:to>
                                        <p:strVal val="visible"/>
                                      </p:to>
                                    </p:set>
                                    <p:animEffect transition="in" filter="wipe(left)">
                                      <p:cBhvr>
                                        <p:cTn id="13" dur="700"/>
                                        <p:tgtEl>
                                          <p:spTgt spid="10"/>
                                        </p:tgtEl>
                                      </p:cBhvr>
                                    </p:animEffect>
                                  </p:childTnLst>
                                </p:cTn>
                              </p:par>
                              <p:par>
                                <p:cTn id="14" presetID="2" presetClass="entr" presetSubtype="4" fill="hold" nodeType="withEffect">
                                  <p:stCondLst>
                                    <p:cond delay="150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ppt_x"/>
                                          </p:val>
                                        </p:tav>
                                        <p:tav tm="100000">
                                          <p:val>
                                            <p:strVal val="#ppt_x"/>
                                          </p:val>
                                        </p:tav>
                                      </p:tavLst>
                                    </p:anim>
                                    <p:anim calcmode="lin" valueType="num">
                                      <p:cBhvr additive="base">
                                        <p:cTn id="17" dur="500" fill="hold"/>
                                        <p:tgtEl>
                                          <p:spTgt spid="7"/>
                                        </p:tgtEl>
                                        <p:attrNameLst>
                                          <p:attrName>ppt_y</p:attrName>
                                        </p:attrNameLst>
                                      </p:cBhvr>
                                      <p:tavLst>
                                        <p:tav tm="0">
                                          <p:val>
                                            <p:strVal val="1+#ppt_h/2"/>
                                          </p:val>
                                        </p:tav>
                                        <p:tav tm="100000">
                                          <p:val>
                                            <p:strVal val="#ppt_y"/>
                                          </p:val>
                                        </p:tav>
                                      </p:tavLst>
                                    </p:anim>
                                  </p:childTnLst>
                                </p:cTn>
                              </p:par>
                              <p:par>
                                <p:cTn id="18" presetID="10" presetClass="entr" presetSubtype="0" fill="hold" nodeType="withEffect">
                                  <p:stCondLst>
                                    <p:cond delay="170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System architecture: five layers, one clean contract</a:t>
            </a:r>
            <a:endParaRPr lang="en-US" sz="3200" dirty="0"/>
          </a:p>
        </p:txBody>
      </p:sp>
      <p:sp>
        <p:nvSpPr>
          <p:cNvPr id="4" name="shape_10_1"/>
          <p:cNvSpPr/>
          <p:nvPr/>
        </p:nvSpPr>
        <p:spPr>
          <a:xfrm>
            <a:off x="548640" y="1325880"/>
            <a:ext cx="2286000" cy="841248"/>
          </a:xfrm>
          <a:prstGeom prst="roundRect">
            <a:avLst>
              <a:gd name="adj" fmla="val 10870"/>
            </a:avLst>
          </a:prstGeom>
          <a:solidFill>
            <a:schemeClr val="accent5"/>
          </a:solidFill>
          <a:ln w="12700">
            <a:solidFill>
              <a:schemeClr val="accent5"/>
            </a:solidFill>
            <a:prstDash val="solid"/>
          </a:ln>
        </p:spPr>
      </p:sp>
      <p:sp>
        <p:nvSpPr>
          <p:cNvPr id="5" name="text_10_2"/>
          <p:cNvSpPr txBox="1"/>
          <p:nvPr/>
        </p:nvSpPr>
        <p:spPr>
          <a:xfrm>
            <a:off x="640080" y="1325880"/>
            <a:ext cx="2103120" cy="841248"/>
          </a:xfrm>
          <a:prstGeom prst="rect">
            <a:avLst/>
          </a:prstGeom>
          <a:noFill/>
          <a:ln/>
        </p:spPr>
        <p:txBody>
          <a:bodyPr wrap="square" lIns="0" tIns="0" rIns="0" bIns="0" rtlCol="0" anchor="ctr"/>
          <a:lstStyle/>
          <a:p>
            <a:pPr algn="ctr" indent="0" marL="0">
              <a:buNone/>
            </a:pPr>
            <a:r>
              <a:rPr lang="en-US" sz="1600" b="1" dirty="0">
                <a:solidFill>
                  <a:schemeClr val="bg1"/>
                </a:solidFill>
              </a:rPr>
              <a:t>Presentation</a:t>
            </a:r>
            <a:endParaRPr lang="en-US" sz="1600" dirty="0"/>
          </a:p>
        </p:txBody>
      </p:sp>
      <p:sp>
        <p:nvSpPr>
          <p:cNvPr id="6" name="shape_10_3"/>
          <p:cNvSpPr/>
          <p:nvPr/>
        </p:nvSpPr>
        <p:spPr>
          <a:xfrm>
            <a:off x="3017520" y="1325880"/>
            <a:ext cx="1341120" cy="841248"/>
          </a:xfrm>
          <a:prstGeom prst="roundRect">
            <a:avLst>
              <a:gd name="adj" fmla="val 10870"/>
            </a:avLst>
          </a:prstGeom>
          <a:solidFill>
            <a:schemeClr val="bg2"/>
          </a:solidFill>
          <a:ln w="12700">
            <a:solidFill>
              <a:schemeClr val="accent5"/>
            </a:solidFill>
            <a:prstDash val="solid"/>
          </a:ln>
        </p:spPr>
      </p:sp>
      <p:sp>
        <p:nvSpPr>
          <p:cNvPr id="7" name="text_10_4"/>
          <p:cNvSpPr txBox="1"/>
          <p:nvPr/>
        </p:nvSpPr>
        <p:spPr>
          <a:xfrm>
            <a:off x="3063240" y="1325880"/>
            <a:ext cx="1249680" cy="841248"/>
          </a:xfrm>
          <a:prstGeom prst="rect">
            <a:avLst/>
          </a:prstGeom>
          <a:noFill/>
          <a:ln/>
        </p:spPr>
        <p:txBody>
          <a:bodyPr wrap="square" lIns="0" tIns="0" rIns="0" bIns="0" rtlCol="0" anchor="ctr"/>
          <a:lstStyle/>
          <a:p>
            <a:pPr algn="ctr" indent="0" marL="0">
              <a:buNone/>
            </a:pPr>
            <a:r>
              <a:rPr lang="en-US" sz="1200" b="1" dirty="0">
                <a:solidFill>
                  <a:schemeClr val="tx1"/>
                </a:solidFill>
              </a:rPr>
              <a:t>Diagnostic studio</a:t>
            </a:r>
            <a:endParaRPr lang="en-US" sz="1200" dirty="0"/>
          </a:p>
        </p:txBody>
      </p:sp>
      <p:sp>
        <p:nvSpPr>
          <p:cNvPr id="8" name="shape_10_5"/>
          <p:cNvSpPr/>
          <p:nvPr/>
        </p:nvSpPr>
        <p:spPr>
          <a:xfrm>
            <a:off x="4468368" y="1325880"/>
            <a:ext cx="1341120" cy="841248"/>
          </a:xfrm>
          <a:prstGeom prst="roundRect">
            <a:avLst>
              <a:gd name="adj" fmla="val 10870"/>
            </a:avLst>
          </a:prstGeom>
          <a:solidFill>
            <a:schemeClr val="bg2"/>
          </a:solidFill>
          <a:ln w="12700">
            <a:solidFill>
              <a:schemeClr val="accent5"/>
            </a:solidFill>
            <a:prstDash val="solid"/>
          </a:ln>
        </p:spPr>
      </p:sp>
      <p:sp>
        <p:nvSpPr>
          <p:cNvPr id="9" name="text_10_6"/>
          <p:cNvSpPr txBox="1"/>
          <p:nvPr/>
        </p:nvSpPr>
        <p:spPr>
          <a:xfrm>
            <a:off x="4514088" y="1325880"/>
            <a:ext cx="1249680" cy="841248"/>
          </a:xfrm>
          <a:prstGeom prst="rect">
            <a:avLst/>
          </a:prstGeom>
          <a:noFill/>
          <a:ln/>
        </p:spPr>
        <p:txBody>
          <a:bodyPr wrap="square" lIns="0" tIns="0" rIns="0" bIns="0" rtlCol="0" anchor="ctr"/>
          <a:lstStyle/>
          <a:p>
            <a:pPr algn="ctr" indent="0" marL="0">
              <a:buNone/>
            </a:pPr>
            <a:r>
              <a:rPr lang="en-US" sz="1200" b="1" dirty="0">
                <a:solidFill>
                  <a:schemeClr val="tx1"/>
                </a:solidFill>
              </a:rPr>
              <a:t>Case history</a:t>
            </a:r>
            <a:endParaRPr lang="en-US" sz="1200" dirty="0"/>
          </a:p>
        </p:txBody>
      </p:sp>
      <p:sp>
        <p:nvSpPr>
          <p:cNvPr id="10" name="shape_10_7"/>
          <p:cNvSpPr/>
          <p:nvPr/>
        </p:nvSpPr>
        <p:spPr>
          <a:xfrm>
            <a:off x="5919216" y="1325880"/>
            <a:ext cx="1341120" cy="841248"/>
          </a:xfrm>
          <a:prstGeom prst="roundRect">
            <a:avLst>
              <a:gd name="adj" fmla="val 10870"/>
            </a:avLst>
          </a:prstGeom>
          <a:solidFill>
            <a:schemeClr val="bg2"/>
          </a:solidFill>
          <a:ln w="12700">
            <a:solidFill>
              <a:schemeClr val="accent5"/>
            </a:solidFill>
            <a:prstDash val="solid"/>
          </a:ln>
        </p:spPr>
      </p:sp>
      <p:sp>
        <p:nvSpPr>
          <p:cNvPr id="11" name="text_10_8"/>
          <p:cNvSpPr txBox="1"/>
          <p:nvPr/>
        </p:nvSpPr>
        <p:spPr>
          <a:xfrm>
            <a:off x="5964936" y="1325880"/>
            <a:ext cx="1249680" cy="841248"/>
          </a:xfrm>
          <a:prstGeom prst="rect">
            <a:avLst/>
          </a:prstGeom>
          <a:noFill/>
          <a:ln/>
        </p:spPr>
        <p:txBody>
          <a:bodyPr wrap="square" lIns="0" tIns="0" rIns="0" bIns="0" rtlCol="0" anchor="ctr"/>
          <a:lstStyle/>
          <a:p>
            <a:pPr algn="ctr" indent="0" marL="0">
              <a:buNone/>
            </a:pPr>
            <a:r>
              <a:rPr lang="en-US" sz="1200" b="1" dirty="0">
                <a:solidFill>
                  <a:schemeClr val="tx1"/>
                </a:solidFill>
              </a:rPr>
              <a:t>Maintenance board</a:t>
            </a:r>
            <a:endParaRPr lang="en-US" sz="1200" dirty="0"/>
          </a:p>
        </p:txBody>
      </p:sp>
      <p:sp>
        <p:nvSpPr>
          <p:cNvPr id="12" name="shape_10_9"/>
          <p:cNvSpPr/>
          <p:nvPr/>
        </p:nvSpPr>
        <p:spPr>
          <a:xfrm>
            <a:off x="7370064" y="1325880"/>
            <a:ext cx="1341120" cy="841248"/>
          </a:xfrm>
          <a:prstGeom prst="roundRect">
            <a:avLst>
              <a:gd name="adj" fmla="val 10870"/>
            </a:avLst>
          </a:prstGeom>
          <a:solidFill>
            <a:schemeClr val="bg2"/>
          </a:solidFill>
          <a:ln w="12700">
            <a:solidFill>
              <a:schemeClr val="accent5"/>
            </a:solidFill>
            <a:prstDash val="solid"/>
          </a:ln>
        </p:spPr>
      </p:sp>
      <p:sp>
        <p:nvSpPr>
          <p:cNvPr id="13" name="text_10_10"/>
          <p:cNvSpPr txBox="1"/>
          <p:nvPr/>
        </p:nvSpPr>
        <p:spPr>
          <a:xfrm>
            <a:off x="7415784" y="1325880"/>
            <a:ext cx="1249680" cy="841248"/>
          </a:xfrm>
          <a:prstGeom prst="rect">
            <a:avLst/>
          </a:prstGeom>
          <a:noFill/>
          <a:ln/>
        </p:spPr>
        <p:txBody>
          <a:bodyPr wrap="square" lIns="0" tIns="0" rIns="0" bIns="0" rtlCol="0" anchor="ctr"/>
          <a:lstStyle/>
          <a:p>
            <a:pPr algn="ctr" indent="0" marL="0">
              <a:buNone/>
            </a:pPr>
            <a:r>
              <a:rPr lang="en-US" sz="1200" b="1" dirty="0">
                <a:solidFill>
                  <a:schemeClr val="tx1"/>
                </a:solidFill>
              </a:rPr>
              <a:t>Rule explorer</a:t>
            </a:r>
            <a:endParaRPr lang="en-US" sz="1200" dirty="0"/>
          </a:p>
        </p:txBody>
      </p:sp>
      <p:sp>
        <p:nvSpPr>
          <p:cNvPr id="14" name="shape_10_11"/>
          <p:cNvSpPr/>
          <p:nvPr/>
        </p:nvSpPr>
        <p:spPr>
          <a:xfrm>
            <a:off x="8820912" y="1325880"/>
            <a:ext cx="1341120" cy="841248"/>
          </a:xfrm>
          <a:prstGeom prst="roundRect">
            <a:avLst>
              <a:gd name="adj" fmla="val 10870"/>
            </a:avLst>
          </a:prstGeom>
          <a:solidFill>
            <a:schemeClr val="bg2"/>
          </a:solidFill>
          <a:ln w="12700">
            <a:solidFill>
              <a:schemeClr val="accent5"/>
            </a:solidFill>
            <a:prstDash val="solid"/>
          </a:ln>
        </p:spPr>
      </p:sp>
      <p:sp>
        <p:nvSpPr>
          <p:cNvPr id="15" name="text_10_12"/>
          <p:cNvSpPr txBox="1"/>
          <p:nvPr/>
        </p:nvSpPr>
        <p:spPr>
          <a:xfrm>
            <a:off x="8866632" y="1325880"/>
            <a:ext cx="1249680" cy="841248"/>
          </a:xfrm>
          <a:prstGeom prst="rect">
            <a:avLst/>
          </a:prstGeom>
          <a:noFill/>
          <a:ln/>
        </p:spPr>
        <p:txBody>
          <a:bodyPr wrap="square" lIns="0" tIns="0" rIns="0" bIns="0" rtlCol="0" anchor="ctr"/>
          <a:lstStyle/>
          <a:p>
            <a:pPr algn="ctr" indent="0" marL="0">
              <a:buNone/>
            </a:pPr>
            <a:r>
              <a:rPr lang="en-US" sz="1200" b="1" dirty="0">
                <a:solidFill>
                  <a:schemeClr val="tx1"/>
                </a:solidFill>
              </a:rPr>
              <a:t>Dataset &amp; ETL</a:t>
            </a:r>
            <a:endParaRPr lang="en-US" sz="1200" dirty="0"/>
          </a:p>
        </p:txBody>
      </p:sp>
      <p:sp>
        <p:nvSpPr>
          <p:cNvPr id="16" name="shape_10_13"/>
          <p:cNvSpPr/>
          <p:nvPr/>
        </p:nvSpPr>
        <p:spPr>
          <a:xfrm>
            <a:off x="10271760" y="1325880"/>
            <a:ext cx="1341120" cy="841248"/>
          </a:xfrm>
          <a:prstGeom prst="roundRect">
            <a:avLst>
              <a:gd name="adj" fmla="val 10870"/>
            </a:avLst>
          </a:prstGeom>
          <a:solidFill>
            <a:schemeClr val="bg2"/>
          </a:solidFill>
          <a:ln w="12700">
            <a:solidFill>
              <a:schemeClr val="accent5"/>
            </a:solidFill>
            <a:prstDash val="solid"/>
          </a:ln>
        </p:spPr>
      </p:sp>
      <p:sp>
        <p:nvSpPr>
          <p:cNvPr id="17" name="text_10_14"/>
          <p:cNvSpPr txBox="1"/>
          <p:nvPr/>
        </p:nvSpPr>
        <p:spPr>
          <a:xfrm>
            <a:off x="10317480" y="1325880"/>
            <a:ext cx="1249680" cy="841248"/>
          </a:xfrm>
          <a:prstGeom prst="rect">
            <a:avLst/>
          </a:prstGeom>
          <a:noFill/>
          <a:ln/>
        </p:spPr>
        <p:txBody>
          <a:bodyPr wrap="square" lIns="0" tIns="0" rIns="0" bIns="0" rtlCol="0" anchor="ctr"/>
          <a:lstStyle/>
          <a:p>
            <a:pPr algn="ctr" indent="0" marL="0">
              <a:buNone/>
            </a:pPr>
            <a:r>
              <a:rPr lang="en-US" sz="1200" b="1" dirty="0">
                <a:solidFill>
                  <a:schemeClr val="tx1"/>
                </a:solidFill>
              </a:rPr>
              <a:t>Evaluation lab</a:t>
            </a:r>
            <a:endParaRPr lang="en-US" sz="1200" dirty="0"/>
          </a:p>
        </p:txBody>
      </p:sp>
      <p:sp>
        <p:nvSpPr>
          <p:cNvPr id="18" name="shape_10_15"/>
          <p:cNvSpPr/>
          <p:nvPr/>
        </p:nvSpPr>
        <p:spPr>
          <a:xfrm>
            <a:off x="1554480" y="2148840"/>
            <a:ext cx="274320" cy="137160"/>
          </a:xfrm>
          <a:prstGeom prst="downArrow">
            <a:avLst/>
          </a:prstGeom>
          <a:solidFill>
            <a:srgbClr val="5B6B7C"/>
          </a:solidFill>
          <a:ln w="12700">
            <a:solidFill>
              <a:srgbClr val="5B6B7C"/>
            </a:solidFill>
            <a:prstDash val="solid"/>
          </a:ln>
        </p:spPr>
      </p:sp>
      <p:sp>
        <p:nvSpPr>
          <p:cNvPr id="19" name="shape_10_16"/>
          <p:cNvSpPr/>
          <p:nvPr/>
        </p:nvSpPr>
        <p:spPr>
          <a:xfrm>
            <a:off x="548640" y="2286000"/>
            <a:ext cx="2286000" cy="841248"/>
          </a:xfrm>
          <a:prstGeom prst="roundRect">
            <a:avLst>
              <a:gd name="adj" fmla="val 10870"/>
            </a:avLst>
          </a:prstGeom>
          <a:solidFill>
            <a:schemeClr val="accent1"/>
          </a:solidFill>
          <a:ln w="12700">
            <a:solidFill>
              <a:schemeClr val="accent1"/>
            </a:solidFill>
            <a:prstDash val="solid"/>
          </a:ln>
        </p:spPr>
      </p:sp>
      <p:sp>
        <p:nvSpPr>
          <p:cNvPr id="20" name="text_10_17"/>
          <p:cNvSpPr txBox="1"/>
          <p:nvPr/>
        </p:nvSpPr>
        <p:spPr>
          <a:xfrm>
            <a:off x="640080" y="2286000"/>
            <a:ext cx="2103120" cy="841248"/>
          </a:xfrm>
          <a:prstGeom prst="rect">
            <a:avLst/>
          </a:prstGeom>
          <a:noFill/>
          <a:ln/>
        </p:spPr>
        <p:txBody>
          <a:bodyPr wrap="square" lIns="0" tIns="0" rIns="0" bIns="0" rtlCol="0" anchor="ctr"/>
          <a:lstStyle/>
          <a:p>
            <a:pPr algn="ctr" indent="0" marL="0">
              <a:buNone/>
            </a:pPr>
            <a:r>
              <a:rPr lang="en-US" sz="1600" b="1" dirty="0">
                <a:solidFill>
                  <a:schemeClr val="bg1"/>
                </a:solidFill>
              </a:rPr>
              <a:t>Inference &amp; evidence</a:t>
            </a:r>
            <a:endParaRPr lang="en-US" sz="1600" dirty="0"/>
          </a:p>
        </p:txBody>
      </p:sp>
      <p:sp>
        <p:nvSpPr>
          <p:cNvPr id="21" name="shape_10_18"/>
          <p:cNvSpPr/>
          <p:nvPr/>
        </p:nvSpPr>
        <p:spPr>
          <a:xfrm>
            <a:off x="3017520" y="2286000"/>
            <a:ext cx="2791968" cy="841248"/>
          </a:xfrm>
          <a:prstGeom prst="roundRect">
            <a:avLst>
              <a:gd name="adj" fmla="val 10870"/>
            </a:avLst>
          </a:prstGeom>
          <a:solidFill>
            <a:schemeClr val="bg2"/>
          </a:solidFill>
          <a:ln w="12700">
            <a:solidFill>
              <a:schemeClr val="accent1"/>
            </a:solidFill>
            <a:prstDash val="solid"/>
          </a:ln>
        </p:spPr>
      </p:sp>
      <p:sp>
        <p:nvSpPr>
          <p:cNvPr id="22" name="text_10_19"/>
          <p:cNvSpPr txBox="1"/>
          <p:nvPr/>
        </p:nvSpPr>
        <p:spPr>
          <a:xfrm>
            <a:off x="3063240" y="2286000"/>
            <a:ext cx="2700528" cy="841248"/>
          </a:xfrm>
          <a:prstGeom prst="rect">
            <a:avLst/>
          </a:prstGeom>
          <a:noFill/>
          <a:ln/>
        </p:spPr>
        <p:txBody>
          <a:bodyPr wrap="square" lIns="0" tIns="0" rIns="0" bIns="0" rtlCol="0" anchor="ctr"/>
          <a:lstStyle/>
          <a:p>
            <a:pPr algn="ctr" indent="0" marL="0">
              <a:buNone/>
            </a:pPr>
            <a:r>
              <a:rPr lang="en-US" sz="1300" b="1" dirty="0">
                <a:solidFill>
                  <a:schemeClr val="tx1"/>
                </a:solidFill>
              </a:rPr>
              <a:t>engine.mjs — forward chaining</a:t>
            </a:r>
            <a:endParaRPr lang="en-US" sz="1300" dirty="0"/>
          </a:p>
        </p:txBody>
      </p:sp>
      <p:sp>
        <p:nvSpPr>
          <p:cNvPr id="23" name="shape_10_20"/>
          <p:cNvSpPr/>
          <p:nvPr/>
        </p:nvSpPr>
        <p:spPr>
          <a:xfrm>
            <a:off x="5919216" y="2286000"/>
            <a:ext cx="2791968" cy="841248"/>
          </a:xfrm>
          <a:prstGeom prst="roundRect">
            <a:avLst>
              <a:gd name="adj" fmla="val 10870"/>
            </a:avLst>
          </a:prstGeom>
          <a:solidFill>
            <a:schemeClr val="bg2"/>
          </a:solidFill>
          <a:ln w="12700">
            <a:solidFill>
              <a:schemeClr val="accent1"/>
            </a:solidFill>
            <a:prstDash val="solid"/>
          </a:ln>
        </p:spPr>
      </p:sp>
      <p:sp>
        <p:nvSpPr>
          <p:cNvPr id="24" name="text_10_21"/>
          <p:cNvSpPr txBox="1"/>
          <p:nvPr/>
        </p:nvSpPr>
        <p:spPr>
          <a:xfrm>
            <a:off x="5964936" y="2286000"/>
            <a:ext cx="2700528" cy="841248"/>
          </a:xfrm>
          <a:prstGeom prst="rect">
            <a:avLst/>
          </a:prstGeom>
          <a:noFill/>
          <a:ln/>
        </p:spPr>
        <p:txBody>
          <a:bodyPr wrap="square" lIns="0" tIns="0" rIns="0" bIns="0" rtlCol="0" anchor="ctr"/>
          <a:lstStyle/>
          <a:p>
            <a:pPr algn="ctr" indent="0" marL="0">
              <a:buNone/>
            </a:pPr>
            <a:r>
              <a:rPr lang="en-US" sz="1300" b="1" dirty="0">
                <a:solidFill>
                  <a:schemeClr val="tx1"/>
                </a:solidFill>
              </a:rPr>
              <a:t>evidence.mjs — conflict merge</a:t>
            </a:r>
            <a:endParaRPr lang="en-US" sz="1300" dirty="0"/>
          </a:p>
        </p:txBody>
      </p:sp>
      <p:sp>
        <p:nvSpPr>
          <p:cNvPr id="25" name="shape_10_22"/>
          <p:cNvSpPr/>
          <p:nvPr/>
        </p:nvSpPr>
        <p:spPr>
          <a:xfrm>
            <a:off x="8820912" y="2286000"/>
            <a:ext cx="2791968" cy="841248"/>
          </a:xfrm>
          <a:prstGeom prst="roundRect">
            <a:avLst>
              <a:gd name="adj" fmla="val 10870"/>
            </a:avLst>
          </a:prstGeom>
          <a:solidFill>
            <a:schemeClr val="bg2"/>
          </a:solidFill>
          <a:ln w="12700">
            <a:solidFill>
              <a:schemeClr val="accent1"/>
            </a:solidFill>
            <a:prstDash val="solid"/>
          </a:ln>
        </p:spPr>
      </p:sp>
      <p:sp>
        <p:nvSpPr>
          <p:cNvPr id="26" name="text_10_23"/>
          <p:cNvSpPr txBox="1"/>
          <p:nvPr/>
        </p:nvSpPr>
        <p:spPr>
          <a:xfrm>
            <a:off x="8866632" y="2286000"/>
            <a:ext cx="2700528" cy="841248"/>
          </a:xfrm>
          <a:prstGeom prst="rect">
            <a:avLst/>
          </a:prstGeom>
          <a:noFill/>
          <a:ln/>
        </p:spPr>
        <p:txBody>
          <a:bodyPr wrap="square" lIns="0" tIns="0" rIns="0" bIns="0" rtlCol="0" anchor="ctr"/>
          <a:lstStyle/>
          <a:p>
            <a:pPr algn="ctr" indent="0" marL="0">
              <a:buNone/>
            </a:pPr>
            <a:r>
              <a:rPr lang="en-US" sz="1300" b="1" dirty="0">
                <a:solidFill>
                  <a:schemeClr val="tx1"/>
                </a:solidFill>
              </a:rPr>
              <a:t>state.mjs — validation</a:t>
            </a:r>
            <a:endParaRPr lang="en-US" sz="1300" dirty="0"/>
          </a:p>
        </p:txBody>
      </p:sp>
      <p:sp>
        <p:nvSpPr>
          <p:cNvPr id="27" name="shape_10_24"/>
          <p:cNvSpPr/>
          <p:nvPr/>
        </p:nvSpPr>
        <p:spPr>
          <a:xfrm>
            <a:off x="1554480" y="3108960"/>
            <a:ext cx="274320" cy="137160"/>
          </a:xfrm>
          <a:prstGeom prst="downArrow">
            <a:avLst/>
          </a:prstGeom>
          <a:solidFill>
            <a:srgbClr val="5B6B7C"/>
          </a:solidFill>
          <a:ln w="12700">
            <a:solidFill>
              <a:srgbClr val="5B6B7C"/>
            </a:solidFill>
            <a:prstDash val="solid"/>
          </a:ln>
        </p:spPr>
      </p:sp>
      <p:sp>
        <p:nvSpPr>
          <p:cNvPr id="28" name="shape_10_25"/>
          <p:cNvSpPr/>
          <p:nvPr/>
        </p:nvSpPr>
        <p:spPr>
          <a:xfrm>
            <a:off x="548640" y="3246120"/>
            <a:ext cx="2286000" cy="841248"/>
          </a:xfrm>
          <a:prstGeom prst="roundRect">
            <a:avLst>
              <a:gd name="adj" fmla="val 10870"/>
            </a:avLst>
          </a:prstGeom>
          <a:solidFill>
            <a:schemeClr val="accent2"/>
          </a:solidFill>
          <a:ln w="12700">
            <a:solidFill>
              <a:schemeClr val="accent2"/>
            </a:solidFill>
            <a:prstDash val="solid"/>
          </a:ln>
        </p:spPr>
      </p:sp>
      <p:sp>
        <p:nvSpPr>
          <p:cNvPr id="29" name="text_10_26"/>
          <p:cNvSpPr txBox="1"/>
          <p:nvPr/>
        </p:nvSpPr>
        <p:spPr>
          <a:xfrm>
            <a:off x="640080" y="3246120"/>
            <a:ext cx="2103120" cy="841248"/>
          </a:xfrm>
          <a:prstGeom prst="rect">
            <a:avLst/>
          </a:prstGeom>
          <a:noFill/>
          <a:ln/>
        </p:spPr>
        <p:txBody>
          <a:bodyPr wrap="square" lIns="0" tIns="0" rIns="0" bIns="0" rtlCol="0" anchor="ctr"/>
          <a:lstStyle/>
          <a:p>
            <a:pPr algn="ctr" indent="0" marL="0">
              <a:buNone/>
            </a:pPr>
            <a:r>
              <a:rPr lang="en-US" sz="1600" b="1" dirty="0">
                <a:solidFill>
                  <a:schemeClr val="tx1"/>
                </a:solidFill>
              </a:rPr>
              <a:t>Knowledge</a:t>
            </a:r>
            <a:endParaRPr lang="en-US" sz="1600" dirty="0"/>
          </a:p>
        </p:txBody>
      </p:sp>
      <p:sp>
        <p:nvSpPr>
          <p:cNvPr id="30" name="shape_10_27"/>
          <p:cNvSpPr/>
          <p:nvPr/>
        </p:nvSpPr>
        <p:spPr>
          <a:xfrm>
            <a:off x="3017520" y="3246120"/>
            <a:ext cx="2791968" cy="841248"/>
          </a:xfrm>
          <a:prstGeom prst="roundRect">
            <a:avLst>
              <a:gd name="adj" fmla="val 10870"/>
            </a:avLst>
          </a:prstGeom>
          <a:solidFill>
            <a:schemeClr val="bg2"/>
          </a:solidFill>
          <a:ln w="12700">
            <a:solidFill>
              <a:schemeClr val="accent2"/>
            </a:solidFill>
            <a:prstDash val="solid"/>
          </a:ln>
        </p:spPr>
      </p:sp>
      <p:sp>
        <p:nvSpPr>
          <p:cNvPr id="31" name="text_10_28"/>
          <p:cNvSpPr txBox="1"/>
          <p:nvPr/>
        </p:nvSpPr>
        <p:spPr>
          <a:xfrm>
            <a:off x="3063240" y="3246120"/>
            <a:ext cx="2700528" cy="841248"/>
          </a:xfrm>
          <a:prstGeom prst="rect">
            <a:avLst/>
          </a:prstGeom>
          <a:noFill/>
          <a:ln/>
        </p:spPr>
        <p:txBody>
          <a:bodyPr wrap="square" lIns="0" tIns="0" rIns="0" bIns="0" rtlCol="0" anchor="ctr"/>
          <a:lstStyle/>
          <a:p>
            <a:pPr algn="ctr" indent="0" marL="0">
              <a:buNone/>
            </a:pPr>
            <a:r>
              <a:rPr lang="en-US" sz="1300" b="1" dirty="0">
                <a:solidFill>
                  <a:schemeClr val="tx1"/>
                </a:solidFill>
              </a:rPr>
              <a:t>knowledge_base.json</a:t>
            </a:r>
            <a:endParaRPr lang="en-US" sz="1300" dirty="0"/>
          </a:p>
        </p:txBody>
      </p:sp>
      <p:sp>
        <p:nvSpPr>
          <p:cNvPr id="32" name="shape_10_29"/>
          <p:cNvSpPr/>
          <p:nvPr/>
        </p:nvSpPr>
        <p:spPr>
          <a:xfrm>
            <a:off x="5919216" y="3246120"/>
            <a:ext cx="2791968" cy="841248"/>
          </a:xfrm>
          <a:prstGeom prst="roundRect">
            <a:avLst>
              <a:gd name="adj" fmla="val 10870"/>
            </a:avLst>
          </a:prstGeom>
          <a:solidFill>
            <a:schemeClr val="bg2"/>
          </a:solidFill>
          <a:ln w="12700">
            <a:solidFill>
              <a:schemeClr val="accent2"/>
            </a:solidFill>
            <a:prstDash val="solid"/>
          </a:ln>
        </p:spPr>
      </p:sp>
      <p:sp>
        <p:nvSpPr>
          <p:cNvPr id="33" name="text_10_30"/>
          <p:cNvSpPr txBox="1"/>
          <p:nvPr/>
        </p:nvSpPr>
        <p:spPr>
          <a:xfrm>
            <a:off x="5964936" y="3246120"/>
            <a:ext cx="2700528" cy="841248"/>
          </a:xfrm>
          <a:prstGeom prst="rect">
            <a:avLst/>
          </a:prstGeom>
          <a:noFill/>
          <a:ln/>
        </p:spPr>
        <p:txBody>
          <a:bodyPr wrap="square" lIns="0" tIns="0" rIns="0" bIns="0" rtlCol="0" anchor="ctr"/>
          <a:lstStyle/>
          <a:p>
            <a:pPr algn="ctr" indent="0" marL="0">
              <a:buNone/>
            </a:pPr>
            <a:r>
              <a:rPr lang="en-US" sz="1300" b="1" dirty="0">
                <a:solidFill>
                  <a:schemeClr val="tx1"/>
                </a:solidFill>
              </a:rPr>
              <a:t>sample_cases.json</a:t>
            </a:r>
            <a:endParaRPr lang="en-US" sz="1300" dirty="0"/>
          </a:p>
        </p:txBody>
      </p:sp>
      <p:sp>
        <p:nvSpPr>
          <p:cNvPr id="34" name="shape_10_31"/>
          <p:cNvSpPr/>
          <p:nvPr/>
        </p:nvSpPr>
        <p:spPr>
          <a:xfrm>
            <a:off x="8820912" y="3246120"/>
            <a:ext cx="2791968" cy="841248"/>
          </a:xfrm>
          <a:prstGeom prst="roundRect">
            <a:avLst>
              <a:gd name="adj" fmla="val 10870"/>
            </a:avLst>
          </a:prstGeom>
          <a:solidFill>
            <a:schemeClr val="bg2"/>
          </a:solidFill>
          <a:ln w="12700">
            <a:solidFill>
              <a:schemeClr val="accent2"/>
            </a:solidFill>
            <a:prstDash val="solid"/>
          </a:ln>
        </p:spPr>
      </p:sp>
      <p:sp>
        <p:nvSpPr>
          <p:cNvPr id="35" name="text_10_32"/>
          <p:cNvSpPr txBox="1"/>
          <p:nvPr/>
        </p:nvSpPr>
        <p:spPr>
          <a:xfrm>
            <a:off x="8866632" y="3246120"/>
            <a:ext cx="2700528" cy="841248"/>
          </a:xfrm>
          <a:prstGeom prst="rect">
            <a:avLst/>
          </a:prstGeom>
          <a:noFill/>
          <a:ln/>
        </p:spPr>
        <p:txBody>
          <a:bodyPr wrap="square" lIns="0" tIns="0" rIns="0" bIns="0" rtlCol="0" anchor="ctr"/>
          <a:lstStyle/>
          <a:p>
            <a:pPr algn="ctr" indent="0" marL="0">
              <a:buNone/>
            </a:pPr>
            <a:r>
              <a:rPr lang="en-US" sz="1300" b="1" dirty="0">
                <a:solidFill>
                  <a:schemeClr val="tx1"/>
                </a:solidFill>
              </a:rPr>
              <a:t>prediction_cases.json</a:t>
            </a:r>
            <a:endParaRPr lang="en-US" sz="1300" dirty="0"/>
          </a:p>
        </p:txBody>
      </p:sp>
      <p:sp>
        <p:nvSpPr>
          <p:cNvPr id="36" name="shape_10_33"/>
          <p:cNvSpPr/>
          <p:nvPr/>
        </p:nvSpPr>
        <p:spPr>
          <a:xfrm>
            <a:off x="1554480" y="4069080"/>
            <a:ext cx="274320" cy="137160"/>
          </a:xfrm>
          <a:prstGeom prst="downArrow">
            <a:avLst/>
          </a:prstGeom>
          <a:solidFill>
            <a:srgbClr val="5B6B7C"/>
          </a:solidFill>
          <a:ln w="12700">
            <a:solidFill>
              <a:srgbClr val="5B6B7C"/>
            </a:solidFill>
            <a:prstDash val="solid"/>
          </a:ln>
        </p:spPr>
      </p:sp>
      <p:sp>
        <p:nvSpPr>
          <p:cNvPr id="37" name="shape_10_34"/>
          <p:cNvSpPr/>
          <p:nvPr/>
        </p:nvSpPr>
        <p:spPr>
          <a:xfrm>
            <a:off x="548640" y="4206240"/>
            <a:ext cx="2286000" cy="841248"/>
          </a:xfrm>
          <a:prstGeom prst="roundRect">
            <a:avLst>
              <a:gd name="adj" fmla="val 10870"/>
            </a:avLst>
          </a:prstGeom>
          <a:solidFill>
            <a:schemeClr val="accent6"/>
          </a:solidFill>
          <a:ln w="12700">
            <a:solidFill>
              <a:schemeClr val="accent6"/>
            </a:solidFill>
            <a:prstDash val="solid"/>
          </a:ln>
        </p:spPr>
      </p:sp>
      <p:sp>
        <p:nvSpPr>
          <p:cNvPr id="38" name="text_10_35"/>
          <p:cNvSpPr txBox="1"/>
          <p:nvPr/>
        </p:nvSpPr>
        <p:spPr>
          <a:xfrm>
            <a:off x="640080" y="4206240"/>
            <a:ext cx="2103120" cy="841248"/>
          </a:xfrm>
          <a:prstGeom prst="rect">
            <a:avLst/>
          </a:prstGeom>
          <a:noFill/>
          <a:ln/>
        </p:spPr>
        <p:txBody>
          <a:bodyPr wrap="square" lIns="0" tIns="0" rIns="0" bIns="0" rtlCol="0" anchor="ctr"/>
          <a:lstStyle/>
          <a:p>
            <a:pPr algn="ctr" indent="0" marL="0">
              <a:buNone/>
            </a:pPr>
            <a:r>
              <a:rPr lang="en-US" sz="1600" b="1" dirty="0">
                <a:solidFill>
                  <a:schemeClr val="bg1"/>
                </a:solidFill>
              </a:rPr>
              <a:t>Data / ETL</a:t>
            </a:r>
            <a:endParaRPr lang="en-US" sz="1600" dirty="0"/>
          </a:p>
        </p:txBody>
      </p:sp>
      <p:sp>
        <p:nvSpPr>
          <p:cNvPr id="39" name="shape_10_36"/>
          <p:cNvSpPr/>
          <p:nvPr/>
        </p:nvSpPr>
        <p:spPr>
          <a:xfrm>
            <a:off x="3017520" y="4206240"/>
            <a:ext cx="2791968" cy="841248"/>
          </a:xfrm>
          <a:prstGeom prst="roundRect">
            <a:avLst>
              <a:gd name="adj" fmla="val 10870"/>
            </a:avLst>
          </a:prstGeom>
          <a:solidFill>
            <a:schemeClr val="bg2"/>
          </a:solidFill>
          <a:ln w="12700">
            <a:solidFill>
              <a:schemeClr val="accent6"/>
            </a:solidFill>
            <a:prstDash val="solid"/>
          </a:ln>
        </p:spPr>
      </p:sp>
      <p:sp>
        <p:nvSpPr>
          <p:cNvPr id="40" name="text_10_37"/>
          <p:cNvSpPr txBox="1"/>
          <p:nvPr/>
        </p:nvSpPr>
        <p:spPr>
          <a:xfrm>
            <a:off x="3063240" y="4206240"/>
            <a:ext cx="2700528" cy="841248"/>
          </a:xfrm>
          <a:prstGeom prst="rect">
            <a:avLst/>
          </a:prstGeom>
          <a:noFill/>
          <a:ln/>
        </p:spPr>
        <p:txBody>
          <a:bodyPr wrap="square" lIns="0" tIns="0" rIns="0" bIns="0" rtlCol="0" anchor="ctr"/>
          <a:lstStyle/>
          <a:p>
            <a:pPr algn="ctr" indent="0" marL="0">
              <a:buNone/>
            </a:pPr>
            <a:r>
              <a:rPr lang="en-US" sz="1300" b="1" dirty="0">
                <a:solidFill>
                  <a:schemeClr val="tx1"/>
                </a:solidFill>
              </a:rPr>
              <a:t>dataset/raw — UCI LP1–LP5</a:t>
            </a:r>
            <a:endParaRPr lang="en-US" sz="1300" dirty="0"/>
          </a:p>
        </p:txBody>
      </p:sp>
      <p:sp>
        <p:nvSpPr>
          <p:cNvPr id="41" name="shape_10_38"/>
          <p:cNvSpPr/>
          <p:nvPr/>
        </p:nvSpPr>
        <p:spPr>
          <a:xfrm>
            <a:off x="5919216" y="4206240"/>
            <a:ext cx="2791968" cy="841248"/>
          </a:xfrm>
          <a:prstGeom prst="roundRect">
            <a:avLst>
              <a:gd name="adj" fmla="val 10870"/>
            </a:avLst>
          </a:prstGeom>
          <a:solidFill>
            <a:schemeClr val="bg2"/>
          </a:solidFill>
          <a:ln w="12700">
            <a:solidFill>
              <a:schemeClr val="accent6"/>
            </a:solidFill>
            <a:prstDash val="solid"/>
          </a:ln>
        </p:spPr>
      </p:sp>
      <p:sp>
        <p:nvSpPr>
          <p:cNvPr id="42" name="text_10_39"/>
          <p:cNvSpPr txBox="1"/>
          <p:nvPr/>
        </p:nvSpPr>
        <p:spPr>
          <a:xfrm>
            <a:off x="5964936" y="4206240"/>
            <a:ext cx="2700528" cy="841248"/>
          </a:xfrm>
          <a:prstGeom prst="rect">
            <a:avLst/>
          </a:prstGeom>
          <a:noFill/>
          <a:ln/>
        </p:spPr>
        <p:txBody>
          <a:bodyPr wrap="square" lIns="0" tIns="0" rIns="0" bIns="0" rtlCol="0" anchor="ctr"/>
          <a:lstStyle/>
          <a:p>
            <a:pPr algn="ctr" indent="0" marL="0">
              <a:buNone/>
            </a:pPr>
            <a:r>
              <a:rPr lang="en-US" sz="1300" b="1" dirty="0">
                <a:solidFill>
                  <a:schemeClr val="tx1"/>
                </a:solidFill>
              </a:rPr>
              <a:t>etl_cleaning.ipynb</a:t>
            </a:r>
            <a:endParaRPr lang="en-US" sz="1300" dirty="0"/>
          </a:p>
        </p:txBody>
      </p:sp>
      <p:sp>
        <p:nvSpPr>
          <p:cNvPr id="43" name="shape_10_40"/>
          <p:cNvSpPr/>
          <p:nvPr/>
        </p:nvSpPr>
        <p:spPr>
          <a:xfrm>
            <a:off x="8820912" y="4206240"/>
            <a:ext cx="2791968" cy="841248"/>
          </a:xfrm>
          <a:prstGeom prst="roundRect">
            <a:avLst>
              <a:gd name="adj" fmla="val 10870"/>
            </a:avLst>
          </a:prstGeom>
          <a:solidFill>
            <a:schemeClr val="bg2"/>
          </a:solidFill>
          <a:ln w="12700">
            <a:solidFill>
              <a:schemeClr val="accent6"/>
            </a:solidFill>
            <a:prstDash val="solid"/>
          </a:ln>
        </p:spPr>
      </p:sp>
      <p:sp>
        <p:nvSpPr>
          <p:cNvPr id="44" name="text_10_41"/>
          <p:cNvSpPr txBox="1"/>
          <p:nvPr/>
        </p:nvSpPr>
        <p:spPr>
          <a:xfrm>
            <a:off x="8866632" y="4206240"/>
            <a:ext cx="2700528" cy="841248"/>
          </a:xfrm>
          <a:prstGeom prst="rect">
            <a:avLst/>
          </a:prstGeom>
          <a:noFill/>
          <a:ln/>
        </p:spPr>
        <p:txBody>
          <a:bodyPr wrap="square" lIns="0" tIns="0" rIns="0" bIns="0" rtlCol="0" anchor="ctr"/>
          <a:lstStyle/>
          <a:p>
            <a:pPr algn="ctr" indent="0" marL="0">
              <a:buNone/>
            </a:pPr>
            <a:r>
              <a:rPr lang="en-US" sz="1300" b="1" dirty="0">
                <a:solidFill>
                  <a:schemeClr val="tx1"/>
                </a:solidFill>
              </a:rPr>
              <a:t>dataset/cleaned</a:t>
            </a:r>
            <a:endParaRPr lang="en-US" sz="1300" dirty="0"/>
          </a:p>
        </p:txBody>
      </p:sp>
      <p:sp>
        <p:nvSpPr>
          <p:cNvPr id="45" name="shape_10_42"/>
          <p:cNvSpPr/>
          <p:nvPr/>
        </p:nvSpPr>
        <p:spPr>
          <a:xfrm>
            <a:off x="1554480" y="5029200"/>
            <a:ext cx="274320" cy="137160"/>
          </a:xfrm>
          <a:prstGeom prst="downArrow">
            <a:avLst/>
          </a:prstGeom>
          <a:solidFill>
            <a:srgbClr val="5B6B7C"/>
          </a:solidFill>
          <a:ln w="12700">
            <a:solidFill>
              <a:srgbClr val="5B6B7C"/>
            </a:solidFill>
            <a:prstDash val="solid"/>
          </a:ln>
        </p:spPr>
      </p:sp>
      <p:sp>
        <p:nvSpPr>
          <p:cNvPr id="46" name="shape_10_43"/>
          <p:cNvSpPr/>
          <p:nvPr/>
        </p:nvSpPr>
        <p:spPr>
          <a:xfrm>
            <a:off x="548640" y="5166360"/>
            <a:ext cx="2286000" cy="841248"/>
          </a:xfrm>
          <a:prstGeom prst="roundRect">
            <a:avLst>
              <a:gd name="adj" fmla="val 10870"/>
            </a:avLst>
          </a:prstGeom>
          <a:solidFill>
            <a:srgbClr val="6B7C8F"/>
          </a:solidFill>
          <a:ln w="12700">
            <a:solidFill>
              <a:srgbClr val="6B7C8F"/>
            </a:solidFill>
            <a:prstDash val="solid"/>
          </a:ln>
        </p:spPr>
      </p:sp>
      <p:sp>
        <p:nvSpPr>
          <p:cNvPr id="47" name="text_10_44"/>
          <p:cNvSpPr txBox="1"/>
          <p:nvPr/>
        </p:nvSpPr>
        <p:spPr>
          <a:xfrm>
            <a:off x="640080" y="5166360"/>
            <a:ext cx="2103120" cy="841248"/>
          </a:xfrm>
          <a:prstGeom prst="rect">
            <a:avLst/>
          </a:prstGeom>
          <a:noFill/>
          <a:ln/>
        </p:spPr>
        <p:txBody>
          <a:bodyPr wrap="square" lIns="0" tIns="0" rIns="0" bIns="0" rtlCol="0" anchor="ctr"/>
          <a:lstStyle/>
          <a:p>
            <a:pPr algn="ctr" indent="0" marL="0">
              <a:buNone/>
            </a:pPr>
            <a:r>
              <a:rPr lang="en-US" sz="1600" b="1" dirty="0">
                <a:solidFill>
                  <a:schemeClr val="bg1"/>
                </a:solidFill>
              </a:rPr>
              <a:t>Persistence &amp; deploy</a:t>
            </a:r>
            <a:endParaRPr lang="en-US" sz="1600" dirty="0"/>
          </a:p>
        </p:txBody>
      </p:sp>
      <p:sp>
        <p:nvSpPr>
          <p:cNvPr id="48" name="shape_10_45"/>
          <p:cNvSpPr/>
          <p:nvPr/>
        </p:nvSpPr>
        <p:spPr>
          <a:xfrm>
            <a:off x="3017520" y="5166360"/>
            <a:ext cx="2791968" cy="841248"/>
          </a:xfrm>
          <a:prstGeom prst="roundRect">
            <a:avLst>
              <a:gd name="adj" fmla="val 10870"/>
            </a:avLst>
          </a:prstGeom>
          <a:solidFill>
            <a:schemeClr val="bg2"/>
          </a:solidFill>
          <a:ln w="12700">
            <a:solidFill>
              <a:srgbClr val="6B7C8F"/>
            </a:solidFill>
            <a:prstDash val="solid"/>
          </a:ln>
        </p:spPr>
      </p:sp>
      <p:sp>
        <p:nvSpPr>
          <p:cNvPr id="49" name="text_10_46"/>
          <p:cNvSpPr txBox="1"/>
          <p:nvPr/>
        </p:nvSpPr>
        <p:spPr>
          <a:xfrm>
            <a:off x="3063240" y="5166360"/>
            <a:ext cx="2700528" cy="841248"/>
          </a:xfrm>
          <a:prstGeom prst="rect">
            <a:avLst/>
          </a:prstGeom>
          <a:noFill/>
          <a:ln/>
        </p:spPr>
        <p:txBody>
          <a:bodyPr wrap="square" lIns="0" tIns="0" rIns="0" bIns="0" rtlCol="0" anchor="ctr"/>
          <a:lstStyle/>
          <a:p>
            <a:pPr algn="ctr" indent="0" marL="0">
              <a:buNone/>
            </a:pPr>
            <a:r>
              <a:rPr lang="en-US" sz="1300" b="1" dirty="0">
                <a:solidFill>
                  <a:schemeClr val="tx1"/>
                </a:solidFill>
              </a:rPr>
              <a:t>localStorage</a:t>
            </a:r>
            <a:endParaRPr lang="en-US" sz="1300" dirty="0"/>
          </a:p>
        </p:txBody>
      </p:sp>
      <p:sp>
        <p:nvSpPr>
          <p:cNvPr id="50" name="shape_10_47"/>
          <p:cNvSpPr/>
          <p:nvPr/>
        </p:nvSpPr>
        <p:spPr>
          <a:xfrm>
            <a:off x="5919216" y="5166360"/>
            <a:ext cx="2791968" cy="841248"/>
          </a:xfrm>
          <a:prstGeom prst="roundRect">
            <a:avLst>
              <a:gd name="adj" fmla="val 10870"/>
            </a:avLst>
          </a:prstGeom>
          <a:solidFill>
            <a:schemeClr val="bg2"/>
          </a:solidFill>
          <a:ln w="12700">
            <a:solidFill>
              <a:srgbClr val="6B7C8F"/>
            </a:solidFill>
            <a:prstDash val="solid"/>
          </a:ln>
        </p:spPr>
      </p:sp>
      <p:sp>
        <p:nvSpPr>
          <p:cNvPr id="51" name="text_10_48"/>
          <p:cNvSpPr txBox="1"/>
          <p:nvPr/>
        </p:nvSpPr>
        <p:spPr>
          <a:xfrm>
            <a:off x="5964936" y="5166360"/>
            <a:ext cx="2700528" cy="841248"/>
          </a:xfrm>
          <a:prstGeom prst="rect">
            <a:avLst/>
          </a:prstGeom>
          <a:noFill/>
          <a:ln/>
        </p:spPr>
        <p:txBody>
          <a:bodyPr wrap="square" lIns="0" tIns="0" rIns="0" bIns="0" rtlCol="0" anchor="ctr"/>
          <a:lstStyle/>
          <a:p>
            <a:pPr algn="ctr" indent="0" marL="0">
              <a:buNone/>
            </a:pPr>
            <a:r>
              <a:rPr lang="en-US" sz="1300" b="1" dirty="0">
                <a:solidFill>
                  <a:schemeClr val="tx1"/>
                </a:solidFill>
              </a:rPr>
              <a:t>Supabase (optional)</a:t>
            </a:r>
            <a:endParaRPr lang="en-US" sz="1300" dirty="0"/>
          </a:p>
        </p:txBody>
      </p:sp>
      <p:sp>
        <p:nvSpPr>
          <p:cNvPr id="52" name="shape_10_49"/>
          <p:cNvSpPr/>
          <p:nvPr/>
        </p:nvSpPr>
        <p:spPr>
          <a:xfrm>
            <a:off x="8820912" y="5166360"/>
            <a:ext cx="2791968" cy="841248"/>
          </a:xfrm>
          <a:prstGeom prst="roundRect">
            <a:avLst>
              <a:gd name="adj" fmla="val 10870"/>
            </a:avLst>
          </a:prstGeom>
          <a:solidFill>
            <a:schemeClr val="bg2"/>
          </a:solidFill>
          <a:ln w="12700">
            <a:solidFill>
              <a:srgbClr val="6B7C8F"/>
            </a:solidFill>
            <a:prstDash val="solid"/>
          </a:ln>
        </p:spPr>
      </p:sp>
      <p:sp>
        <p:nvSpPr>
          <p:cNvPr id="53" name="text_10_50"/>
          <p:cNvSpPr txBox="1"/>
          <p:nvPr/>
        </p:nvSpPr>
        <p:spPr>
          <a:xfrm>
            <a:off x="8866632" y="5166360"/>
            <a:ext cx="2700528" cy="841248"/>
          </a:xfrm>
          <a:prstGeom prst="rect">
            <a:avLst/>
          </a:prstGeom>
          <a:noFill/>
          <a:ln/>
        </p:spPr>
        <p:txBody>
          <a:bodyPr wrap="square" lIns="0" tIns="0" rIns="0" bIns="0" rtlCol="0" anchor="ctr"/>
          <a:lstStyle/>
          <a:p>
            <a:pPr algn="ctr" indent="0" marL="0">
              <a:buNone/>
            </a:pPr>
            <a:r>
              <a:rPr lang="en-US" sz="1300" b="1" dirty="0">
                <a:solidFill>
                  <a:schemeClr val="tx1"/>
                </a:solidFill>
              </a:rPr>
              <a:t>Vercel + serve.py</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20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450"/>
                                        <p:tgtEl>
                                          <p:spTgt spid="4"/>
                                        </p:tgtEl>
                                      </p:cBhvr>
                                    </p:animEffect>
                                  </p:childTnLst>
                                </p:cTn>
                              </p:par>
                              <p:par>
                                <p:cTn id="8" presetID="22" presetClass="entr" presetSubtype="8" fill="hold"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450"/>
                                        <p:tgtEl>
                                          <p:spTgt spid="5"/>
                                        </p:tgtEl>
                                      </p:cBhvr>
                                    </p:animEffect>
                                  </p:childTnLst>
                                </p:cTn>
                              </p:par>
                              <p:par>
                                <p:cTn id="11" presetID="10" presetClass="entr" presetSubtype="0" fill="hold" nodeType="withEffect">
                                  <p:stCondLst>
                                    <p:cond delay="4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50"/>
                                        <p:tgtEl>
                                          <p:spTgt spid="6"/>
                                        </p:tgtEl>
                                      </p:cBhvr>
                                    </p:animEffect>
                                  </p:childTnLst>
                                </p:cTn>
                              </p:par>
                              <p:par>
                                <p:cTn id="14" presetID="10" presetClass="entr" presetSubtype="0" fill="hold" nodeType="withEffect">
                                  <p:stCondLst>
                                    <p:cond delay="45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50"/>
                                        <p:tgtEl>
                                          <p:spTgt spid="7"/>
                                        </p:tgtEl>
                                      </p:cBhvr>
                                    </p:animEffect>
                                  </p:childTnLst>
                                </p:cTn>
                              </p:par>
                              <p:par>
                                <p:cTn id="17" presetID="10" presetClass="entr" presetSubtype="0" fill="hold" nodeType="withEffect">
                                  <p:stCondLst>
                                    <p:cond delay="50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350"/>
                                        <p:tgtEl>
                                          <p:spTgt spid="8"/>
                                        </p:tgtEl>
                                      </p:cBhvr>
                                    </p:animEffect>
                                  </p:childTnLst>
                                </p:cTn>
                              </p:par>
                              <p:par>
                                <p:cTn id="20" presetID="10" presetClass="entr" presetSubtype="0" fill="hold" nodeType="withEffect">
                                  <p:stCondLst>
                                    <p:cond delay="55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350"/>
                                        <p:tgtEl>
                                          <p:spTgt spid="9"/>
                                        </p:tgtEl>
                                      </p:cBhvr>
                                    </p:animEffect>
                                  </p:childTnLst>
                                </p:cTn>
                              </p:par>
                              <p:par>
                                <p:cTn id="23" presetID="10" presetClass="entr" presetSubtype="0" fill="hold" nodeType="withEffect">
                                  <p:stCondLst>
                                    <p:cond delay="60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350"/>
                                        <p:tgtEl>
                                          <p:spTgt spid="10"/>
                                        </p:tgtEl>
                                      </p:cBhvr>
                                    </p:animEffect>
                                  </p:childTnLst>
                                </p:cTn>
                              </p:par>
                              <p:par>
                                <p:cTn id="26" presetID="10" presetClass="entr" presetSubtype="0" fill="hold" nodeType="withEffect">
                                  <p:stCondLst>
                                    <p:cond delay="60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250"/>
                                        <p:tgtEl>
                                          <p:spTgt spid="18"/>
                                        </p:tgtEl>
                                      </p:cBhvr>
                                    </p:animEffect>
                                  </p:childTnLst>
                                </p:cTn>
                              </p:par>
                              <p:par>
                                <p:cTn id="29" presetID="10" presetClass="entr" presetSubtype="0" fill="hold" nodeType="withEffect">
                                  <p:stCondLst>
                                    <p:cond delay="65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350"/>
                                        <p:tgtEl>
                                          <p:spTgt spid="11"/>
                                        </p:tgtEl>
                                      </p:cBhvr>
                                    </p:animEffect>
                                  </p:childTnLst>
                                </p:cTn>
                              </p:par>
                              <p:par>
                                <p:cTn id="32" presetID="22" presetClass="entr" presetSubtype="8" fill="hold" nodeType="withEffect">
                                  <p:stCondLst>
                                    <p:cond delay="650"/>
                                  </p:stCondLst>
                                  <p:childTnLst>
                                    <p:set>
                                      <p:cBhvr>
                                        <p:cTn id="33" dur="1" fill="hold">
                                          <p:stCondLst>
                                            <p:cond delay="0"/>
                                          </p:stCondLst>
                                        </p:cTn>
                                        <p:tgtEl>
                                          <p:spTgt spid="19"/>
                                        </p:tgtEl>
                                        <p:attrNameLst>
                                          <p:attrName>style.visibility</p:attrName>
                                        </p:attrNameLst>
                                      </p:cBhvr>
                                      <p:to>
                                        <p:strVal val="visible"/>
                                      </p:to>
                                    </p:set>
                                    <p:animEffect transition="in" filter="wipe(left)">
                                      <p:cBhvr>
                                        <p:cTn id="34" dur="450"/>
                                        <p:tgtEl>
                                          <p:spTgt spid="19"/>
                                        </p:tgtEl>
                                      </p:cBhvr>
                                    </p:animEffect>
                                  </p:childTnLst>
                                </p:cTn>
                              </p:par>
                              <p:par>
                                <p:cTn id="35" presetID="10" presetClass="entr" presetSubtype="0" fill="hold" nodeType="withEffect">
                                  <p:stCondLst>
                                    <p:cond delay="70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350"/>
                                        <p:tgtEl>
                                          <p:spTgt spid="12"/>
                                        </p:tgtEl>
                                      </p:cBhvr>
                                    </p:animEffect>
                                  </p:childTnLst>
                                </p:cTn>
                              </p:par>
                              <p:par>
                                <p:cTn id="38" presetID="22" presetClass="entr" presetSubtype="8" fill="hold" nodeType="withEffect">
                                  <p:stCondLst>
                                    <p:cond delay="700"/>
                                  </p:stCondLst>
                                  <p:childTnLst>
                                    <p:set>
                                      <p:cBhvr>
                                        <p:cTn id="39" dur="1" fill="hold">
                                          <p:stCondLst>
                                            <p:cond delay="0"/>
                                          </p:stCondLst>
                                        </p:cTn>
                                        <p:tgtEl>
                                          <p:spTgt spid="20"/>
                                        </p:tgtEl>
                                        <p:attrNameLst>
                                          <p:attrName>style.visibility</p:attrName>
                                        </p:attrNameLst>
                                      </p:cBhvr>
                                      <p:to>
                                        <p:strVal val="visible"/>
                                      </p:to>
                                    </p:set>
                                    <p:animEffect transition="in" filter="wipe(left)">
                                      <p:cBhvr>
                                        <p:cTn id="40" dur="450"/>
                                        <p:tgtEl>
                                          <p:spTgt spid="20"/>
                                        </p:tgtEl>
                                      </p:cBhvr>
                                    </p:animEffect>
                                  </p:childTnLst>
                                </p:cTn>
                              </p:par>
                              <p:par>
                                <p:cTn id="41" presetID="10" presetClass="entr" presetSubtype="0" fill="hold" nodeType="withEffect">
                                  <p:stCondLst>
                                    <p:cond delay="75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350"/>
                                        <p:tgtEl>
                                          <p:spTgt spid="13"/>
                                        </p:tgtEl>
                                      </p:cBhvr>
                                    </p:animEffect>
                                  </p:childTnLst>
                                </p:cTn>
                              </p:par>
                              <p:par>
                                <p:cTn id="44" presetID="10" presetClass="entr" presetSubtype="0" fill="hold" nodeType="withEffect">
                                  <p:stCondLst>
                                    <p:cond delay="80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350"/>
                                        <p:tgtEl>
                                          <p:spTgt spid="14"/>
                                        </p:tgtEl>
                                      </p:cBhvr>
                                    </p:animEffect>
                                  </p:childTnLst>
                                </p:cTn>
                              </p:par>
                              <p:par>
                                <p:cTn id="47" presetID="10" presetClass="entr" presetSubtype="0" fill="hold" nodeType="withEffect">
                                  <p:stCondLst>
                                    <p:cond delay="85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350"/>
                                        <p:tgtEl>
                                          <p:spTgt spid="15"/>
                                        </p:tgtEl>
                                      </p:cBhvr>
                                    </p:animEffect>
                                  </p:childTnLst>
                                </p:cTn>
                              </p:par>
                              <p:par>
                                <p:cTn id="50" presetID="10" presetClass="entr" presetSubtype="0" fill="hold" nodeType="withEffect">
                                  <p:stCondLst>
                                    <p:cond delay="85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350"/>
                                        <p:tgtEl>
                                          <p:spTgt spid="21"/>
                                        </p:tgtEl>
                                      </p:cBhvr>
                                    </p:animEffect>
                                  </p:childTnLst>
                                </p:cTn>
                              </p:par>
                              <p:par>
                                <p:cTn id="53" presetID="10" presetClass="entr" presetSubtype="0" fill="hold" nodeType="withEffect">
                                  <p:stCondLst>
                                    <p:cond delay="90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350"/>
                                        <p:tgtEl>
                                          <p:spTgt spid="16"/>
                                        </p:tgtEl>
                                      </p:cBhvr>
                                    </p:animEffect>
                                  </p:childTnLst>
                                </p:cTn>
                              </p:par>
                              <p:par>
                                <p:cTn id="56" presetID="10" presetClass="entr" presetSubtype="0" fill="hold" nodeType="withEffect">
                                  <p:stCondLst>
                                    <p:cond delay="90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350"/>
                                        <p:tgtEl>
                                          <p:spTgt spid="22"/>
                                        </p:tgtEl>
                                      </p:cBhvr>
                                    </p:animEffect>
                                  </p:childTnLst>
                                </p:cTn>
                              </p:par>
                              <p:par>
                                <p:cTn id="59" presetID="10" presetClass="entr" presetSubtype="0" fill="hold" nodeType="withEffect">
                                  <p:stCondLst>
                                    <p:cond delay="95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350"/>
                                        <p:tgtEl>
                                          <p:spTgt spid="17"/>
                                        </p:tgtEl>
                                      </p:cBhvr>
                                    </p:animEffect>
                                  </p:childTnLst>
                                </p:cTn>
                              </p:par>
                              <p:par>
                                <p:cTn id="62" presetID="10" presetClass="entr" presetSubtype="0" fill="hold" nodeType="withEffect">
                                  <p:stCondLst>
                                    <p:cond delay="95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350"/>
                                        <p:tgtEl>
                                          <p:spTgt spid="23"/>
                                        </p:tgtEl>
                                      </p:cBhvr>
                                    </p:animEffect>
                                  </p:childTnLst>
                                </p:cTn>
                              </p:par>
                              <p:par>
                                <p:cTn id="65" presetID="10" presetClass="entr" presetSubtype="0" fill="hold" nodeType="withEffect">
                                  <p:stCondLst>
                                    <p:cond delay="100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350"/>
                                        <p:tgtEl>
                                          <p:spTgt spid="24"/>
                                        </p:tgtEl>
                                      </p:cBhvr>
                                    </p:animEffect>
                                  </p:childTnLst>
                                </p:cTn>
                              </p:par>
                              <p:par>
                                <p:cTn id="68" presetID="10" presetClass="entr" presetSubtype="0" fill="hold" nodeType="withEffect">
                                  <p:stCondLst>
                                    <p:cond delay="105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350"/>
                                        <p:tgtEl>
                                          <p:spTgt spid="25"/>
                                        </p:tgtEl>
                                      </p:cBhvr>
                                    </p:animEffect>
                                  </p:childTnLst>
                                </p:cTn>
                              </p:par>
                              <p:par>
                                <p:cTn id="71" presetID="10" presetClass="entr" presetSubtype="0" fill="hold" nodeType="withEffect">
                                  <p:stCondLst>
                                    <p:cond delay="105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250"/>
                                        <p:tgtEl>
                                          <p:spTgt spid="27"/>
                                        </p:tgtEl>
                                      </p:cBhvr>
                                    </p:animEffect>
                                  </p:childTnLst>
                                </p:cTn>
                              </p:par>
                              <p:par>
                                <p:cTn id="74" presetID="10" presetClass="entr" presetSubtype="0" fill="hold" nodeType="withEffect">
                                  <p:stCondLst>
                                    <p:cond delay="110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350"/>
                                        <p:tgtEl>
                                          <p:spTgt spid="26"/>
                                        </p:tgtEl>
                                      </p:cBhvr>
                                    </p:animEffect>
                                  </p:childTnLst>
                                </p:cTn>
                              </p:par>
                              <p:par>
                                <p:cTn id="77" presetID="22" presetClass="entr" presetSubtype="8" fill="hold" nodeType="withEffect">
                                  <p:stCondLst>
                                    <p:cond delay="1100"/>
                                  </p:stCondLst>
                                  <p:childTnLst>
                                    <p:set>
                                      <p:cBhvr>
                                        <p:cTn id="78" dur="1" fill="hold">
                                          <p:stCondLst>
                                            <p:cond delay="0"/>
                                          </p:stCondLst>
                                        </p:cTn>
                                        <p:tgtEl>
                                          <p:spTgt spid="28"/>
                                        </p:tgtEl>
                                        <p:attrNameLst>
                                          <p:attrName>style.visibility</p:attrName>
                                        </p:attrNameLst>
                                      </p:cBhvr>
                                      <p:to>
                                        <p:strVal val="visible"/>
                                      </p:to>
                                    </p:set>
                                    <p:animEffect transition="in" filter="wipe(left)">
                                      <p:cBhvr>
                                        <p:cTn id="79" dur="450"/>
                                        <p:tgtEl>
                                          <p:spTgt spid="28"/>
                                        </p:tgtEl>
                                      </p:cBhvr>
                                    </p:animEffect>
                                  </p:childTnLst>
                                </p:cTn>
                              </p:par>
                              <p:par>
                                <p:cTn id="80" presetID="22" presetClass="entr" presetSubtype="8" fill="hold" nodeType="withEffect">
                                  <p:stCondLst>
                                    <p:cond delay="1150"/>
                                  </p:stCondLst>
                                  <p:childTnLst>
                                    <p:set>
                                      <p:cBhvr>
                                        <p:cTn id="81" dur="1" fill="hold">
                                          <p:stCondLst>
                                            <p:cond delay="0"/>
                                          </p:stCondLst>
                                        </p:cTn>
                                        <p:tgtEl>
                                          <p:spTgt spid="29"/>
                                        </p:tgtEl>
                                        <p:attrNameLst>
                                          <p:attrName>style.visibility</p:attrName>
                                        </p:attrNameLst>
                                      </p:cBhvr>
                                      <p:to>
                                        <p:strVal val="visible"/>
                                      </p:to>
                                    </p:set>
                                    <p:animEffect transition="in" filter="wipe(left)">
                                      <p:cBhvr>
                                        <p:cTn id="82" dur="450"/>
                                        <p:tgtEl>
                                          <p:spTgt spid="29"/>
                                        </p:tgtEl>
                                      </p:cBhvr>
                                    </p:animEffect>
                                  </p:childTnLst>
                                </p:cTn>
                              </p:par>
                              <p:par>
                                <p:cTn id="83" presetID="10" presetClass="entr" presetSubtype="0" fill="hold" nodeType="withEffect">
                                  <p:stCondLst>
                                    <p:cond delay="130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350"/>
                                        <p:tgtEl>
                                          <p:spTgt spid="30"/>
                                        </p:tgtEl>
                                      </p:cBhvr>
                                    </p:animEffect>
                                  </p:childTnLst>
                                </p:cTn>
                              </p:par>
                              <p:par>
                                <p:cTn id="86" presetID="10" presetClass="entr" presetSubtype="0" fill="hold" nodeType="withEffect">
                                  <p:stCondLst>
                                    <p:cond delay="135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350"/>
                                        <p:tgtEl>
                                          <p:spTgt spid="31"/>
                                        </p:tgtEl>
                                      </p:cBhvr>
                                    </p:animEffect>
                                  </p:childTnLst>
                                </p:cTn>
                              </p:par>
                              <p:par>
                                <p:cTn id="89" presetID="10" presetClass="entr" presetSubtype="0" fill="hold" nodeType="withEffect">
                                  <p:stCondLst>
                                    <p:cond delay="140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350"/>
                                        <p:tgtEl>
                                          <p:spTgt spid="32"/>
                                        </p:tgtEl>
                                      </p:cBhvr>
                                    </p:animEffect>
                                  </p:childTnLst>
                                </p:cTn>
                              </p:par>
                              <p:par>
                                <p:cTn id="92" presetID="10" presetClass="entr" presetSubtype="0" fill="hold" nodeType="withEffect">
                                  <p:stCondLst>
                                    <p:cond delay="145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350"/>
                                        <p:tgtEl>
                                          <p:spTgt spid="33"/>
                                        </p:tgtEl>
                                      </p:cBhvr>
                                    </p:animEffect>
                                  </p:childTnLst>
                                </p:cTn>
                              </p:par>
                              <p:par>
                                <p:cTn id="95" presetID="10" presetClass="entr" presetSubtype="0" fill="hold" nodeType="withEffect">
                                  <p:stCondLst>
                                    <p:cond delay="150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350"/>
                                        <p:tgtEl>
                                          <p:spTgt spid="34"/>
                                        </p:tgtEl>
                                      </p:cBhvr>
                                    </p:animEffect>
                                  </p:childTnLst>
                                </p:cTn>
                              </p:par>
                              <p:par>
                                <p:cTn id="98" presetID="10" presetClass="entr" presetSubtype="0" fill="hold" nodeType="withEffect">
                                  <p:stCondLst>
                                    <p:cond delay="1500"/>
                                  </p:stCondLst>
                                  <p:childTnLst>
                                    <p:set>
                                      <p:cBhvr>
                                        <p:cTn id="99" dur="1" fill="hold">
                                          <p:stCondLst>
                                            <p:cond delay="0"/>
                                          </p:stCondLst>
                                        </p:cTn>
                                        <p:tgtEl>
                                          <p:spTgt spid="36"/>
                                        </p:tgtEl>
                                        <p:attrNameLst>
                                          <p:attrName>style.visibility</p:attrName>
                                        </p:attrNameLst>
                                      </p:cBhvr>
                                      <p:to>
                                        <p:strVal val="visible"/>
                                      </p:to>
                                    </p:set>
                                    <p:animEffect transition="in" filter="fade">
                                      <p:cBhvr>
                                        <p:cTn id="100" dur="250"/>
                                        <p:tgtEl>
                                          <p:spTgt spid="36"/>
                                        </p:tgtEl>
                                      </p:cBhvr>
                                    </p:animEffect>
                                  </p:childTnLst>
                                </p:cTn>
                              </p:par>
                              <p:par>
                                <p:cTn id="101" presetID="10" presetClass="entr" presetSubtype="0" fill="hold" nodeType="withEffect">
                                  <p:stCondLst>
                                    <p:cond delay="1550"/>
                                  </p:stCondLst>
                                  <p:childTnLst>
                                    <p:set>
                                      <p:cBhvr>
                                        <p:cTn id="102" dur="1" fill="hold">
                                          <p:stCondLst>
                                            <p:cond delay="0"/>
                                          </p:stCondLst>
                                        </p:cTn>
                                        <p:tgtEl>
                                          <p:spTgt spid="35"/>
                                        </p:tgtEl>
                                        <p:attrNameLst>
                                          <p:attrName>style.visibility</p:attrName>
                                        </p:attrNameLst>
                                      </p:cBhvr>
                                      <p:to>
                                        <p:strVal val="visible"/>
                                      </p:to>
                                    </p:set>
                                    <p:animEffect transition="in" filter="fade">
                                      <p:cBhvr>
                                        <p:cTn id="103" dur="350"/>
                                        <p:tgtEl>
                                          <p:spTgt spid="35"/>
                                        </p:tgtEl>
                                      </p:cBhvr>
                                    </p:animEffect>
                                  </p:childTnLst>
                                </p:cTn>
                              </p:par>
                              <p:par>
                                <p:cTn id="104" presetID="22" presetClass="entr" presetSubtype="8" fill="hold" nodeType="withEffect">
                                  <p:stCondLst>
                                    <p:cond delay="1550"/>
                                  </p:stCondLst>
                                  <p:childTnLst>
                                    <p:set>
                                      <p:cBhvr>
                                        <p:cTn id="105" dur="1" fill="hold">
                                          <p:stCondLst>
                                            <p:cond delay="0"/>
                                          </p:stCondLst>
                                        </p:cTn>
                                        <p:tgtEl>
                                          <p:spTgt spid="37"/>
                                        </p:tgtEl>
                                        <p:attrNameLst>
                                          <p:attrName>style.visibility</p:attrName>
                                        </p:attrNameLst>
                                      </p:cBhvr>
                                      <p:to>
                                        <p:strVal val="visible"/>
                                      </p:to>
                                    </p:set>
                                    <p:animEffect transition="in" filter="wipe(left)">
                                      <p:cBhvr>
                                        <p:cTn id="106" dur="450"/>
                                        <p:tgtEl>
                                          <p:spTgt spid="37"/>
                                        </p:tgtEl>
                                      </p:cBhvr>
                                    </p:animEffect>
                                  </p:childTnLst>
                                </p:cTn>
                              </p:par>
                              <p:par>
                                <p:cTn id="107" presetID="22" presetClass="entr" presetSubtype="8" fill="hold" nodeType="withEffect">
                                  <p:stCondLst>
                                    <p:cond delay="1600"/>
                                  </p:stCondLst>
                                  <p:childTnLst>
                                    <p:set>
                                      <p:cBhvr>
                                        <p:cTn id="108" dur="1" fill="hold">
                                          <p:stCondLst>
                                            <p:cond delay="0"/>
                                          </p:stCondLst>
                                        </p:cTn>
                                        <p:tgtEl>
                                          <p:spTgt spid="38"/>
                                        </p:tgtEl>
                                        <p:attrNameLst>
                                          <p:attrName>style.visibility</p:attrName>
                                        </p:attrNameLst>
                                      </p:cBhvr>
                                      <p:to>
                                        <p:strVal val="visible"/>
                                      </p:to>
                                    </p:set>
                                    <p:animEffect transition="in" filter="wipe(left)">
                                      <p:cBhvr>
                                        <p:cTn id="109" dur="450"/>
                                        <p:tgtEl>
                                          <p:spTgt spid="38"/>
                                        </p:tgtEl>
                                      </p:cBhvr>
                                    </p:animEffect>
                                  </p:childTnLst>
                                </p:cTn>
                              </p:par>
                              <p:par>
                                <p:cTn id="110" presetID="10" presetClass="entr" presetSubtype="0" fill="hold" nodeType="withEffect">
                                  <p:stCondLst>
                                    <p:cond delay="1750"/>
                                  </p:stCondLst>
                                  <p:childTnLst>
                                    <p:set>
                                      <p:cBhvr>
                                        <p:cTn id="111" dur="1" fill="hold">
                                          <p:stCondLst>
                                            <p:cond delay="0"/>
                                          </p:stCondLst>
                                        </p:cTn>
                                        <p:tgtEl>
                                          <p:spTgt spid="39"/>
                                        </p:tgtEl>
                                        <p:attrNameLst>
                                          <p:attrName>style.visibility</p:attrName>
                                        </p:attrNameLst>
                                      </p:cBhvr>
                                      <p:to>
                                        <p:strVal val="visible"/>
                                      </p:to>
                                    </p:set>
                                    <p:animEffect transition="in" filter="fade">
                                      <p:cBhvr>
                                        <p:cTn id="112" dur="350"/>
                                        <p:tgtEl>
                                          <p:spTgt spid="39"/>
                                        </p:tgtEl>
                                      </p:cBhvr>
                                    </p:animEffect>
                                  </p:childTnLst>
                                </p:cTn>
                              </p:par>
                              <p:par>
                                <p:cTn id="113" presetID="10" presetClass="entr" presetSubtype="0" fill="hold" nodeType="withEffect">
                                  <p:stCondLst>
                                    <p:cond delay="1800"/>
                                  </p:stCondLst>
                                  <p:childTnLst>
                                    <p:set>
                                      <p:cBhvr>
                                        <p:cTn id="114" dur="1" fill="hold">
                                          <p:stCondLst>
                                            <p:cond delay="0"/>
                                          </p:stCondLst>
                                        </p:cTn>
                                        <p:tgtEl>
                                          <p:spTgt spid="40"/>
                                        </p:tgtEl>
                                        <p:attrNameLst>
                                          <p:attrName>style.visibility</p:attrName>
                                        </p:attrNameLst>
                                      </p:cBhvr>
                                      <p:to>
                                        <p:strVal val="visible"/>
                                      </p:to>
                                    </p:set>
                                    <p:animEffect transition="in" filter="fade">
                                      <p:cBhvr>
                                        <p:cTn id="115" dur="350"/>
                                        <p:tgtEl>
                                          <p:spTgt spid="40"/>
                                        </p:tgtEl>
                                      </p:cBhvr>
                                    </p:animEffect>
                                  </p:childTnLst>
                                </p:cTn>
                              </p:par>
                              <p:par>
                                <p:cTn id="116" presetID="10" presetClass="entr" presetSubtype="0" fill="hold" nodeType="withEffect">
                                  <p:stCondLst>
                                    <p:cond delay="1850"/>
                                  </p:stCondLst>
                                  <p:childTnLst>
                                    <p:set>
                                      <p:cBhvr>
                                        <p:cTn id="117" dur="1" fill="hold">
                                          <p:stCondLst>
                                            <p:cond delay="0"/>
                                          </p:stCondLst>
                                        </p:cTn>
                                        <p:tgtEl>
                                          <p:spTgt spid="41"/>
                                        </p:tgtEl>
                                        <p:attrNameLst>
                                          <p:attrName>style.visibility</p:attrName>
                                        </p:attrNameLst>
                                      </p:cBhvr>
                                      <p:to>
                                        <p:strVal val="visible"/>
                                      </p:to>
                                    </p:set>
                                    <p:animEffect transition="in" filter="fade">
                                      <p:cBhvr>
                                        <p:cTn id="118" dur="350"/>
                                        <p:tgtEl>
                                          <p:spTgt spid="41"/>
                                        </p:tgtEl>
                                      </p:cBhvr>
                                    </p:animEffect>
                                  </p:childTnLst>
                                </p:cTn>
                              </p:par>
                              <p:par>
                                <p:cTn id="119" presetID="10" presetClass="entr" presetSubtype="0" fill="hold" nodeType="withEffect">
                                  <p:stCondLst>
                                    <p:cond delay="1900"/>
                                  </p:stCondLst>
                                  <p:childTnLst>
                                    <p:set>
                                      <p:cBhvr>
                                        <p:cTn id="120" dur="1" fill="hold">
                                          <p:stCondLst>
                                            <p:cond delay="0"/>
                                          </p:stCondLst>
                                        </p:cTn>
                                        <p:tgtEl>
                                          <p:spTgt spid="42"/>
                                        </p:tgtEl>
                                        <p:attrNameLst>
                                          <p:attrName>style.visibility</p:attrName>
                                        </p:attrNameLst>
                                      </p:cBhvr>
                                      <p:to>
                                        <p:strVal val="visible"/>
                                      </p:to>
                                    </p:set>
                                    <p:animEffect transition="in" filter="fade">
                                      <p:cBhvr>
                                        <p:cTn id="121" dur="350"/>
                                        <p:tgtEl>
                                          <p:spTgt spid="42"/>
                                        </p:tgtEl>
                                      </p:cBhvr>
                                    </p:animEffect>
                                  </p:childTnLst>
                                </p:cTn>
                              </p:par>
                              <p:par>
                                <p:cTn id="122" presetID="10" presetClass="entr" presetSubtype="0" fill="hold" nodeType="withEffect">
                                  <p:stCondLst>
                                    <p:cond delay="1950"/>
                                  </p:stCondLst>
                                  <p:childTnLst>
                                    <p:set>
                                      <p:cBhvr>
                                        <p:cTn id="123" dur="1" fill="hold">
                                          <p:stCondLst>
                                            <p:cond delay="0"/>
                                          </p:stCondLst>
                                        </p:cTn>
                                        <p:tgtEl>
                                          <p:spTgt spid="43"/>
                                        </p:tgtEl>
                                        <p:attrNameLst>
                                          <p:attrName>style.visibility</p:attrName>
                                        </p:attrNameLst>
                                      </p:cBhvr>
                                      <p:to>
                                        <p:strVal val="visible"/>
                                      </p:to>
                                    </p:set>
                                    <p:animEffect transition="in" filter="fade">
                                      <p:cBhvr>
                                        <p:cTn id="124" dur="350"/>
                                        <p:tgtEl>
                                          <p:spTgt spid="43"/>
                                        </p:tgtEl>
                                      </p:cBhvr>
                                    </p:animEffect>
                                  </p:childTnLst>
                                </p:cTn>
                              </p:par>
                              <p:par>
                                <p:cTn id="125" presetID="10" presetClass="entr" presetSubtype="0" fill="hold" nodeType="withEffect">
                                  <p:stCondLst>
                                    <p:cond delay="1950"/>
                                  </p:stCondLst>
                                  <p:childTnLst>
                                    <p:set>
                                      <p:cBhvr>
                                        <p:cTn id="126" dur="1" fill="hold">
                                          <p:stCondLst>
                                            <p:cond delay="0"/>
                                          </p:stCondLst>
                                        </p:cTn>
                                        <p:tgtEl>
                                          <p:spTgt spid="45"/>
                                        </p:tgtEl>
                                        <p:attrNameLst>
                                          <p:attrName>style.visibility</p:attrName>
                                        </p:attrNameLst>
                                      </p:cBhvr>
                                      <p:to>
                                        <p:strVal val="visible"/>
                                      </p:to>
                                    </p:set>
                                    <p:animEffect transition="in" filter="fade">
                                      <p:cBhvr>
                                        <p:cTn id="127" dur="250"/>
                                        <p:tgtEl>
                                          <p:spTgt spid="45"/>
                                        </p:tgtEl>
                                      </p:cBhvr>
                                    </p:animEffect>
                                  </p:childTnLst>
                                </p:cTn>
                              </p:par>
                              <p:par>
                                <p:cTn id="128" presetID="10" presetClass="entr" presetSubtype="0" fill="hold" nodeType="withEffect">
                                  <p:stCondLst>
                                    <p:cond delay="2000"/>
                                  </p:stCondLst>
                                  <p:childTnLst>
                                    <p:set>
                                      <p:cBhvr>
                                        <p:cTn id="129" dur="1" fill="hold">
                                          <p:stCondLst>
                                            <p:cond delay="0"/>
                                          </p:stCondLst>
                                        </p:cTn>
                                        <p:tgtEl>
                                          <p:spTgt spid="44"/>
                                        </p:tgtEl>
                                        <p:attrNameLst>
                                          <p:attrName>style.visibility</p:attrName>
                                        </p:attrNameLst>
                                      </p:cBhvr>
                                      <p:to>
                                        <p:strVal val="visible"/>
                                      </p:to>
                                    </p:set>
                                    <p:animEffect transition="in" filter="fade">
                                      <p:cBhvr>
                                        <p:cTn id="130" dur="350"/>
                                        <p:tgtEl>
                                          <p:spTgt spid="44"/>
                                        </p:tgtEl>
                                      </p:cBhvr>
                                    </p:animEffect>
                                  </p:childTnLst>
                                </p:cTn>
                              </p:par>
                              <p:par>
                                <p:cTn id="131" presetID="22" presetClass="entr" presetSubtype="8" fill="hold" nodeType="withEffect">
                                  <p:stCondLst>
                                    <p:cond delay="2000"/>
                                  </p:stCondLst>
                                  <p:childTnLst>
                                    <p:set>
                                      <p:cBhvr>
                                        <p:cTn id="132" dur="1" fill="hold">
                                          <p:stCondLst>
                                            <p:cond delay="0"/>
                                          </p:stCondLst>
                                        </p:cTn>
                                        <p:tgtEl>
                                          <p:spTgt spid="46"/>
                                        </p:tgtEl>
                                        <p:attrNameLst>
                                          <p:attrName>style.visibility</p:attrName>
                                        </p:attrNameLst>
                                      </p:cBhvr>
                                      <p:to>
                                        <p:strVal val="visible"/>
                                      </p:to>
                                    </p:set>
                                    <p:animEffect transition="in" filter="wipe(left)">
                                      <p:cBhvr>
                                        <p:cTn id="133" dur="450"/>
                                        <p:tgtEl>
                                          <p:spTgt spid="46"/>
                                        </p:tgtEl>
                                      </p:cBhvr>
                                    </p:animEffect>
                                  </p:childTnLst>
                                </p:cTn>
                              </p:par>
                              <p:par>
                                <p:cTn id="134" presetID="22" presetClass="entr" presetSubtype="8" fill="hold" nodeType="withEffect">
                                  <p:stCondLst>
                                    <p:cond delay="2050"/>
                                  </p:stCondLst>
                                  <p:childTnLst>
                                    <p:set>
                                      <p:cBhvr>
                                        <p:cTn id="135" dur="1" fill="hold">
                                          <p:stCondLst>
                                            <p:cond delay="0"/>
                                          </p:stCondLst>
                                        </p:cTn>
                                        <p:tgtEl>
                                          <p:spTgt spid="47"/>
                                        </p:tgtEl>
                                        <p:attrNameLst>
                                          <p:attrName>style.visibility</p:attrName>
                                        </p:attrNameLst>
                                      </p:cBhvr>
                                      <p:to>
                                        <p:strVal val="visible"/>
                                      </p:to>
                                    </p:set>
                                    <p:animEffect transition="in" filter="wipe(left)">
                                      <p:cBhvr>
                                        <p:cTn id="136" dur="450"/>
                                        <p:tgtEl>
                                          <p:spTgt spid="47"/>
                                        </p:tgtEl>
                                      </p:cBhvr>
                                    </p:animEffect>
                                  </p:childTnLst>
                                </p:cTn>
                              </p:par>
                              <p:par>
                                <p:cTn id="137" presetID="10" presetClass="entr" presetSubtype="0" fill="hold" nodeType="withEffect">
                                  <p:stCondLst>
                                    <p:cond delay="2200"/>
                                  </p:stCondLst>
                                  <p:childTnLst>
                                    <p:set>
                                      <p:cBhvr>
                                        <p:cTn id="138" dur="1" fill="hold">
                                          <p:stCondLst>
                                            <p:cond delay="0"/>
                                          </p:stCondLst>
                                        </p:cTn>
                                        <p:tgtEl>
                                          <p:spTgt spid="48"/>
                                        </p:tgtEl>
                                        <p:attrNameLst>
                                          <p:attrName>style.visibility</p:attrName>
                                        </p:attrNameLst>
                                      </p:cBhvr>
                                      <p:to>
                                        <p:strVal val="visible"/>
                                      </p:to>
                                    </p:set>
                                    <p:animEffect transition="in" filter="fade">
                                      <p:cBhvr>
                                        <p:cTn id="139" dur="350"/>
                                        <p:tgtEl>
                                          <p:spTgt spid="48"/>
                                        </p:tgtEl>
                                      </p:cBhvr>
                                    </p:animEffect>
                                  </p:childTnLst>
                                </p:cTn>
                              </p:par>
                              <p:par>
                                <p:cTn id="140" presetID="10" presetClass="entr" presetSubtype="0" fill="hold" nodeType="withEffect">
                                  <p:stCondLst>
                                    <p:cond delay="2250"/>
                                  </p:stCondLst>
                                  <p:childTnLst>
                                    <p:set>
                                      <p:cBhvr>
                                        <p:cTn id="141" dur="1" fill="hold">
                                          <p:stCondLst>
                                            <p:cond delay="0"/>
                                          </p:stCondLst>
                                        </p:cTn>
                                        <p:tgtEl>
                                          <p:spTgt spid="49"/>
                                        </p:tgtEl>
                                        <p:attrNameLst>
                                          <p:attrName>style.visibility</p:attrName>
                                        </p:attrNameLst>
                                      </p:cBhvr>
                                      <p:to>
                                        <p:strVal val="visible"/>
                                      </p:to>
                                    </p:set>
                                    <p:animEffect transition="in" filter="fade">
                                      <p:cBhvr>
                                        <p:cTn id="142" dur="350"/>
                                        <p:tgtEl>
                                          <p:spTgt spid="49"/>
                                        </p:tgtEl>
                                      </p:cBhvr>
                                    </p:animEffect>
                                  </p:childTnLst>
                                </p:cTn>
                              </p:par>
                              <p:par>
                                <p:cTn id="143" presetID="10" presetClass="entr" presetSubtype="0" fill="hold" nodeType="withEffect">
                                  <p:stCondLst>
                                    <p:cond delay="2300"/>
                                  </p:stCondLst>
                                  <p:childTnLst>
                                    <p:set>
                                      <p:cBhvr>
                                        <p:cTn id="144" dur="1" fill="hold">
                                          <p:stCondLst>
                                            <p:cond delay="0"/>
                                          </p:stCondLst>
                                        </p:cTn>
                                        <p:tgtEl>
                                          <p:spTgt spid="50"/>
                                        </p:tgtEl>
                                        <p:attrNameLst>
                                          <p:attrName>style.visibility</p:attrName>
                                        </p:attrNameLst>
                                      </p:cBhvr>
                                      <p:to>
                                        <p:strVal val="visible"/>
                                      </p:to>
                                    </p:set>
                                    <p:animEffect transition="in" filter="fade">
                                      <p:cBhvr>
                                        <p:cTn id="145" dur="350"/>
                                        <p:tgtEl>
                                          <p:spTgt spid="50"/>
                                        </p:tgtEl>
                                      </p:cBhvr>
                                    </p:animEffect>
                                  </p:childTnLst>
                                </p:cTn>
                              </p:par>
                              <p:par>
                                <p:cTn id="146" presetID="10" presetClass="entr" presetSubtype="0" fill="hold" nodeType="withEffect">
                                  <p:stCondLst>
                                    <p:cond delay="2350"/>
                                  </p:stCondLst>
                                  <p:childTnLst>
                                    <p:set>
                                      <p:cBhvr>
                                        <p:cTn id="147" dur="1" fill="hold">
                                          <p:stCondLst>
                                            <p:cond delay="0"/>
                                          </p:stCondLst>
                                        </p:cTn>
                                        <p:tgtEl>
                                          <p:spTgt spid="51"/>
                                        </p:tgtEl>
                                        <p:attrNameLst>
                                          <p:attrName>style.visibility</p:attrName>
                                        </p:attrNameLst>
                                      </p:cBhvr>
                                      <p:to>
                                        <p:strVal val="visible"/>
                                      </p:to>
                                    </p:set>
                                    <p:animEffect transition="in" filter="fade">
                                      <p:cBhvr>
                                        <p:cTn id="148" dur="350"/>
                                        <p:tgtEl>
                                          <p:spTgt spid="51"/>
                                        </p:tgtEl>
                                      </p:cBhvr>
                                    </p:animEffect>
                                  </p:childTnLst>
                                </p:cTn>
                              </p:par>
                              <p:par>
                                <p:cTn id="149" presetID="10" presetClass="entr" presetSubtype="0" fill="hold" nodeType="withEffect">
                                  <p:stCondLst>
                                    <p:cond delay="2400"/>
                                  </p:stCondLst>
                                  <p:childTnLst>
                                    <p:set>
                                      <p:cBhvr>
                                        <p:cTn id="150" dur="1" fill="hold">
                                          <p:stCondLst>
                                            <p:cond delay="0"/>
                                          </p:stCondLst>
                                        </p:cTn>
                                        <p:tgtEl>
                                          <p:spTgt spid="52"/>
                                        </p:tgtEl>
                                        <p:attrNameLst>
                                          <p:attrName>style.visibility</p:attrName>
                                        </p:attrNameLst>
                                      </p:cBhvr>
                                      <p:to>
                                        <p:strVal val="visible"/>
                                      </p:to>
                                    </p:set>
                                    <p:animEffect transition="in" filter="fade">
                                      <p:cBhvr>
                                        <p:cTn id="151" dur="350"/>
                                        <p:tgtEl>
                                          <p:spTgt spid="52"/>
                                        </p:tgtEl>
                                      </p:cBhvr>
                                    </p:animEffect>
                                  </p:childTnLst>
                                </p:cTn>
                              </p:par>
                              <p:par>
                                <p:cTn id="152" presetID="10" presetClass="entr" presetSubtype="0" fill="hold" nodeType="withEffect">
                                  <p:stCondLst>
                                    <p:cond delay="2450"/>
                                  </p:stCondLst>
                                  <p:childTnLst>
                                    <p:set>
                                      <p:cBhvr>
                                        <p:cTn id="153" dur="1" fill="hold">
                                          <p:stCondLst>
                                            <p:cond delay="0"/>
                                          </p:stCondLst>
                                        </p:cTn>
                                        <p:tgtEl>
                                          <p:spTgt spid="53"/>
                                        </p:tgtEl>
                                        <p:attrNameLst>
                                          <p:attrName>style.visibility</p:attrName>
                                        </p:attrNameLst>
                                      </p:cBhvr>
                                      <p:to>
                                        <p:strVal val="visible"/>
                                      </p:to>
                                    </p:set>
                                    <p:animEffect transition="in" filter="fade">
                                      <p:cBhvr>
                                        <p:cTn id="154" dur="35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The web app: capture, reason, act</a:t>
            </a:r>
            <a:endParaRPr lang="en-US" sz="3200" dirty="0"/>
          </a:p>
        </p:txBody>
      </p:sp>
      <p:sp>
        <p:nvSpPr>
          <p:cNvPr id="4" name="shape_11_1"/>
          <p:cNvSpPr/>
          <p:nvPr/>
        </p:nvSpPr>
        <p:spPr>
          <a:xfrm>
            <a:off x="548640" y="1481328"/>
            <a:ext cx="731520" cy="731520"/>
          </a:xfrm>
          <a:prstGeom prst="ellipse">
            <a:avLst/>
          </a:prstGeom>
          <a:solidFill>
            <a:schemeClr val="accent5"/>
          </a:solidFill>
          <a:ln w="12700">
            <a:solidFill>
              <a:schemeClr val="accent5"/>
            </a:solidFill>
            <a:prstDash val="solid"/>
          </a:ln>
        </p:spPr>
      </p:sp>
      <p:pic>
        <p:nvPicPr>
          <p:cNvPr id="5" name="pic_11_2" descr="FaClipboardList">    </p:cNvPr>
          <p:cNvPicPr>
            <a:picLocks noChangeAspect="1"/>
          </p:cNvPicPr>
          <p:nvPr/>
        </p:nvPicPr>
        <p:blipFill>
          <a:blip r:embed="rId1"/>
          <a:stretch>
            <a:fillRect/>
          </a:stretch>
        </p:blipFill>
        <p:spPr>
          <a:xfrm>
            <a:off x="731520" y="1664208"/>
            <a:ext cx="365760" cy="365760"/>
          </a:xfrm>
          <a:prstGeom prst="rect">
            <a:avLst/>
          </a:prstGeom>
        </p:spPr>
      </p:pic>
      <p:sp>
        <p:nvSpPr>
          <p:cNvPr id="6" name="text_11_3"/>
          <p:cNvSpPr txBox="1"/>
          <p:nvPr/>
        </p:nvSpPr>
        <p:spPr>
          <a:xfrm>
            <a:off x="1508760" y="1371600"/>
            <a:ext cx="3291840" cy="96012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Capture</a:t>
            </a:r>
            <a:endParaRPr lang="en-US" sz="2000" dirty="0"/>
          </a:p>
          <a:p>
            <a:pPr indent="0" marL="0">
              <a:buNone/>
            </a:pPr>
            <a:r>
              <a:rPr lang="en-US" sz="1400" dirty="0">
                <a:solidFill>
                  <a:srgbClr val="5B6B7C"/>
                </a:solidFill>
              </a:rPr>
              <a:t>Symptoms and evidence sources</a:t>
            </a:r>
            <a:endParaRPr lang="en-US" sz="2000" dirty="0"/>
          </a:p>
        </p:txBody>
      </p:sp>
      <p:sp>
        <p:nvSpPr>
          <p:cNvPr id="7" name="shape_11_4"/>
          <p:cNvSpPr/>
          <p:nvPr/>
        </p:nvSpPr>
        <p:spPr>
          <a:xfrm>
            <a:off x="795528" y="2249424"/>
            <a:ext cx="237744" cy="274320"/>
          </a:xfrm>
          <a:prstGeom prst="downArrow">
            <a:avLst/>
          </a:prstGeom>
          <a:solidFill>
            <a:srgbClr val="C9D5E2"/>
          </a:solidFill>
          <a:ln w="12700">
            <a:solidFill>
              <a:srgbClr val="C9D5E2"/>
            </a:solidFill>
            <a:prstDash val="solid"/>
          </a:ln>
        </p:spPr>
      </p:sp>
      <p:sp>
        <p:nvSpPr>
          <p:cNvPr id="8" name="shape_11_5"/>
          <p:cNvSpPr/>
          <p:nvPr/>
        </p:nvSpPr>
        <p:spPr>
          <a:xfrm>
            <a:off x="548640" y="2670048"/>
            <a:ext cx="731520" cy="731520"/>
          </a:xfrm>
          <a:prstGeom prst="ellipse">
            <a:avLst/>
          </a:prstGeom>
          <a:solidFill>
            <a:schemeClr val="accent1"/>
          </a:solidFill>
          <a:ln w="12700">
            <a:solidFill>
              <a:schemeClr val="accent1"/>
            </a:solidFill>
            <a:prstDash val="solid"/>
          </a:ln>
        </p:spPr>
      </p:sp>
      <p:pic>
        <p:nvPicPr>
          <p:cNvPr id="9" name="pic_11_6" descr="FaProjectDiagram">    </p:cNvPr>
          <p:cNvPicPr>
            <a:picLocks noChangeAspect="1"/>
          </p:cNvPicPr>
          <p:nvPr/>
        </p:nvPicPr>
        <p:blipFill>
          <a:blip r:embed="rId2"/>
          <a:stretch>
            <a:fillRect/>
          </a:stretch>
        </p:blipFill>
        <p:spPr>
          <a:xfrm>
            <a:off x="731520" y="2852928"/>
            <a:ext cx="365760" cy="365760"/>
          </a:xfrm>
          <a:prstGeom prst="rect">
            <a:avLst/>
          </a:prstGeom>
        </p:spPr>
      </p:pic>
      <p:sp>
        <p:nvSpPr>
          <p:cNvPr id="10" name="text_11_7"/>
          <p:cNvSpPr txBox="1"/>
          <p:nvPr/>
        </p:nvSpPr>
        <p:spPr>
          <a:xfrm>
            <a:off x="1508760" y="2560320"/>
            <a:ext cx="3291840" cy="96012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Review</a:t>
            </a:r>
            <a:endParaRPr lang="en-US" sz="2000" dirty="0"/>
          </a:p>
          <a:p>
            <a:pPr indent="0" marL="0">
              <a:buNone/>
            </a:pPr>
            <a:r>
              <a:rPr lang="en-US" sz="1400" dirty="0">
                <a:solidFill>
                  <a:srgbClr val="5B6B7C"/>
                </a:solidFill>
              </a:rPr>
              <a:t>Hypotheses, missing inputs, rule trace</a:t>
            </a:r>
            <a:endParaRPr lang="en-US" sz="2000" dirty="0"/>
          </a:p>
        </p:txBody>
      </p:sp>
      <p:sp>
        <p:nvSpPr>
          <p:cNvPr id="11" name="shape_11_8"/>
          <p:cNvSpPr/>
          <p:nvPr/>
        </p:nvSpPr>
        <p:spPr>
          <a:xfrm>
            <a:off x="795528" y="3438144"/>
            <a:ext cx="237744" cy="274320"/>
          </a:xfrm>
          <a:prstGeom prst="downArrow">
            <a:avLst/>
          </a:prstGeom>
          <a:solidFill>
            <a:srgbClr val="C9D5E2"/>
          </a:solidFill>
          <a:ln w="12700">
            <a:solidFill>
              <a:srgbClr val="C9D5E2"/>
            </a:solidFill>
            <a:prstDash val="solid"/>
          </a:ln>
        </p:spPr>
      </p:sp>
      <p:sp>
        <p:nvSpPr>
          <p:cNvPr id="12" name="shape_11_9"/>
          <p:cNvSpPr/>
          <p:nvPr/>
        </p:nvSpPr>
        <p:spPr>
          <a:xfrm>
            <a:off x="548640" y="3858768"/>
            <a:ext cx="731520" cy="731520"/>
          </a:xfrm>
          <a:prstGeom prst="ellipse">
            <a:avLst/>
          </a:prstGeom>
          <a:solidFill>
            <a:schemeClr val="accent2"/>
          </a:solidFill>
          <a:ln w="12700">
            <a:solidFill>
              <a:schemeClr val="accent2"/>
            </a:solidFill>
            <a:prstDash val="solid"/>
          </a:ln>
        </p:spPr>
      </p:sp>
      <p:pic>
        <p:nvPicPr>
          <p:cNvPr id="13" name="pic_11_10" descr="FaTools">    </p:cNvPr>
          <p:cNvPicPr>
            <a:picLocks noChangeAspect="1"/>
          </p:cNvPicPr>
          <p:nvPr/>
        </p:nvPicPr>
        <p:blipFill>
          <a:blip r:embed="rId3"/>
          <a:stretch>
            <a:fillRect/>
          </a:stretch>
        </p:blipFill>
        <p:spPr>
          <a:xfrm>
            <a:off x="731520" y="4041648"/>
            <a:ext cx="365760" cy="365760"/>
          </a:xfrm>
          <a:prstGeom prst="rect">
            <a:avLst/>
          </a:prstGeom>
        </p:spPr>
      </p:pic>
      <p:sp>
        <p:nvSpPr>
          <p:cNvPr id="14" name="text_11_11"/>
          <p:cNvSpPr txBox="1"/>
          <p:nvPr/>
        </p:nvSpPr>
        <p:spPr>
          <a:xfrm>
            <a:off x="1508760" y="3749040"/>
            <a:ext cx="3291840" cy="96012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Act</a:t>
            </a:r>
            <a:endParaRPr lang="en-US" sz="2000" dirty="0"/>
          </a:p>
          <a:p>
            <a:pPr indent="0" marL="0">
              <a:buNone/>
            </a:pPr>
            <a:r>
              <a:rPr lang="en-US" sz="1400" dirty="0">
                <a:solidFill>
                  <a:srgbClr val="5B6B7C"/>
                </a:solidFill>
              </a:rPr>
              <a:t>Save cases, compare, track tasks</a:t>
            </a:r>
            <a:endParaRPr lang="en-US" sz="2000" dirty="0"/>
          </a:p>
        </p:txBody>
      </p:sp>
      <p:sp>
        <p:nvSpPr>
          <p:cNvPr id="15" name="shape_11_12"/>
          <p:cNvSpPr/>
          <p:nvPr/>
        </p:nvSpPr>
        <p:spPr>
          <a:xfrm>
            <a:off x="795528" y="4626864"/>
            <a:ext cx="237744" cy="274320"/>
          </a:xfrm>
          <a:prstGeom prst="downArrow">
            <a:avLst/>
          </a:prstGeom>
          <a:solidFill>
            <a:srgbClr val="C9D5E2"/>
          </a:solidFill>
          <a:ln w="12700">
            <a:solidFill>
              <a:srgbClr val="C9D5E2"/>
            </a:solidFill>
            <a:prstDash val="solid"/>
          </a:ln>
        </p:spPr>
      </p:sp>
      <p:sp>
        <p:nvSpPr>
          <p:cNvPr id="16" name="shape_11_13"/>
          <p:cNvSpPr/>
          <p:nvPr/>
        </p:nvSpPr>
        <p:spPr>
          <a:xfrm>
            <a:off x="548640" y="5047488"/>
            <a:ext cx="731520" cy="731520"/>
          </a:xfrm>
          <a:prstGeom prst="ellipse">
            <a:avLst/>
          </a:prstGeom>
          <a:solidFill>
            <a:schemeClr val="accent4"/>
          </a:solidFill>
          <a:ln w="12700">
            <a:solidFill>
              <a:schemeClr val="accent4"/>
            </a:solidFill>
            <a:prstDash val="solid"/>
          </a:ln>
        </p:spPr>
      </p:sp>
      <p:pic>
        <p:nvPicPr>
          <p:cNvPr id="17" name="pic_11_14" descr="FaCheckCircle">    </p:cNvPr>
          <p:cNvPicPr>
            <a:picLocks noChangeAspect="1"/>
          </p:cNvPicPr>
          <p:nvPr/>
        </p:nvPicPr>
        <p:blipFill>
          <a:blip r:embed="rId4"/>
          <a:stretch>
            <a:fillRect/>
          </a:stretch>
        </p:blipFill>
        <p:spPr>
          <a:xfrm>
            <a:off x="731520" y="5230368"/>
            <a:ext cx="365760" cy="365760"/>
          </a:xfrm>
          <a:prstGeom prst="rect">
            <a:avLst/>
          </a:prstGeom>
        </p:spPr>
      </p:pic>
      <p:sp>
        <p:nvSpPr>
          <p:cNvPr id="18" name="text_11_15"/>
          <p:cNvSpPr txBox="1"/>
          <p:nvPr/>
        </p:nvSpPr>
        <p:spPr>
          <a:xfrm>
            <a:off x="1508760" y="4937760"/>
            <a:ext cx="3291840" cy="96012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Verify</a:t>
            </a:r>
            <a:endParaRPr lang="en-US" sz="2000" dirty="0"/>
          </a:p>
          <a:p>
            <a:pPr indent="0" marL="0">
              <a:buNone/>
            </a:pPr>
            <a:r>
              <a:rPr lang="en-US" sz="1400" dirty="0">
                <a:solidFill>
                  <a:srgbClr val="5B6B7C"/>
                </a:solidFill>
              </a:rPr>
              <a:t>Export report or run evaluation lab</a:t>
            </a:r>
            <a:endParaRPr lang="en-US" sz="2000" dirty="0"/>
          </a:p>
        </p:txBody>
      </p:sp>
      <p:sp>
        <p:nvSpPr>
          <p:cNvPr id="19" name="shape_11_16"/>
          <p:cNvSpPr/>
          <p:nvPr/>
        </p:nvSpPr>
        <p:spPr>
          <a:xfrm>
            <a:off x="4892040" y="1371600"/>
            <a:ext cx="6858000" cy="4012730"/>
          </a:xfrm>
          <a:prstGeom prst="roundRect">
            <a:avLst>
              <a:gd name="adj" fmla="val 2279"/>
            </a:avLst>
          </a:prstGeom>
          <a:solidFill>
            <a:schemeClr val="bg2"/>
          </a:solidFill>
          <a:ln w="12700">
            <a:solidFill>
              <a:schemeClr val="bg2"/>
            </a:solidFill>
            <a:prstDash val="solid"/>
          </a:ln>
          <a:effectLst>
            <a:outerShdw sx="100000" sy="100000" kx="0" ky="0" algn="bl" rotWithShape="0" blurRad="101600" dist="25400" dir="5400000">
              <a:srgbClr val="0B1F33">
                <a:alpha val="12000"/>
              </a:srgbClr>
            </a:outerShdw>
          </a:effectLst>
        </p:spPr>
      </p:sp>
      <p:pic>
        <p:nvPicPr>
          <p:cNvPr id="20" name="pic_11_17" descr="Diagnostic studio with the robot arm component map and live metrics">    </p:cNvPr>
          <p:cNvPicPr>
            <a:picLocks noChangeAspect="1"/>
          </p:cNvPicPr>
          <p:nvPr/>
        </p:nvPicPr>
        <p:blipFill>
          <a:blip r:embed="rId5"/>
          <a:stretch>
            <a:fillRect/>
          </a:stretch>
        </p:blipFill>
        <p:spPr>
          <a:xfrm>
            <a:off x="4983480" y="1463040"/>
            <a:ext cx="6675120" cy="3829850"/>
          </a:xfrm>
          <a:prstGeom prst="rect">
            <a:avLst/>
          </a:prstGeom>
        </p:spPr>
      </p:pic>
      <p:sp>
        <p:nvSpPr>
          <p:cNvPr id="21" name="shape_11_18"/>
          <p:cNvSpPr/>
          <p:nvPr/>
        </p:nvSpPr>
        <p:spPr>
          <a:xfrm>
            <a:off x="4892040" y="5612930"/>
            <a:ext cx="6858000" cy="548640"/>
          </a:xfrm>
          <a:prstGeom prst="roundRect">
            <a:avLst>
              <a:gd name="adj" fmla="val 50000"/>
            </a:avLst>
          </a:prstGeom>
          <a:solidFill>
            <a:schemeClr val="tx1"/>
          </a:solidFill>
          <a:ln w="12700">
            <a:solidFill>
              <a:schemeClr val="tx1"/>
            </a:solidFill>
            <a:prstDash val="solid"/>
          </a:ln>
        </p:spPr>
      </p:sp>
      <p:sp>
        <p:nvSpPr>
          <p:cNvPr id="22" name="text_11_19"/>
          <p:cNvSpPr txBox="1"/>
          <p:nvPr/>
        </p:nvSpPr>
        <p:spPr>
          <a:xfrm>
            <a:off x="4892040" y="5612930"/>
            <a:ext cx="6858000" cy="548640"/>
          </a:xfrm>
          <a:prstGeom prst="rect">
            <a:avLst/>
          </a:prstGeom>
          <a:noFill/>
          <a:ln/>
        </p:spPr>
        <p:txBody>
          <a:bodyPr wrap="square" lIns="0" tIns="0" rIns="0" bIns="0" rtlCol="0" anchor="ctr"/>
          <a:lstStyle/>
          <a:p>
            <a:pPr algn="ctr" indent="0" marL="0">
              <a:buNone/>
            </a:pPr>
            <a:r>
              <a:rPr lang="en-US" sz="1500" b="1" dirty="0">
                <a:solidFill>
                  <a:schemeClr val="bg1"/>
                </a:solidFill>
              </a:rPr>
              <a:t>Live: arm-insight-kbs-dist.vercel.app   ·   Local: python serve.py</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11</a:t>
            </a:fld>
            <a:endParaRPr lang="en-US"/>
          </a:p>
        </p:txBody>
      </p:sp>
    </p:spTree>
  </p:cSld>
  <p:clrMapOvr>
    <a:masterClrMapping/>
  </p:clrMapOvr>
  <p:transition spd="med">
    <p:cover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p:cTn id="7" dur="350" fill="hold"/>
                                        <p:tgtEl>
                                          <p:spTgt spid="4"/>
                                        </p:tgtEl>
                                        <p:attrNameLst>
                                          <p:attrName>ppt_w</p:attrName>
                                        </p:attrNameLst>
                                      </p:cBhvr>
                                      <p:tavLst>
                                        <p:tav tm="0">
                                          <p:val>
                                            <p:fltVal val="0"/>
                                          </p:val>
                                        </p:tav>
                                        <p:tav tm="100000">
                                          <p:val>
                                            <p:strVal val="#ppt_w"/>
                                          </p:val>
                                        </p:tav>
                                      </p:tavLst>
                                    </p:anim>
                                    <p:anim calcmode="lin" valueType="num">
                                      <p:cBhvr>
                                        <p:cTn id="8" dur="350" fill="hold"/>
                                        <p:tgtEl>
                                          <p:spTgt spid="4"/>
                                        </p:tgtEl>
                                        <p:attrNameLst>
                                          <p:attrName>ppt_h</p:attrName>
                                        </p:attrNameLst>
                                      </p:cBhvr>
                                      <p:tavLst>
                                        <p:tav tm="0">
                                          <p:val>
                                            <p:fltVal val="0"/>
                                          </p:val>
                                        </p:tav>
                                        <p:tav tm="100000">
                                          <p:val>
                                            <p:strVal val="#ppt_h"/>
                                          </p:val>
                                        </p:tav>
                                      </p:tavLst>
                                    </p:anim>
                                    <p:animEffect transition="in" filter="fade">
                                      <p:cBhvr>
                                        <p:cTn id="9" dur="350"/>
                                        <p:tgtEl>
                                          <p:spTgt spid="4"/>
                                        </p:tgtEl>
                                      </p:cBhvr>
                                    </p:animEffect>
                                  </p:childTnLst>
                                </p:cTn>
                              </p:par>
                              <p:par>
                                <p:cTn id="10" presetID="53" presetClass="entr" presetSubtype="16" fill="hold" nodeType="withEffect">
                                  <p:stCondLst>
                                    <p:cond delay="200"/>
                                  </p:stCondLst>
                                  <p:childTnLst>
                                    <p:set>
                                      <p:cBhvr>
                                        <p:cTn id="11" dur="1" fill="hold">
                                          <p:stCondLst>
                                            <p:cond delay="0"/>
                                          </p:stCondLst>
                                        </p:cTn>
                                        <p:tgtEl>
                                          <p:spTgt spid="5"/>
                                        </p:tgtEl>
                                        <p:attrNameLst>
                                          <p:attrName>style.visibility</p:attrName>
                                        </p:attrNameLst>
                                      </p:cBhvr>
                                      <p:to>
                                        <p:strVal val="visible"/>
                                      </p:to>
                                    </p:set>
                                    <p:anim calcmode="lin" valueType="num">
                                      <p:cBhvr>
                                        <p:cTn id="12" dur="350" fill="hold"/>
                                        <p:tgtEl>
                                          <p:spTgt spid="5"/>
                                        </p:tgtEl>
                                        <p:attrNameLst>
                                          <p:attrName>ppt_w</p:attrName>
                                        </p:attrNameLst>
                                      </p:cBhvr>
                                      <p:tavLst>
                                        <p:tav tm="0">
                                          <p:val>
                                            <p:fltVal val="0"/>
                                          </p:val>
                                        </p:tav>
                                        <p:tav tm="100000">
                                          <p:val>
                                            <p:strVal val="#ppt_w"/>
                                          </p:val>
                                        </p:tav>
                                      </p:tavLst>
                                    </p:anim>
                                    <p:anim calcmode="lin" valueType="num">
                                      <p:cBhvr>
                                        <p:cTn id="13" dur="350" fill="hold"/>
                                        <p:tgtEl>
                                          <p:spTgt spid="5"/>
                                        </p:tgtEl>
                                        <p:attrNameLst>
                                          <p:attrName>ppt_h</p:attrName>
                                        </p:attrNameLst>
                                      </p:cBhvr>
                                      <p:tavLst>
                                        <p:tav tm="0">
                                          <p:val>
                                            <p:fltVal val="0"/>
                                          </p:val>
                                        </p:tav>
                                        <p:tav tm="100000">
                                          <p:val>
                                            <p:strVal val="#ppt_h"/>
                                          </p:val>
                                        </p:tav>
                                      </p:tavLst>
                                    </p:anim>
                                    <p:animEffect transition="in" filter="fade">
                                      <p:cBhvr>
                                        <p:cTn id="14" dur="350"/>
                                        <p:tgtEl>
                                          <p:spTgt spid="5"/>
                                        </p:tgtEl>
                                      </p:cBhvr>
                                    </p:animEffect>
                                  </p:childTnLst>
                                </p:cTn>
                              </p:par>
                              <p:par>
                                <p:cTn id="15" presetID="22" presetClass="entr" presetSubtype="8" fill="hold" nodeType="withEffect">
                                  <p:stCondLst>
                                    <p:cond delay="25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450"/>
                                        <p:tgtEl>
                                          <p:spTgt spid="6"/>
                                        </p:tgtEl>
                                      </p:cBhvr>
                                    </p:animEffect>
                                  </p:childTnLst>
                                </p:cTn>
                              </p:par>
                              <p:par>
                                <p:cTn id="18" presetID="10" presetClass="entr" presetSubtype="0" fill="hold" nodeType="withEffect">
                                  <p:stCondLst>
                                    <p:cond delay="40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250"/>
                                        <p:tgtEl>
                                          <p:spTgt spid="7"/>
                                        </p:tgtEl>
                                      </p:cBhvr>
                                    </p:animEffect>
                                  </p:childTnLst>
                                </p:cTn>
                              </p:par>
                              <p:par>
                                <p:cTn id="21" presetID="10" presetClass="entr" presetSubtype="0" fill="hold" nodeType="withEffect">
                                  <p:stCondLst>
                                    <p:cond delay="50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500"/>
                                        <p:tgtEl>
                                          <p:spTgt spid="19"/>
                                        </p:tgtEl>
                                      </p:cBhvr>
                                    </p:animEffect>
                                  </p:childTnLst>
                                </p:cTn>
                              </p:par>
                              <p:par>
                                <p:cTn id="24" presetID="53" presetClass="entr" presetSubtype="16" fill="hold" nodeType="withEffect">
                                  <p:stCondLst>
                                    <p:cond delay="550"/>
                                  </p:stCondLst>
                                  <p:childTnLst>
                                    <p:set>
                                      <p:cBhvr>
                                        <p:cTn id="25" dur="1" fill="hold">
                                          <p:stCondLst>
                                            <p:cond delay="0"/>
                                          </p:stCondLst>
                                        </p:cTn>
                                        <p:tgtEl>
                                          <p:spTgt spid="8"/>
                                        </p:tgtEl>
                                        <p:attrNameLst>
                                          <p:attrName>style.visibility</p:attrName>
                                        </p:attrNameLst>
                                      </p:cBhvr>
                                      <p:to>
                                        <p:strVal val="visible"/>
                                      </p:to>
                                    </p:set>
                                    <p:anim calcmode="lin" valueType="num">
                                      <p:cBhvr>
                                        <p:cTn id="26" dur="350" fill="hold"/>
                                        <p:tgtEl>
                                          <p:spTgt spid="8"/>
                                        </p:tgtEl>
                                        <p:attrNameLst>
                                          <p:attrName>ppt_w</p:attrName>
                                        </p:attrNameLst>
                                      </p:cBhvr>
                                      <p:tavLst>
                                        <p:tav tm="0">
                                          <p:val>
                                            <p:fltVal val="0"/>
                                          </p:val>
                                        </p:tav>
                                        <p:tav tm="100000">
                                          <p:val>
                                            <p:strVal val="#ppt_w"/>
                                          </p:val>
                                        </p:tav>
                                      </p:tavLst>
                                    </p:anim>
                                    <p:anim calcmode="lin" valueType="num">
                                      <p:cBhvr>
                                        <p:cTn id="27" dur="350" fill="hold"/>
                                        <p:tgtEl>
                                          <p:spTgt spid="8"/>
                                        </p:tgtEl>
                                        <p:attrNameLst>
                                          <p:attrName>ppt_h</p:attrName>
                                        </p:attrNameLst>
                                      </p:cBhvr>
                                      <p:tavLst>
                                        <p:tav tm="0">
                                          <p:val>
                                            <p:fltVal val="0"/>
                                          </p:val>
                                        </p:tav>
                                        <p:tav tm="100000">
                                          <p:val>
                                            <p:strVal val="#ppt_h"/>
                                          </p:val>
                                        </p:tav>
                                      </p:tavLst>
                                    </p:anim>
                                    <p:animEffect transition="in" filter="fade">
                                      <p:cBhvr>
                                        <p:cTn id="28" dur="350"/>
                                        <p:tgtEl>
                                          <p:spTgt spid="8"/>
                                        </p:tgtEl>
                                      </p:cBhvr>
                                    </p:animEffect>
                                  </p:childTnLst>
                                </p:cTn>
                              </p:par>
                              <p:par>
                                <p:cTn id="29" presetID="53" presetClass="entr" presetSubtype="16" fill="hold" nodeType="withEffect">
                                  <p:stCondLst>
                                    <p:cond delay="550"/>
                                  </p:stCondLst>
                                  <p:childTnLst>
                                    <p:set>
                                      <p:cBhvr>
                                        <p:cTn id="30" dur="1" fill="hold">
                                          <p:stCondLst>
                                            <p:cond delay="0"/>
                                          </p:stCondLst>
                                        </p:cTn>
                                        <p:tgtEl>
                                          <p:spTgt spid="9"/>
                                        </p:tgtEl>
                                        <p:attrNameLst>
                                          <p:attrName>style.visibility</p:attrName>
                                        </p:attrNameLst>
                                      </p:cBhvr>
                                      <p:to>
                                        <p:strVal val="visible"/>
                                      </p:to>
                                    </p:set>
                                    <p:anim calcmode="lin" valueType="num">
                                      <p:cBhvr>
                                        <p:cTn id="31" dur="350" fill="hold"/>
                                        <p:tgtEl>
                                          <p:spTgt spid="9"/>
                                        </p:tgtEl>
                                        <p:attrNameLst>
                                          <p:attrName>ppt_w</p:attrName>
                                        </p:attrNameLst>
                                      </p:cBhvr>
                                      <p:tavLst>
                                        <p:tav tm="0">
                                          <p:val>
                                            <p:fltVal val="0"/>
                                          </p:val>
                                        </p:tav>
                                        <p:tav tm="100000">
                                          <p:val>
                                            <p:strVal val="#ppt_w"/>
                                          </p:val>
                                        </p:tav>
                                      </p:tavLst>
                                    </p:anim>
                                    <p:anim calcmode="lin" valueType="num">
                                      <p:cBhvr>
                                        <p:cTn id="32" dur="350" fill="hold"/>
                                        <p:tgtEl>
                                          <p:spTgt spid="9"/>
                                        </p:tgtEl>
                                        <p:attrNameLst>
                                          <p:attrName>ppt_h</p:attrName>
                                        </p:attrNameLst>
                                      </p:cBhvr>
                                      <p:tavLst>
                                        <p:tav tm="0">
                                          <p:val>
                                            <p:fltVal val="0"/>
                                          </p:val>
                                        </p:tav>
                                        <p:tav tm="100000">
                                          <p:val>
                                            <p:strVal val="#ppt_h"/>
                                          </p:val>
                                        </p:tav>
                                      </p:tavLst>
                                    </p:anim>
                                    <p:animEffect transition="in" filter="fade">
                                      <p:cBhvr>
                                        <p:cTn id="33" dur="350"/>
                                        <p:tgtEl>
                                          <p:spTgt spid="9"/>
                                        </p:tgtEl>
                                      </p:cBhvr>
                                    </p:animEffect>
                                  </p:childTnLst>
                                </p:cTn>
                              </p:par>
                              <p:par>
                                <p:cTn id="34" presetID="22" presetClass="entr" presetSubtype="8" fill="hold" nodeType="withEffect">
                                  <p:stCondLst>
                                    <p:cond delay="600"/>
                                  </p:stCondLst>
                                  <p:childTnLst>
                                    <p:set>
                                      <p:cBhvr>
                                        <p:cTn id="35" dur="1" fill="hold">
                                          <p:stCondLst>
                                            <p:cond delay="0"/>
                                          </p:stCondLst>
                                        </p:cTn>
                                        <p:tgtEl>
                                          <p:spTgt spid="10"/>
                                        </p:tgtEl>
                                        <p:attrNameLst>
                                          <p:attrName>style.visibility</p:attrName>
                                        </p:attrNameLst>
                                      </p:cBhvr>
                                      <p:to>
                                        <p:strVal val="visible"/>
                                      </p:to>
                                    </p:set>
                                    <p:animEffect transition="in" filter="wipe(left)">
                                      <p:cBhvr>
                                        <p:cTn id="36" dur="450"/>
                                        <p:tgtEl>
                                          <p:spTgt spid="10"/>
                                        </p:tgtEl>
                                      </p:cBhvr>
                                    </p:animEffect>
                                  </p:childTnLst>
                                </p:cTn>
                              </p:par>
                              <p:par>
                                <p:cTn id="37" presetID="53" presetClass="entr" presetSubtype="16" fill="hold" nodeType="withEffect">
                                  <p:stCondLst>
                                    <p:cond delay="700"/>
                                  </p:stCondLst>
                                  <p:childTnLst>
                                    <p:set>
                                      <p:cBhvr>
                                        <p:cTn id="38" dur="1" fill="hold">
                                          <p:stCondLst>
                                            <p:cond delay="0"/>
                                          </p:stCondLst>
                                        </p:cTn>
                                        <p:tgtEl>
                                          <p:spTgt spid="20"/>
                                        </p:tgtEl>
                                        <p:attrNameLst>
                                          <p:attrName>style.visibility</p:attrName>
                                        </p:attrNameLst>
                                      </p:cBhvr>
                                      <p:to>
                                        <p:strVal val="visible"/>
                                      </p:to>
                                    </p:set>
                                    <p:anim calcmode="lin" valueType="num">
                                      <p:cBhvr>
                                        <p:cTn id="39" dur="700" fill="hold"/>
                                        <p:tgtEl>
                                          <p:spTgt spid="20"/>
                                        </p:tgtEl>
                                        <p:attrNameLst>
                                          <p:attrName>ppt_w</p:attrName>
                                        </p:attrNameLst>
                                      </p:cBhvr>
                                      <p:tavLst>
                                        <p:tav tm="0">
                                          <p:val>
                                            <p:fltVal val="0"/>
                                          </p:val>
                                        </p:tav>
                                        <p:tav tm="100000">
                                          <p:val>
                                            <p:strVal val="#ppt_w"/>
                                          </p:val>
                                        </p:tav>
                                      </p:tavLst>
                                    </p:anim>
                                    <p:anim calcmode="lin" valueType="num">
                                      <p:cBhvr>
                                        <p:cTn id="40" dur="700" fill="hold"/>
                                        <p:tgtEl>
                                          <p:spTgt spid="20"/>
                                        </p:tgtEl>
                                        <p:attrNameLst>
                                          <p:attrName>ppt_h</p:attrName>
                                        </p:attrNameLst>
                                      </p:cBhvr>
                                      <p:tavLst>
                                        <p:tav tm="0">
                                          <p:val>
                                            <p:fltVal val="0"/>
                                          </p:val>
                                        </p:tav>
                                        <p:tav tm="100000">
                                          <p:val>
                                            <p:strVal val="#ppt_h"/>
                                          </p:val>
                                        </p:tav>
                                      </p:tavLst>
                                    </p:anim>
                                    <p:animEffect transition="in" filter="fade">
                                      <p:cBhvr>
                                        <p:cTn id="41" dur="700"/>
                                        <p:tgtEl>
                                          <p:spTgt spid="20"/>
                                        </p:tgtEl>
                                      </p:cBhvr>
                                    </p:animEffect>
                                  </p:childTnLst>
                                </p:cTn>
                              </p:par>
                              <p:par>
                                <p:cTn id="42" presetID="10" presetClass="entr" presetSubtype="0" fill="hold" nodeType="withEffect">
                                  <p:stCondLst>
                                    <p:cond delay="75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250"/>
                                        <p:tgtEl>
                                          <p:spTgt spid="11"/>
                                        </p:tgtEl>
                                      </p:cBhvr>
                                    </p:animEffect>
                                  </p:childTnLst>
                                </p:cTn>
                              </p:par>
                              <p:par>
                                <p:cTn id="45" presetID="53" presetClass="entr" presetSubtype="16" fill="hold" nodeType="withEffect">
                                  <p:stCondLst>
                                    <p:cond delay="900"/>
                                  </p:stCondLst>
                                  <p:childTnLst>
                                    <p:set>
                                      <p:cBhvr>
                                        <p:cTn id="46" dur="1" fill="hold">
                                          <p:stCondLst>
                                            <p:cond delay="0"/>
                                          </p:stCondLst>
                                        </p:cTn>
                                        <p:tgtEl>
                                          <p:spTgt spid="12"/>
                                        </p:tgtEl>
                                        <p:attrNameLst>
                                          <p:attrName>style.visibility</p:attrName>
                                        </p:attrNameLst>
                                      </p:cBhvr>
                                      <p:to>
                                        <p:strVal val="visible"/>
                                      </p:to>
                                    </p:set>
                                    <p:anim calcmode="lin" valueType="num">
                                      <p:cBhvr>
                                        <p:cTn id="47" dur="350" fill="hold"/>
                                        <p:tgtEl>
                                          <p:spTgt spid="12"/>
                                        </p:tgtEl>
                                        <p:attrNameLst>
                                          <p:attrName>ppt_w</p:attrName>
                                        </p:attrNameLst>
                                      </p:cBhvr>
                                      <p:tavLst>
                                        <p:tav tm="0">
                                          <p:val>
                                            <p:fltVal val="0"/>
                                          </p:val>
                                        </p:tav>
                                        <p:tav tm="100000">
                                          <p:val>
                                            <p:strVal val="#ppt_w"/>
                                          </p:val>
                                        </p:tav>
                                      </p:tavLst>
                                    </p:anim>
                                    <p:anim calcmode="lin" valueType="num">
                                      <p:cBhvr>
                                        <p:cTn id="48" dur="350" fill="hold"/>
                                        <p:tgtEl>
                                          <p:spTgt spid="12"/>
                                        </p:tgtEl>
                                        <p:attrNameLst>
                                          <p:attrName>ppt_h</p:attrName>
                                        </p:attrNameLst>
                                      </p:cBhvr>
                                      <p:tavLst>
                                        <p:tav tm="0">
                                          <p:val>
                                            <p:fltVal val="0"/>
                                          </p:val>
                                        </p:tav>
                                        <p:tav tm="100000">
                                          <p:val>
                                            <p:strVal val="#ppt_h"/>
                                          </p:val>
                                        </p:tav>
                                      </p:tavLst>
                                    </p:anim>
                                    <p:animEffect transition="in" filter="fade">
                                      <p:cBhvr>
                                        <p:cTn id="49" dur="350"/>
                                        <p:tgtEl>
                                          <p:spTgt spid="12"/>
                                        </p:tgtEl>
                                      </p:cBhvr>
                                    </p:animEffect>
                                  </p:childTnLst>
                                </p:cTn>
                              </p:par>
                              <p:par>
                                <p:cTn id="50" presetID="53" presetClass="entr" presetSubtype="16" fill="hold" nodeType="withEffect">
                                  <p:stCondLst>
                                    <p:cond delay="900"/>
                                  </p:stCondLst>
                                  <p:childTnLst>
                                    <p:set>
                                      <p:cBhvr>
                                        <p:cTn id="51" dur="1" fill="hold">
                                          <p:stCondLst>
                                            <p:cond delay="0"/>
                                          </p:stCondLst>
                                        </p:cTn>
                                        <p:tgtEl>
                                          <p:spTgt spid="13"/>
                                        </p:tgtEl>
                                        <p:attrNameLst>
                                          <p:attrName>style.visibility</p:attrName>
                                        </p:attrNameLst>
                                      </p:cBhvr>
                                      <p:to>
                                        <p:strVal val="visible"/>
                                      </p:to>
                                    </p:set>
                                    <p:anim calcmode="lin" valueType="num">
                                      <p:cBhvr>
                                        <p:cTn id="52" dur="350" fill="hold"/>
                                        <p:tgtEl>
                                          <p:spTgt spid="13"/>
                                        </p:tgtEl>
                                        <p:attrNameLst>
                                          <p:attrName>ppt_w</p:attrName>
                                        </p:attrNameLst>
                                      </p:cBhvr>
                                      <p:tavLst>
                                        <p:tav tm="0">
                                          <p:val>
                                            <p:fltVal val="0"/>
                                          </p:val>
                                        </p:tav>
                                        <p:tav tm="100000">
                                          <p:val>
                                            <p:strVal val="#ppt_w"/>
                                          </p:val>
                                        </p:tav>
                                      </p:tavLst>
                                    </p:anim>
                                    <p:anim calcmode="lin" valueType="num">
                                      <p:cBhvr>
                                        <p:cTn id="53" dur="350" fill="hold"/>
                                        <p:tgtEl>
                                          <p:spTgt spid="13"/>
                                        </p:tgtEl>
                                        <p:attrNameLst>
                                          <p:attrName>ppt_h</p:attrName>
                                        </p:attrNameLst>
                                      </p:cBhvr>
                                      <p:tavLst>
                                        <p:tav tm="0">
                                          <p:val>
                                            <p:fltVal val="0"/>
                                          </p:val>
                                        </p:tav>
                                        <p:tav tm="100000">
                                          <p:val>
                                            <p:strVal val="#ppt_h"/>
                                          </p:val>
                                        </p:tav>
                                      </p:tavLst>
                                    </p:anim>
                                    <p:animEffect transition="in" filter="fade">
                                      <p:cBhvr>
                                        <p:cTn id="54" dur="350"/>
                                        <p:tgtEl>
                                          <p:spTgt spid="13"/>
                                        </p:tgtEl>
                                      </p:cBhvr>
                                    </p:animEffect>
                                  </p:childTnLst>
                                </p:cTn>
                              </p:par>
                              <p:par>
                                <p:cTn id="55" presetID="22" presetClass="entr" presetSubtype="8" fill="hold" nodeType="withEffect">
                                  <p:stCondLst>
                                    <p:cond delay="950"/>
                                  </p:stCondLst>
                                  <p:childTnLst>
                                    <p:set>
                                      <p:cBhvr>
                                        <p:cTn id="56" dur="1" fill="hold">
                                          <p:stCondLst>
                                            <p:cond delay="0"/>
                                          </p:stCondLst>
                                        </p:cTn>
                                        <p:tgtEl>
                                          <p:spTgt spid="14"/>
                                        </p:tgtEl>
                                        <p:attrNameLst>
                                          <p:attrName>style.visibility</p:attrName>
                                        </p:attrNameLst>
                                      </p:cBhvr>
                                      <p:to>
                                        <p:strVal val="visible"/>
                                      </p:to>
                                    </p:set>
                                    <p:animEffect transition="in" filter="wipe(left)">
                                      <p:cBhvr>
                                        <p:cTn id="57" dur="450"/>
                                        <p:tgtEl>
                                          <p:spTgt spid="14"/>
                                        </p:tgtEl>
                                      </p:cBhvr>
                                    </p:animEffect>
                                  </p:childTnLst>
                                </p:cTn>
                              </p:par>
                              <p:par>
                                <p:cTn id="58" presetID="10" presetClass="entr" presetSubtype="0" fill="hold" nodeType="withEffect">
                                  <p:stCondLst>
                                    <p:cond delay="110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250"/>
                                        <p:tgtEl>
                                          <p:spTgt spid="15"/>
                                        </p:tgtEl>
                                      </p:cBhvr>
                                    </p:animEffect>
                                  </p:childTnLst>
                                </p:cTn>
                              </p:par>
                              <p:par>
                                <p:cTn id="61" presetID="53" presetClass="entr" presetSubtype="16" fill="hold" nodeType="withEffect">
                                  <p:stCondLst>
                                    <p:cond delay="1250"/>
                                  </p:stCondLst>
                                  <p:childTnLst>
                                    <p:set>
                                      <p:cBhvr>
                                        <p:cTn id="62" dur="1" fill="hold">
                                          <p:stCondLst>
                                            <p:cond delay="0"/>
                                          </p:stCondLst>
                                        </p:cTn>
                                        <p:tgtEl>
                                          <p:spTgt spid="16"/>
                                        </p:tgtEl>
                                        <p:attrNameLst>
                                          <p:attrName>style.visibility</p:attrName>
                                        </p:attrNameLst>
                                      </p:cBhvr>
                                      <p:to>
                                        <p:strVal val="visible"/>
                                      </p:to>
                                    </p:set>
                                    <p:anim calcmode="lin" valueType="num">
                                      <p:cBhvr>
                                        <p:cTn id="63" dur="350" fill="hold"/>
                                        <p:tgtEl>
                                          <p:spTgt spid="16"/>
                                        </p:tgtEl>
                                        <p:attrNameLst>
                                          <p:attrName>ppt_w</p:attrName>
                                        </p:attrNameLst>
                                      </p:cBhvr>
                                      <p:tavLst>
                                        <p:tav tm="0">
                                          <p:val>
                                            <p:fltVal val="0"/>
                                          </p:val>
                                        </p:tav>
                                        <p:tav tm="100000">
                                          <p:val>
                                            <p:strVal val="#ppt_w"/>
                                          </p:val>
                                        </p:tav>
                                      </p:tavLst>
                                    </p:anim>
                                    <p:anim calcmode="lin" valueType="num">
                                      <p:cBhvr>
                                        <p:cTn id="64" dur="350" fill="hold"/>
                                        <p:tgtEl>
                                          <p:spTgt spid="16"/>
                                        </p:tgtEl>
                                        <p:attrNameLst>
                                          <p:attrName>ppt_h</p:attrName>
                                        </p:attrNameLst>
                                      </p:cBhvr>
                                      <p:tavLst>
                                        <p:tav tm="0">
                                          <p:val>
                                            <p:fltVal val="0"/>
                                          </p:val>
                                        </p:tav>
                                        <p:tav tm="100000">
                                          <p:val>
                                            <p:strVal val="#ppt_h"/>
                                          </p:val>
                                        </p:tav>
                                      </p:tavLst>
                                    </p:anim>
                                    <p:animEffect transition="in" filter="fade">
                                      <p:cBhvr>
                                        <p:cTn id="65" dur="350"/>
                                        <p:tgtEl>
                                          <p:spTgt spid="16"/>
                                        </p:tgtEl>
                                      </p:cBhvr>
                                    </p:animEffect>
                                  </p:childTnLst>
                                </p:cTn>
                              </p:par>
                              <p:par>
                                <p:cTn id="66" presetID="53" presetClass="entr" presetSubtype="16" fill="hold" nodeType="withEffect">
                                  <p:stCondLst>
                                    <p:cond delay="1250"/>
                                  </p:stCondLst>
                                  <p:childTnLst>
                                    <p:set>
                                      <p:cBhvr>
                                        <p:cTn id="67" dur="1" fill="hold">
                                          <p:stCondLst>
                                            <p:cond delay="0"/>
                                          </p:stCondLst>
                                        </p:cTn>
                                        <p:tgtEl>
                                          <p:spTgt spid="17"/>
                                        </p:tgtEl>
                                        <p:attrNameLst>
                                          <p:attrName>style.visibility</p:attrName>
                                        </p:attrNameLst>
                                      </p:cBhvr>
                                      <p:to>
                                        <p:strVal val="visible"/>
                                      </p:to>
                                    </p:set>
                                    <p:anim calcmode="lin" valueType="num">
                                      <p:cBhvr>
                                        <p:cTn id="68" dur="350" fill="hold"/>
                                        <p:tgtEl>
                                          <p:spTgt spid="17"/>
                                        </p:tgtEl>
                                        <p:attrNameLst>
                                          <p:attrName>ppt_w</p:attrName>
                                        </p:attrNameLst>
                                      </p:cBhvr>
                                      <p:tavLst>
                                        <p:tav tm="0">
                                          <p:val>
                                            <p:fltVal val="0"/>
                                          </p:val>
                                        </p:tav>
                                        <p:tav tm="100000">
                                          <p:val>
                                            <p:strVal val="#ppt_w"/>
                                          </p:val>
                                        </p:tav>
                                      </p:tavLst>
                                    </p:anim>
                                    <p:anim calcmode="lin" valueType="num">
                                      <p:cBhvr>
                                        <p:cTn id="69" dur="350" fill="hold"/>
                                        <p:tgtEl>
                                          <p:spTgt spid="17"/>
                                        </p:tgtEl>
                                        <p:attrNameLst>
                                          <p:attrName>ppt_h</p:attrName>
                                        </p:attrNameLst>
                                      </p:cBhvr>
                                      <p:tavLst>
                                        <p:tav tm="0">
                                          <p:val>
                                            <p:fltVal val="0"/>
                                          </p:val>
                                        </p:tav>
                                        <p:tav tm="100000">
                                          <p:val>
                                            <p:strVal val="#ppt_h"/>
                                          </p:val>
                                        </p:tav>
                                      </p:tavLst>
                                    </p:anim>
                                    <p:animEffect transition="in" filter="fade">
                                      <p:cBhvr>
                                        <p:cTn id="70" dur="350"/>
                                        <p:tgtEl>
                                          <p:spTgt spid="17"/>
                                        </p:tgtEl>
                                      </p:cBhvr>
                                    </p:animEffect>
                                  </p:childTnLst>
                                </p:cTn>
                              </p:par>
                              <p:par>
                                <p:cTn id="71" presetID="22" presetClass="entr" presetSubtype="8" fill="hold" nodeType="withEffect">
                                  <p:stCondLst>
                                    <p:cond delay="1300"/>
                                  </p:stCondLst>
                                  <p:childTnLst>
                                    <p:set>
                                      <p:cBhvr>
                                        <p:cTn id="72" dur="1" fill="hold">
                                          <p:stCondLst>
                                            <p:cond delay="0"/>
                                          </p:stCondLst>
                                        </p:cTn>
                                        <p:tgtEl>
                                          <p:spTgt spid="18"/>
                                        </p:tgtEl>
                                        <p:attrNameLst>
                                          <p:attrName>style.visibility</p:attrName>
                                        </p:attrNameLst>
                                      </p:cBhvr>
                                      <p:to>
                                        <p:strVal val="visible"/>
                                      </p:to>
                                    </p:set>
                                    <p:animEffect transition="in" filter="wipe(left)">
                                      <p:cBhvr>
                                        <p:cTn id="73" dur="450"/>
                                        <p:tgtEl>
                                          <p:spTgt spid="18"/>
                                        </p:tgtEl>
                                      </p:cBhvr>
                                    </p:animEffect>
                                  </p:childTnLst>
                                </p:cTn>
                              </p:par>
                              <p:par>
                                <p:cTn id="74" presetID="2" presetClass="entr" presetSubtype="4" fill="hold" nodeType="withEffect">
                                  <p:stCondLst>
                                    <p:cond delay="1800"/>
                                  </p:stCondLst>
                                  <p:childTnLst>
                                    <p:set>
                                      <p:cBhvr>
                                        <p:cTn id="75" dur="1" fill="hold">
                                          <p:stCondLst>
                                            <p:cond delay="0"/>
                                          </p:stCondLst>
                                        </p:cTn>
                                        <p:tgtEl>
                                          <p:spTgt spid="21"/>
                                        </p:tgtEl>
                                        <p:attrNameLst>
                                          <p:attrName>style.visibility</p:attrName>
                                        </p:attrNameLst>
                                      </p:cBhvr>
                                      <p:to>
                                        <p:strVal val="visible"/>
                                      </p:to>
                                    </p:set>
                                    <p:anim calcmode="lin" valueType="num">
                                      <p:cBhvr additive="base">
                                        <p:cTn id="76" dur="500" fill="hold"/>
                                        <p:tgtEl>
                                          <p:spTgt spid="21"/>
                                        </p:tgtEl>
                                        <p:attrNameLst>
                                          <p:attrName>ppt_x</p:attrName>
                                        </p:attrNameLst>
                                      </p:cBhvr>
                                      <p:tavLst>
                                        <p:tav tm="0">
                                          <p:val>
                                            <p:strVal val="#ppt_x"/>
                                          </p:val>
                                        </p:tav>
                                        <p:tav tm="100000">
                                          <p:val>
                                            <p:strVal val="#ppt_x"/>
                                          </p:val>
                                        </p:tav>
                                      </p:tavLst>
                                    </p:anim>
                                    <p:anim calcmode="lin" valueType="num">
                                      <p:cBhvr additive="base">
                                        <p:cTn id="77" dur="500" fill="hold"/>
                                        <p:tgtEl>
                                          <p:spTgt spid="21"/>
                                        </p:tgtEl>
                                        <p:attrNameLst>
                                          <p:attrName>ppt_y</p:attrName>
                                        </p:attrNameLst>
                                      </p:cBhvr>
                                      <p:tavLst>
                                        <p:tav tm="0">
                                          <p:val>
                                            <p:strVal val="1+#ppt_h/2"/>
                                          </p:val>
                                        </p:tav>
                                        <p:tav tm="100000">
                                          <p:val>
                                            <p:strVal val="#ppt_y"/>
                                          </p:val>
                                        </p:tav>
                                      </p:tavLst>
                                    </p:anim>
                                  </p:childTnLst>
                                </p:cTn>
                              </p:par>
                              <p:par>
                                <p:cTn id="78" presetID="2" presetClass="entr" presetSubtype="4" fill="hold" nodeType="withEffect">
                                  <p:stCondLst>
                                    <p:cond delay="1850"/>
                                  </p:stCondLst>
                                  <p:childTnLst>
                                    <p:set>
                                      <p:cBhvr>
                                        <p:cTn id="79" dur="1" fill="hold">
                                          <p:stCondLst>
                                            <p:cond delay="0"/>
                                          </p:stCondLst>
                                        </p:cTn>
                                        <p:tgtEl>
                                          <p:spTgt spid="22"/>
                                        </p:tgtEl>
                                        <p:attrNameLst>
                                          <p:attrName>style.visibility</p:attrName>
                                        </p:attrNameLst>
                                      </p:cBhvr>
                                      <p:to>
                                        <p:strVal val="visible"/>
                                      </p:to>
                                    </p:set>
                                    <p:anim calcmode="lin" valueType="num">
                                      <p:cBhvr additive="base">
                                        <p:cTn id="80" dur="500" fill="hold"/>
                                        <p:tgtEl>
                                          <p:spTgt spid="22"/>
                                        </p:tgtEl>
                                        <p:attrNameLst>
                                          <p:attrName>ppt_x</p:attrName>
                                        </p:attrNameLst>
                                      </p:cBhvr>
                                      <p:tavLst>
                                        <p:tav tm="0">
                                          <p:val>
                                            <p:strVal val="#ppt_x"/>
                                          </p:val>
                                        </p:tav>
                                        <p:tav tm="100000">
                                          <p:val>
                                            <p:strVal val="#ppt_x"/>
                                          </p:val>
                                        </p:tav>
                                      </p:tavLst>
                                    </p:anim>
                                    <p:anim calcmode="lin" valueType="num">
                                      <p:cBhvr additive="base">
                                        <p:cTn id="81"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bg1"/>
                </a:solidFill>
                <a:latin typeface="Cambria" pitchFamily="34" charset="0"/>
                <a:ea typeface="Cambria" pitchFamily="34" charset="-122"/>
                <a:cs typeface="Cambria" pitchFamily="34" charset="-120"/>
              </a:rPr>
              <a:t>Every prediction explains itself</a:t>
            </a:r>
            <a:endParaRPr lang="en-US" sz="3200" dirty="0"/>
          </a:p>
        </p:txBody>
      </p:sp>
      <p:sp>
        <p:nvSpPr>
          <p:cNvPr id="4" name="shape_12_1"/>
          <p:cNvSpPr/>
          <p:nvPr/>
        </p:nvSpPr>
        <p:spPr>
          <a:xfrm>
            <a:off x="6217920" y="1188720"/>
            <a:ext cx="5212080" cy="4819174"/>
          </a:xfrm>
          <a:prstGeom prst="roundRect">
            <a:avLst>
              <a:gd name="adj" fmla="val 1897"/>
            </a:avLst>
          </a:prstGeom>
          <a:solidFill>
            <a:schemeClr val="bg1"/>
          </a:solidFill>
          <a:ln w="19050">
            <a:solidFill>
              <a:schemeClr val="accent1"/>
            </a:solidFill>
            <a:prstDash val="solid"/>
          </a:ln>
        </p:spPr>
      </p:sp>
      <p:pic>
        <p:nvPicPr>
          <p:cNvPr id="5" name="pic_12_2" descr="Fault prediction panel showing a supported payload mismatch with reasoning timeline">    </p:cNvPr>
          <p:cNvPicPr>
            <a:picLocks noChangeAspect="1"/>
          </p:cNvPicPr>
          <p:nvPr/>
        </p:nvPicPr>
        <p:blipFill>
          <a:blip r:embed="rId1"/>
          <a:stretch>
            <a:fillRect/>
          </a:stretch>
        </p:blipFill>
        <p:spPr>
          <a:xfrm>
            <a:off x="6309360" y="1280160"/>
            <a:ext cx="5029200" cy="4636294"/>
          </a:xfrm>
          <a:prstGeom prst="rect">
            <a:avLst/>
          </a:prstGeom>
        </p:spPr>
      </p:pic>
      <p:sp>
        <p:nvSpPr>
          <p:cNvPr id="6" name="num_12_3"/>
          <p:cNvSpPr/>
          <p:nvPr/>
        </p:nvSpPr>
        <p:spPr>
          <a:xfrm>
            <a:off x="548640" y="1554480"/>
            <a:ext cx="640080" cy="640080"/>
          </a:xfrm>
          <a:prstGeom prst="ellipse">
            <a:avLst/>
          </a:prstGeom>
          <a:solidFill>
            <a:schemeClr val="accent2"/>
          </a:solidFill>
          <a:ln w="12700">
            <a:solidFill>
              <a:schemeClr val="accent2"/>
            </a:solidFill>
            <a:prstDash val="solid"/>
          </a:ln>
        </p:spPr>
      </p:sp>
      <p:sp>
        <p:nvSpPr>
          <p:cNvPr id="7" name="text_12_4"/>
          <p:cNvSpPr txBox="1"/>
          <p:nvPr/>
        </p:nvSpPr>
        <p:spPr>
          <a:xfrm>
            <a:off x="548640" y="1554480"/>
            <a:ext cx="640080" cy="640080"/>
          </a:xfrm>
          <a:prstGeom prst="rect">
            <a:avLst/>
          </a:prstGeom>
          <a:noFill/>
          <a:ln/>
        </p:spPr>
        <p:txBody>
          <a:bodyPr wrap="square" lIns="0" tIns="0" rIns="0" bIns="0" rtlCol="0" anchor="ctr"/>
          <a:lstStyle/>
          <a:p>
            <a:pPr algn="ctr" indent="0" marL="0">
              <a:buNone/>
            </a:pPr>
            <a:r>
              <a:rPr lang="en-US" sz="2400" b="1" dirty="0">
                <a:solidFill>
                  <a:schemeClr val="tx1"/>
                </a:solidFill>
              </a:rPr>
              <a:t>1</a:t>
            </a:r>
            <a:endParaRPr lang="en-US" sz="2400" dirty="0"/>
          </a:p>
        </p:txBody>
      </p:sp>
      <p:sp>
        <p:nvSpPr>
          <p:cNvPr id="8" name="text_12_5"/>
          <p:cNvSpPr txBox="1"/>
          <p:nvPr/>
        </p:nvSpPr>
        <p:spPr>
          <a:xfrm>
            <a:off x="1417320" y="1463040"/>
            <a:ext cx="4480560" cy="118872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Status + coverage</a:t>
            </a:r>
            <a:endParaRPr lang="en-US" sz="2000" dirty="0"/>
          </a:p>
          <a:p>
            <a:pPr indent="0" marL="0">
              <a:buNone/>
            </a:pPr>
            <a:r>
              <a:rPr lang="en-US" sz="1500" dirty="0">
                <a:solidFill>
                  <a:srgbClr val="A9BCCF"/>
                </a:solidFill>
              </a:rPr>
              <a:t>Supported · 100 % rule coverage. Coverage is not a probability.</a:t>
            </a:r>
            <a:endParaRPr lang="en-US" sz="2000" dirty="0"/>
          </a:p>
        </p:txBody>
      </p:sp>
      <p:sp>
        <p:nvSpPr>
          <p:cNvPr id="9" name="num_12_6"/>
          <p:cNvSpPr/>
          <p:nvPr/>
        </p:nvSpPr>
        <p:spPr>
          <a:xfrm>
            <a:off x="548640" y="3108960"/>
            <a:ext cx="640080" cy="640080"/>
          </a:xfrm>
          <a:prstGeom prst="ellipse">
            <a:avLst/>
          </a:prstGeom>
          <a:solidFill>
            <a:schemeClr val="accent2"/>
          </a:solidFill>
          <a:ln w="12700">
            <a:solidFill>
              <a:schemeClr val="accent2"/>
            </a:solidFill>
            <a:prstDash val="solid"/>
          </a:ln>
        </p:spPr>
      </p:sp>
      <p:sp>
        <p:nvSpPr>
          <p:cNvPr id="10" name="text_12_7"/>
          <p:cNvSpPr txBox="1"/>
          <p:nvPr/>
        </p:nvSpPr>
        <p:spPr>
          <a:xfrm>
            <a:off x="548640" y="3108960"/>
            <a:ext cx="640080" cy="640080"/>
          </a:xfrm>
          <a:prstGeom prst="rect">
            <a:avLst/>
          </a:prstGeom>
          <a:noFill/>
          <a:ln/>
        </p:spPr>
        <p:txBody>
          <a:bodyPr wrap="square" lIns="0" tIns="0" rIns="0" bIns="0" rtlCol="0" anchor="ctr"/>
          <a:lstStyle/>
          <a:p>
            <a:pPr algn="ctr" indent="0" marL="0">
              <a:buNone/>
            </a:pPr>
            <a:r>
              <a:rPr lang="en-US" sz="2400" b="1" dirty="0">
                <a:solidFill>
                  <a:schemeClr val="tx1"/>
                </a:solidFill>
              </a:rPr>
              <a:t>2</a:t>
            </a:r>
            <a:endParaRPr lang="en-US" sz="2400" dirty="0"/>
          </a:p>
        </p:txBody>
      </p:sp>
      <p:sp>
        <p:nvSpPr>
          <p:cNvPr id="11" name="text_12_8"/>
          <p:cNvSpPr txBox="1"/>
          <p:nvPr/>
        </p:nvSpPr>
        <p:spPr>
          <a:xfrm>
            <a:off x="1417320" y="3017520"/>
            <a:ext cx="4480560" cy="118872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Cause + qualified action</a:t>
            </a:r>
            <a:endParaRPr lang="en-US" sz="2000" dirty="0"/>
          </a:p>
          <a:p>
            <a:pPr indent="0" marL="0">
              <a:buNone/>
            </a:pPr>
            <a:r>
              <a:rPr lang="en-US" sz="1500" dirty="0">
                <a:solidFill>
                  <a:srgbClr val="A9BCCF"/>
                </a:solidFill>
              </a:rPr>
              <a:t>Recommended maintenance appears only for Supported faults.</a:t>
            </a:r>
            <a:endParaRPr lang="en-US" sz="2000" dirty="0"/>
          </a:p>
        </p:txBody>
      </p:sp>
      <p:sp>
        <p:nvSpPr>
          <p:cNvPr id="12" name="num_12_9"/>
          <p:cNvSpPr/>
          <p:nvPr/>
        </p:nvSpPr>
        <p:spPr>
          <a:xfrm>
            <a:off x="548640" y="4663440"/>
            <a:ext cx="640080" cy="640080"/>
          </a:xfrm>
          <a:prstGeom prst="ellipse">
            <a:avLst/>
          </a:prstGeom>
          <a:solidFill>
            <a:schemeClr val="accent2"/>
          </a:solidFill>
          <a:ln w="12700">
            <a:solidFill>
              <a:schemeClr val="accent2"/>
            </a:solidFill>
            <a:prstDash val="solid"/>
          </a:ln>
        </p:spPr>
      </p:sp>
      <p:sp>
        <p:nvSpPr>
          <p:cNvPr id="13" name="text_12_10"/>
          <p:cNvSpPr txBox="1"/>
          <p:nvPr/>
        </p:nvSpPr>
        <p:spPr>
          <a:xfrm>
            <a:off x="548640" y="4663440"/>
            <a:ext cx="640080" cy="640080"/>
          </a:xfrm>
          <a:prstGeom prst="rect">
            <a:avLst/>
          </a:prstGeom>
          <a:noFill/>
          <a:ln/>
        </p:spPr>
        <p:txBody>
          <a:bodyPr wrap="square" lIns="0" tIns="0" rIns="0" bIns="0" rtlCol="0" anchor="ctr"/>
          <a:lstStyle/>
          <a:p>
            <a:pPr algn="ctr" indent="0" marL="0">
              <a:buNone/>
            </a:pPr>
            <a:r>
              <a:rPr lang="en-US" sz="2400" b="1" dirty="0">
                <a:solidFill>
                  <a:schemeClr val="tx1"/>
                </a:solidFill>
              </a:rPr>
              <a:t>3</a:t>
            </a:r>
            <a:endParaRPr lang="en-US" sz="2400" dirty="0"/>
          </a:p>
        </p:txBody>
      </p:sp>
      <p:sp>
        <p:nvSpPr>
          <p:cNvPr id="14" name="text_12_11"/>
          <p:cNvSpPr txBox="1"/>
          <p:nvPr/>
        </p:nvSpPr>
        <p:spPr>
          <a:xfrm>
            <a:off x="1417320" y="4572000"/>
            <a:ext cx="4480560" cy="118872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Reasoning timeline</a:t>
            </a:r>
            <a:endParaRPr lang="en-US" sz="2000" dirty="0"/>
          </a:p>
          <a:p>
            <a:pPr indent="0" marL="0">
              <a:buNone/>
            </a:pPr>
            <a:r>
              <a:rPr lang="en-US" sz="1500" dirty="0">
                <a:solidFill>
                  <a:srgbClr val="A9BCCF"/>
                </a:solidFill>
              </a:rPr>
              <a:t>OBS → RULE → ACTION steps for audit and viva.</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CCF"/>
                </a:solidFill>
              </a:defRPr>
            </a:lvl1pPr>
          </a:lstStyle>
          <a:p>
            <a:pPr algn="r"/>
            <a:fld id="{F7021451-1387-4CA6-816F-3879F97B5CBC}" type="slidenum">
              <a:rPr b="0" lang="en-US"/>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22" presetClass="entr" presetSubtype="8" fill="hold" nodeType="withEffect">
                                  <p:stCondLst>
                                    <p:cond delay="40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900"/>
                                        <p:tgtEl>
                                          <p:spTgt spid="5"/>
                                        </p:tgtEl>
                                      </p:cBhvr>
                                    </p:animEffect>
                                  </p:childTnLst>
                                </p:cTn>
                              </p:par>
                              <p:par>
                                <p:cTn id="11" presetID="53" presetClass="entr" presetSubtype="16" fill="hold" nodeType="withEffect">
                                  <p:stCondLst>
                                    <p:cond delay="900"/>
                                  </p:stCondLst>
                                  <p:childTnLst>
                                    <p:set>
                                      <p:cBhvr>
                                        <p:cTn id="12" dur="1" fill="hold">
                                          <p:stCondLst>
                                            <p:cond delay="0"/>
                                          </p:stCondLst>
                                        </p:cTn>
                                        <p:tgtEl>
                                          <p:spTgt spid="6"/>
                                        </p:tgtEl>
                                        <p:attrNameLst>
                                          <p:attrName>style.visibility</p:attrName>
                                        </p:attrNameLst>
                                      </p:cBhvr>
                                      <p:to>
                                        <p:strVal val="visible"/>
                                      </p:to>
                                    </p:set>
                                    <p:anim calcmode="lin" valueType="num">
                                      <p:cBhvr>
                                        <p:cTn id="13" dur="400" fill="hold"/>
                                        <p:tgtEl>
                                          <p:spTgt spid="6"/>
                                        </p:tgtEl>
                                        <p:attrNameLst>
                                          <p:attrName>ppt_w</p:attrName>
                                        </p:attrNameLst>
                                      </p:cBhvr>
                                      <p:tavLst>
                                        <p:tav tm="0">
                                          <p:val>
                                            <p:fltVal val="0"/>
                                          </p:val>
                                        </p:tav>
                                        <p:tav tm="100000">
                                          <p:val>
                                            <p:strVal val="#ppt_w"/>
                                          </p:val>
                                        </p:tav>
                                      </p:tavLst>
                                    </p:anim>
                                    <p:anim calcmode="lin" valueType="num">
                                      <p:cBhvr>
                                        <p:cTn id="14" dur="400" fill="hold"/>
                                        <p:tgtEl>
                                          <p:spTgt spid="6"/>
                                        </p:tgtEl>
                                        <p:attrNameLst>
                                          <p:attrName>ppt_h</p:attrName>
                                        </p:attrNameLst>
                                      </p:cBhvr>
                                      <p:tavLst>
                                        <p:tav tm="0">
                                          <p:val>
                                            <p:fltVal val="0"/>
                                          </p:val>
                                        </p:tav>
                                        <p:tav tm="100000">
                                          <p:val>
                                            <p:strVal val="#ppt_h"/>
                                          </p:val>
                                        </p:tav>
                                      </p:tavLst>
                                    </p:anim>
                                    <p:animEffect transition="in" filter="fade">
                                      <p:cBhvr>
                                        <p:cTn id="15" dur="400"/>
                                        <p:tgtEl>
                                          <p:spTgt spid="6"/>
                                        </p:tgtEl>
                                      </p:cBhvr>
                                    </p:animEffect>
                                  </p:childTnLst>
                                </p:cTn>
                              </p:par>
                              <p:par>
                                <p:cTn id="16" presetID="53" presetClass="entr" presetSubtype="16" fill="hold" nodeType="withEffect">
                                  <p:stCondLst>
                                    <p:cond delay="950"/>
                                  </p:stCondLst>
                                  <p:childTnLst>
                                    <p:set>
                                      <p:cBhvr>
                                        <p:cTn id="17" dur="1" fill="hold">
                                          <p:stCondLst>
                                            <p:cond delay="0"/>
                                          </p:stCondLst>
                                        </p:cTn>
                                        <p:tgtEl>
                                          <p:spTgt spid="7"/>
                                        </p:tgtEl>
                                        <p:attrNameLst>
                                          <p:attrName>style.visibility</p:attrName>
                                        </p:attrNameLst>
                                      </p:cBhvr>
                                      <p:to>
                                        <p:strVal val="visible"/>
                                      </p:to>
                                    </p:set>
                                    <p:anim calcmode="lin" valueType="num">
                                      <p:cBhvr>
                                        <p:cTn id="18" dur="400" fill="hold"/>
                                        <p:tgtEl>
                                          <p:spTgt spid="7"/>
                                        </p:tgtEl>
                                        <p:attrNameLst>
                                          <p:attrName>ppt_w</p:attrName>
                                        </p:attrNameLst>
                                      </p:cBhvr>
                                      <p:tavLst>
                                        <p:tav tm="0">
                                          <p:val>
                                            <p:fltVal val="0"/>
                                          </p:val>
                                        </p:tav>
                                        <p:tav tm="100000">
                                          <p:val>
                                            <p:strVal val="#ppt_w"/>
                                          </p:val>
                                        </p:tav>
                                      </p:tavLst>
                                    </p:anim>
                                    <p:anim calcmode="lin" valueType="num">
                                      <p:cBhvr>
                                        <p:cTn id="19" dur="400" fill="hold"/>
                                        <p:tgtEl>
                                          <p:spTgt spid="7"/>
                                        </p:tgtEl>
                                        <p:attrNameLst>
                                          <p:attrName>ppt_h</p:attrName>
                                        </p:attrNameLst>
                                      </p:cBhvr>
                                      <p:tavLst>
                                        <p:tav tm="0">
                                          <p:val>
                                            <p:fltVal val="0"/>
                                          </p:val>
                                        </p:tav>
                                        <p:tav tm="100000">
                                          <p:val>
                                            <p:strVal val="#ppt_h"/>
                                          </p:val>
                                        </p:tav>
                                      </p:tavLst>
                                    </p:anim>
                                    <p:animEffect transition="in" filter="fade">
                                      <p:cBhvr>
                                        <p:cTn id="20" dur="400"/>
                                        <p:tgtEl>
                                          <p:spTgt spid="7"/>
                                        </p:tgtEl>
                                      </p:cBhvr>
                                    </p:animEffect>
                                  </p:childTnLst>
                                </p:cTn>
                              </p:par>
                              <p:par>
                                <p:cTn id="21" presetID="22" presetClass="entr" presetSubtype="8" fill="hold" nodeType="withEffect">
                                  <p:stCondLst>
                                    <p:cond delay="1000"/>
                                  </p:stCondLst>
                                  <p:childTnLst>
                                    <p:set>
                                      <p:cBhvr>
                                        <p:cTn id="22" dur="1" fill="hold">
                                          <p:stCondLst>
                                            <p:cond delay="0"/>
                                          </p:stCondLst>
                                        </p:cTn>
                                        <p:tgtEl>
                                          <p:spTgt spid="8"/>
                                        </p:tgtEl>
                                        <p:attrNameLst>
                                          <p:attrName>style.visibility</p:attrName>
                                        </p:attrNameLst>
                                      </p:cBhvr>
                                      <p:to>
                                        <p:strVal val="visible"/>
                                      </p:to>
                                    </p:set>
                                    <p:animEffect transition="in" filter="wipe(left)">
                                      <p:cBhvr>
                                        <p:cTn id="23" dur="500"/>
                                        <p:tgtEl>
                                          <p:spTgt spid="8"/>
                                        </p:tgtEl>
                                      </p:cBhvr>
                                    </p:animEffect>
                                  </p:childTnLst>
                                </p:cTn>
                              </p:par>
                              <p:par>
                                <p:cTn id="24" presetID="53" presetClass="entr" presetSubtype="16" fill="hold" nodeType="withEffect">
                                  <p:stCondLst>
                                    <p:cond delay="1500"/>
                                  </p:stCondLst>
                                  <p:childTnLst>
                                    <p:set>
                                      <p:cBhvr>
                                        <p:cTn id="25" dur="1" fill="hold">
                                          <p:stCondLst>
                                            <p:cond delay="0"/>
                                          </p:stCondLst>
                                        </p:cTn>
                                        <p:tgtEl>
                                          <p:spTgt spid="9"/>
                                        </p:tgtEl>
                                        <p:attrNameLst>
                                          <p:attrName>style.visibility</p:attrName>
                                        </p:attrNameLst>
                                      </p:cBhvr>
                                      <p:to>
                                        <p:strVal val="visible"/>
                                      </p:to>
                                    </p:set>
                                    <p:anim calcmode="lin" valueType="num">
                                      <p:cBhvr>
                                        <p:cTn id="26" dur="400" fill="hold"/>
                                        <p:tgtEl>
                                          <p:spTgt spid="9"/>
                                        </p:tgtEl>
                                        <p:attrNameLst>
                                          <p:attrName>ppt_w</p:attrName>
                                        </p:attrNameLst>
                                      </p:cBhvr>
                                      <p:tavLst>
                                        <p:tav tm="0">
                                          <p:val>
                                            <p:fltVal val="0"/>
                                          </p:val>
                                        </p:tav>
                                        <p:tav tm="100000">
                                          <p:val>
                                            <p:strVal val="#ppt_w"/>
                                          </p:val>
                                        </p:tav>
                                      </p:tavLst>
                                    </p:anim>
                                    <p:anim calcmode="lin" valueType="num">
                                      <p:cBhvr>
                                        <p:cTn id="27" dur="400" fill="hold"/>
                                        <p:tgtEl>
                                          <p:spTgt spid="9"/>
                                        </p:tgtEl>
                                        <p:attrNameLst>
                                          <p:attrName>ppt_h</p:attrName>
                                        </p:attrNameLst>
                                      </p:cBhvr>
                                      <p:tavLst>
                                        <p:tav tm="0">
                                          <p:val>
                                            <p:fltVal val="0"/>
                                          </p:val>
                                        </p:tav>
                                        <p:tav tm="100000">
                                          <p:val>
                                            <p:strVal val="#ppt_h"/>
                                          </p:val>
                                        </p:tav>
                                      </p:tavLst>
                                    </p:anim>
                                    <p:animEffect transition="in" filter="fade">
                                      <p:cBhvr>
                                        <p:cTn id="28" dur="400"/>
                                        <p:tgtEl>
                                          <p:spTgt spid="9"/>
                                        </p:tgtEl>
                                      </p:cBhvr>
                                    </p:animEffect>
                                  </p:childTnLst>
                                </p:cTn>
                              </p:par>
                              <p:par>
                                <p:cTn id="29" presetID="53" presetClass="entr" presetSubtype="16" fill="hold" nodeType="withEffect">
                                  <p:stCondLst>
                                    <p:cond delay="1550"/>
                                  </p:stCondLst>
                                  <p:childTnLst>
                                    <p:set>
                                      <p:cBhvr>
                                        <p:cTn id="30" dur="1" fill="hold">
                                          <p:stCondLst>
                                            <p:cond delay="0"/>
                                          </p:stCondLst>
                                        </p:cTn>
                                        <p:tgtEl>
                                          <p:spTgt spid="10"/>
                                        </p:tgtEl>
                                        <p:attrNameLst>
                                          <p:attrName>style.visibility</p:attrName>
                                        </p:attrNameLst>
                                      </p:cBhvr>
                                      <p:to>
                                        <p:strVal val="visible"/>
                                      </p:to>
                                    </p:set>
                                    <p:anim calcmode="lin" valueType="num">
                                      <p:cBhvr>
                                        <p:cTn id="31" dur="400" fill="hold"/>
                                        <p:tgtEl>
                                          <p:spTgt spid="10"/>
                                        </p:tgtEl>
                                        <p:attrNameLst>
                                          <p:attrName>ppt_w</p:attrName>
                                        </p:attrNameLst>
                                      </p:cBhvr>
                                      <p:tavLst>
                                        <p:tav tm="0">
                                          <p:val>
                                            <p:fltVal val="0"/>
                                          </p:val>
                                        </p:tav>
                                        <p:tav tm="100000">
                                          <p:val>
                                            <p:strVal val="#ppt_w"/>
                                          </p:val>
                                        </p:tav>
                                      </p:tavLst>
                                    </p:anim>
                                    <p:anim calcmode="lin" valueType="num">
                                      <p:cBhvr>
                                        <p:cTn id="32" dur="400" fill="hold"/>
                                        <p:tgtEl>
                                          <p:spTgt spid="10"/>
                                        </p:tgtEl>
                                        <p:attrNameLst>
                                          <p:attrName>ppt_h</p:attrName>
                                        </p:attrNameLst>
                                      </p:cBhvr>
                                      <p:tavLst>
                                        <p:tav tm="0">
                                          <p:val>
                                            <p:fltVal val="0"/>
                                          </p:val>
                                        </p:tav>
                                        <p:tav tm="100000">
                                          <p:val>
                                            <p:strVal val="#ppt_h"/>
                                          </p:val>
                                        </p:tav>
                                      </p:tavLst>
                                    </p:anim>
                                    <p:animEffect transition="in" filter="fade">
                                      <p:cBhvr>
                                        <p:cTn id="33" dur="400"/>
                                        <p:tgtEl>
                                          <p:spTgt spid="10"/>
                                        </p:tgtEl>
                                      </p:cBhvr>
                                    </p:animEffect>
                                  </p:childTnLst>
                                </p:cTn>
                              </p:par>
                              <p:par>
                                <p:cTn id="34" presetID="26" presetClass="emph" presetSubtype="0" repeatCount="indefinite" fill="hold" nodeType="withEffect">
                                  <p:stCondLst>
                                    <p:cond delay="1600"/>
                                  </p:stCondLst>
                                  <p:childTnLst>
                                    <p:animScale>
                                      <p:cBhvr>
                                        <p:cTn id="35" dur="600" autoRev="1" fill="hold"/>
                                        <p:tgtEl>
                                          <p:spTgt spid="6"/>
                                        </p:tgtEl>
                                      </p:cBhvr>
                                      <p:by x="112000" y="112000"/>
                                    </p:animScale>
                                  </p:childTnLst>
                                </p:cTn>
                              </p:par>
                              <p:par>
                                <p:cTn id="36" presetID="22" presetClass="entr" presetSubtype="8" fill="hold" nodeType="withEffect">
                                  <p:stCondLst>
                                    <p:cond delay="1600"/>
                                  </p:stCondLst>
                                  <p:childTnLst>
                                    <p:set>
                                      <p:cBhvr>
                                        <p:cTn id="37" dur="1" fill="hold">
                                          <p:stCondLst>
                                            <p:cond delay="0"/>
                                          </p:stCondLst>
                                        </p:cTn>
                                        <p:tgtEl>
                                          <p:spTgt spid="11"/>
                                        </p:tgtEl>
                                        <p:attrNameLst>
                                          <p:attrName>style.visibility</p:attrName>
                                        </p:attrNameLst>
                                      </p:cBhvr>
                                      <p:to>
                                        <p:strVal val="visible"/>
                                      </p:to>
                                    </p:set>
                                    <p:animEffect transition="in" filter="wipe(left)">
                                      <p:cBhvr>
                                        <p:cTn id="38" dur="500"/>
                                        <p:tgtEl>
                                          <p:spTgt spid="11"/>
                                        </p:tgtEl>
                                      </p:cBhvr>
                                    </p:animEffect>
                                  </p:childTnLst>
                                </p:cTn>
                              </p:par>
                              <p:par>
                                <p:cTn id="39" presetID="53" presetClass="entr" presetSubtype="16" fill="hold" nodeType="withEffect">
                                  <p:stCondLst>
                                    <p:cond delay="2100"/>
                                  </p:stCondLst>
                                  <p:childTnLst>
                                    <p:set>
                                      <p:cBhvr>
                                        <p:cTn id="40" dur="1" fill="hold">
                                          <p:stCondLst>
                                            <p:cond delay="0"/>
                                          </p:stCondLst>
                                        </p:cTn>
                                        <p:tgtEl>
                                          <p:spTgt spid="12"/>
                                        </p:tgtEl>
                                        <p:attrNameLst>
                                          <p:attrName>style.visibility</p:attrName>
                                        </p:attrNameLst>
                                      </p:cBhvr>
                                      <p:to>
                                        <p:strVal val="visible"/>
                                      </p:to>
                                    </p:set>
                                    <p:anim calcmode="lin" valueType="num">
                                      <p:cBhvr>
                                        <p:cTn id="41" dur="400" fill="hold"/>
                                        <p:tgtEl>
                                          <p:spTgt spid="12"/>
                                        </p:tgtEl>
                                        <p:attrNameLst>
                                          <p:attrName>ppt_w</p:attrName>
                                        </p:attrNameLst>
                                      </p:cBhvr>
                                      <p:tavLst>
                                        <p:tav tm="0">
                                          <p:val>
                                            <p:fltVal val="0"/>
                                          </p:val>
                                        </p:tav>
                                        <p:tav tm="100000">
                                          <p:val>
                                            <p:strVal val="#ppt_w"/>
                                          </p:val>
                                        </p:tav>
                                      </p:tavLst>
                                    </p:anim>
                                    <p:anim calcmode="lin" valueType="num">
                                      <p:cBhvr>
                                        <p:cTn id="42" dur="400" fill="hold"/>
                                        <p:tgtEl>
                                          <p:spTgt spid="12"/>
                                        </p:tgtEl>
                                        <p:attrNameLst>
                                          <p:attrName>ppt_h</p:attrName>
                                        </p:attrNameLst>
                                      </p:cBhvr>
                                      <p:tavLst>
                                        <p:tav tm="0">
                                          <p:val>
                                            <p:fltVal val="0"/>
                                          </p:val>
                                        </p:tav>
                                        <p:tav tm="100000">
                                          <p:val>
                                            <p:strVal val="#ppt_h"/>
                                          </p:val>
                                        </p:tav>
                                      </p:tavLst>
                                    </p:anim>
                                    <p:animEffect transition="in" filter="fade">
                                      <p:cBhvr>
                                        <p:cTn id="43" dur="400"/>
                                        <p:tgtEl>
                                          <p:spTgt spid="12"/>
                                        </p:tgtEl>
                                      </p:cBhvr>
                                    </p:animEffect>
                                  </p:childTnLst>
                                </p:cTn>
                              </p:par>
                              <p:par>
                                <p:cTn id="44" presetID="53" presetClass="entr" presetSubtype="16" fill="hold" nodeType="withEffect">
                                  <p:stCondLst>
                                    <p:cond delay="2150"/>
                                  </p:stCondLst>
                                  <p:childTnLst>
                                    <p:set>
                                      <p:cBhvr>
                                        <p:cTn id="45" dur="1" fill="hold">
                                          <p:stCondLst>
                                            <p:cond delay="0"/>
                                          </p:stCondLst>
                                        </p:cTn>
                                        <p:tgtEl>
                                          <p:spTgt spid="13"/>
                                        </p:tgtEl>
                                        <p:attrNameLst>
                                          <p:attrName>style.visibility</p:attrName>
                                        </p:attrNameLst>
                                      </p:cBhvr>
                                      <p:to>
                                        <p:strVal val="visible"/>
                                      </p:to>
                                    </p:set>
                                    <p:anim calcmode="lin" valueType="num">
                                      <p:cBhvr>
                                        <p:cTn id="46" dur="400" fill="hold"/>
                                        <p:tgtEl>
                                          <p:spTgt spid="13"/>
                                        </p:tgtEl>
                                        <p:attrNameLst>
                                          <p:attrName>ppt_w</p:attrName>
                                        </p:attrNameLst>
                                      </p:cBhvr>
                                      <p:tavLst>
                                        <p:tav tm="0">
                                          <p:val>
                                            <p:fltVal val="0"/>
                                          </p:val>
                                        </p:tav>
                                        <p:tav tm="100000">
                                          <p:val>
                                            <p:strVal val="#ppt_w"/>
                                          </p:val>
                                        </p:tav>
                                      </p:tavLst>
                                    </p:anim>
                                    <p:anim calcmode="lin" valueType="num">
                                      <p:cBhvr>
                                        <p:cTn id="47" dur="400" fill="hold"/>
                                        <p:tgtEl>
                                          <p:spTgt spid="13"/>
                                        </p:tgtEl>
                                        <p:attrNameLst>
                                          <p:attrName>ppt_h</p:attrName>
                                        </p:attrNameLst>
                                      </p:cBhvr>
                                      <p:tavLst>
                                        <p:tav tm="0">
                                          <p:val>
                                            <p:fltVal val="0"/>
                                          </p:val>
                                        </p:tav>
                                        <p:tav tm="100000">
                                          <p:val>
                                            <p:strVal val="#ppt_h"/>
                                          </p:val>
                                        </p:tav>
                                      </p:tavLst>
                                    </p:anim>
                                    <p:animEffect transition="in" filter="fade">
                                      <p:cBhvr>
                                        <p:cTn id="48" dur="400"/>
                                        <p:tgtEl>
                                          <p:spTgt spid="13"/>
                                        </p:tgtEl>
                                      </p:cBhvr>
                                    </p:animEffect>
                                  </p:childTnLst>
                                </p:cTn>
                              </p:par>
                              <p:par>
                                <p:cTn id="49" presetID="26" presetClass="emph" presetSubtype="0" repeatCount="indefinite" fill="hold" nodeType="withEffect">
                                  <p:stCondLst>
                                    <p:cond delay="2200"/>
                                  </p:stCondLst>
                                  <p:childTnLst>
                                    <p:animScale>
                                      <p:cBhvr>
                                        <p:cTn id="50" dur="600" autoRev="1" fill="hold"/>
                                        <p:tgtEl>
                                          <p:spTgt spid="9"/>
                                        </p:tgtEl>
                                      </p:cBhvr>
                                      <p:by x="112000" y="112000"/>
                                    </p:animScale>
                                  </p:childTnLst>
                                </p:cTn>
                              </p:par>
                              <p:par>
                                <p:cTn id="51" presetID="22" presetClass="entr" presetSubtype="8" fill="hold" nodeType="withEffect">
                                  <p:stCondLst>
                                    <p:cond delay="2200"/>
                                  </p:stCondLst>
                                  <p:childTnLst>
                                    <p:set>
                                      <p:cBhvr>
                                        <p:cTn id="52" dur="1" fill="hold">
                                          <p:stCondLst>
                                            <p:cond delay="0"/>
                                          </p:stCondLst>
                                        </p:cTn>
                                        <p:tgtEl>
                                          <p:spTgt spid="14"/>
                                        </p:tgtEl>
                                        <p:attrNameLst>
                                          <p:attrName>style.visibility</p:attrName>
                                        </p:attrNameLst>
                                      </p:cBhvr>
                                      <p:to>
                                        <p:strVal val="visible"/>
                                      </p:to>
                                    </p:set>
                                    <p:animEffect transition="in" filter="wipe(left)">
                                      <p:cBhvr>
                                        <p:cTn id="53" dur="500"/>
                                        <p:tgtEl>
                                          <p:spTgt spid="14"/>
                                        </p:tgtEl>
                                      </p:cBhvr>
                                    </p:animEffect>
                                  </p:childTnLst>
                                </p:cTn>
                              </p:par>
                              <p:par>
                                <p:cTn id="54" presetID="26" presetClass="emph" presetSubtype="0" repeatCount="indefinite" fill="hold" nodeType="withEffect">
                                  <p:stCondLst>
                                    <p:cond delay="2800"/>
                                  </p:stCondLst>
                                  <p:childTnLst>
                                    <p:animScale>
                                      <p:cBhvr>
                                        <p:cTn id="55" dur="600" autoRev="1" fill="hold"/>
                                        <p:tgtEl>
                                          <p:spTgt spid="12"/>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Testing and results</a:t>
            </a:r>
            <a:endParaRPr lang="en-US" sz="3200" dirty="0"/>
          </a:p>
        </p:txBody>
      </p:sp>
      <p:sp>
        <p:nvSpPr>
          <p:cNvPr id="4" name="shape_13_1"/>
          <p:cNvSpPr/>
          <p:nvPr/>
        </p:nvSpPr>
        <p:spPr>
          <a:xfrm>
            <a:off x="548640" y="1371600"/>
            <a:ext cx="3657600" cy="1417320"/>
          </a:xfrm>
          <a:prstGeom prst="roundRect">
            <a:avLst>
              <a:gd name="adj" fmla="val 7742"/>
            </a:avLst>
          </a:prstGeom>
          <a:solidFill>
            <a:schemeClr val="tx2"/>
          </a:solidFill>
          <a:ln w="12700">
            <a:solidFill>
              <a:srgbClr val="FFFFFF">
                <a:alpha val="0"/>
              </a:srgbClr>
            </a:solidFill>
            <a:prstDash val="solid"/>
          </a:ln>
        </p:spPr>
      </p:sp>
      <p:sp>
        <p:nvSpPr>
          <p:cNvPr id="5" name="text_13_2"/>
          <p:cNvSpPr txBox="1"/>
          <p:nvPr/>
        </p:nvSpPr>
        <p:spPr>
          <a:xfrm>
            <a:off x="731520" y="1463040"/>
            <a:ext cx="3291840" cy="868680"/>
          </a:xfrm>
          <a:prstGeom prst="rect">
            <a:avLst/>
          </a:prstGeom>
          <a:noFill/>
          <a:ln/>
        </p:spPr>
        <p:txBody>
          <a:bodyPr wrap="square" lIns="0" tIns="0" rIns="0" bIns="0" rtlCol="0" anchor="ctr"/>
          <a:lstStyle/>
          <a:p>
            <a:pPr indent="0" marL="0">
              <a:buNone/>
            </a:pPr>
            <a:r>
              <a:rPr lang="en-US" sz="5000" b="1" dirty="0">
                <a:solidFill>
                  <a:schemeClr val="accent2"/>
                </a:solidFill>
                <a:latin typeface="Cambria" pitchFamily="34" charset="0"/>
                <a:ea typeface="Cambria" pitchFamily="34" charset="-122"/>
                <a:cs typeface="Cambria" pitchFamily="34" charset="-120"/>
              </a:rPr>
              <a:t>13/13</a:t>
            </a:r>
            <a:endParaRPr lang="en-US" sz="5000" dirty="0"/>
          </a:p>
        </p:txBody>
      </p:sp>
      <p:sp>
        <p:nvSpPr>
          <p:cNvPr id="6" name="text_13_3"/>
          <p:cNvSpPr txBox="1"/>
          <p:nvPr/>
        </p:nvSpPr>
        <p:spPr>
          <a:xfrm>
            <a:off x="731520" y="2286000"/>
            <a:ext cx="3291840" cy="411480"/>
          </a:xfrm>
          <a:prstGeom prst="rect">
            <a:avLst/>
          </a:prstGeom>
          <a:noFill/>
          <a:ln/>
        </p:spPr>
        <p:txBody>
          <a:bodyPr wrap="square" lIns="0" tIns="0" rIns="0" bIns="0" rtlCol="0" anchor="ctr"/>
          <a:lstStyle/>
          <a:p>
            <a:pPr indent="0" marL="0">
              <a:buNone/>
            </a:pPr>
            <a:r>
              <a:rPr lang="en-US" sz="1500" dirty="0">
                <a:solidFill>
                  <a:schemeClr val="bg1"/>
                </a:solidFill>
              </a:rPr>
              <a:t>evaluation scenarios PASS</a:t>
            </a:r>
            <a:endParaRPr lang="en-US" sz="1500" dirty="0"/>
          </a:p>
        </p:txBody>
      </p:sp>
      <p:sp>
        <p:nvSpPr>
          <p:cNvPr id="7" name="shape_13_4"/>
          <p:cNvSpPr/>
          <p:nvPr/>
        </p:nvSpPr>
        <p:spPr>
          <a:xfrm>
            <a:off x="548640" y="2971800"/>
            <a:ext cx="3657600" cy="1417320"/>
          </a:xfrm>
          <a:prstGeom prst="roundRect">
            <a:avLst>
              <a:gd name="adj" fmla="val 7742"/>
            </a:avLst>
          </a:prstGeom>
          <a:solidFill>
            <a:schemeClr val="tx2"/>
          </a:solidFill>
          <a:ln w="12700">
            <a:solidFill>
              <a:srgbClr val="FFFFFF">
                <a:alpha val="0"/>
              </a:srgbClr>
            </a:solidFill>
            <a:prstDash val="solid"/>
          </a:ln>
        </p:spPr>
      </p:sp>
      <p:sp>
        <p:nvSpPr>
          <p:cNvPr id="8" name="text_13_5"/>
          <p:cNvSpPr txBox="1"/>
          <p:nvPr/>
        </p:nvSpPr>
        <p:spPr>
          <a:xfrm>
            <a:off x="731520" y="3063240"/>
            <a:ext cx="3291840" cy="868680"/>
          </a:xfrm>
          <a:prstGeom prst="rect">
            <a:avLst/>
          </a:prstGeom>
          <a:noFill/>
          <a:ln/>
        </p:spPr>
        <p:txBody>
          <a:bodyPr wrap="square" lIns="0" tIns="0" rIns="0" bIns="0" rtlCol="0" anchor="ctr"/>
          <a:lstStyle/>
          <a:p>
            <a:pPr indent="0" marL="0">
              <a:buNone/>
            </a:pPr>
            <a:r>
              <a:rPr lang="en-US" sz="5000" b="1" dirty="0">
                <a:solidFill>
                  <a:schemeClr val="accent2"/>
                </a:solidFill>
                <a:latin typeface="Cambria" pitchFamily="34" charset="0"/>
                <a:ea typeface="Cambria" pitchFamily="34" charset="-122"/>
                <a:cs typeface="Cambria" pitchFamily="34" charset="-120"/>
              </a:rPr>
              <a:t>37</a:t>
            </a:r>
            <a:endParaRPr lang="en-US" sz="5000" dirty="0"/>
          </a:p>
        </p:txBody>
      </p:sp>
      <p:sp>
        <p:nvSpPr>
          <p:cNvPr id="9" name="text_13_6"/>
          <p:cNvSpPr txBox="1"/>
          <p:nvPr/>
        </p:nvSpPr>
        <p:spPr>
          <a:xfrm>
            <a:off x="731520" y="3886200"/>
            <a:ext cx="3291840" cy="411480"/>
          </a:xfrm>
          <a:prstGeom prst="rect">
            <a:avLst/>
          </a:prstGeom>
          <a:noFill/>
          <a:ln/>
        </p:spPr>
        <p:txBody>
          <a:bodyPr wrap="square" lIns="0" tIns="0" rIns="0" bIns="0" rtlCol="0" anchor="ctr"/>
          <a:lstStyle/>
          <a:p>
            <a:pPr indent="0" marL="0">
              <a:buNone/>
            </a:pPr>
            <a:r>
              <a:rPr lang="en-US" sz="1500" dirty="0">
                <a:solidFill>
                  <a:schemeClr val="bg1"/>
                </a:solidFill>
              </a:rPr>
              <a:t>automated checks PASS</a:t>
            </a:r>
            <a:endParaRPr lang="en-US" sz="1500" dirty="0"/>
          </a:p>
        </p:txBody>
      </p:sp>
      <p:graphicFrame>
        <p:nvGraphicFramePr>
          <p:cNvPr id="10" name="testdonut" descr=""/>
          <p:cNvGraphicFramePr/>
          <p:nvPr/>
        </p:nvGraphicFramePr>
        <p:xfrm>
          <a:off x="548640" y="4572000"/>
          <a:ext cx="3657600" cy="1691640"/>
        </p:xfrm>
        <a:graphic xmlns:a="http://schemas.openxmlformats.org/drawingml/2006/main">
          <a:graphicData uri="http://schemas.openxmlformats.org/drawingml/2006/chart">
            <c:chart xmlns:c="http://schemas.openxmlformats.org/drawingml/2006/chart" r:id="rId1"/>
          </a:graphicData>
        </a:graphic>
      </p:graphicFrame>
      <p:sp>
        <p:nvSpPr>
          <p:cNvPr id="11" name="shape_13_7"/>
          <p:cNvSpPr/>
          <p:nvPr/>
        </p:nvSpPr>
        <p:spPr>
          <a:xfrm>
            <a:off x="5768213" y="1280160"/>
            <a:ext cx="4831335" cy="4526280"/>
          </a:xfrm>
          <a:prstGeom prst="roundRect">
            <a:avLst>
              <a:gd name="adj" fmla="val 2020"/>
            </a:avLst>
          </a:prstGeom>
          <a:solidFill>
            <a:schemeClr val="bg2"/>
          </a:solidFill>
          <a:ln w="12700">
            <a:solidFill>
              <a:schemeClr val="bg2"/>
            </a:solidFill>
            <a:prstDash val="solid"/>
          </a:ln>
          <a:effectLst>
            <a:outerShdw sx="100000" sy="100000" kx="0" ky="0" algn="bl" rotWithShape="0" blurRad="101600" dist="25400" dir="5400000">
              <a:srgbClr val="0B1F33">
                <a:alpha val="12000"/>
              </a:srgbClr>
            </a:outerShdw>
          </a:effectLst>
        </p:spPr>
      </p:sp>
      <p:pic>
        <p:nvPicPr>
          <p:cNvPr id="12" name="pic_13_8" descr="Evaluation lab showing all 13 scenarios passing">    </p:cNvPr>
          <p:cNvPicPr>
            <a:picLocks noChangeAspect="1"/>
          </p:cNvPicPr>
          <p:nvPr/>
        </p:nvPicPr>
        <p:blipFill>
          <a:blip r:embed="rId2"/>
          <a:stretch>
            <a:fillRect/>
          </a:stretch>
        </p:blipFill>
        <p:spPr>
          <a:xfrm>
            <a:off x="5859653" y="1371600"/>
            <a:ext cx="4648455" cy="4343400"/>
          </a:xfrm>
          <a:prstGeom prst="rect">
            <a:avLst/>
          </a:prstGeom>
        </p:spPr>
      </p:pic>
      <p:sp>
        <p:nvSpPr>
          <p:cNvPr id="13" name="text_13_9"/>
          <p:cNvSpPr txBox="1"/>
          <p:nvPr/>
        </p:nvSpPr>
        <p:spPr>
          <a:xfrm>
            <a:off x="4526280" y="6035040"/>
            <a:ext cx="7132320" cy="365760"/>
          </a:xfrm>
          <a:prstGeom prst="rect">
            <a:avLst/>
          </a:prstGeom>
          <a:noFill/>
          <a:ln/>
        </p:spPr>
        <p:txBody>
          <a:bodyPr wrap="square" lIns="0" tIns="0" rIns="0" bIns="0" rtlCol="0" anchor="ctr"/>
          <a:lstStyle/>
          <a:p>
            <a:pPr algn="ctr" indent="0" marL="0">
              <a:buNone/>
            </a:pPr>
            <a:r>
              <a:rPr lang="en-US" sz="1300" i="1" dirty="0">
                <a:solidFill>
                  <a:srgbClr val="5B6B7C"/>
                </a:solidFill>
              </a:rPr>
              <a:t>Counts are executable regression checks, not an estimate of diagnostic accuracy.</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13</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350"/>
                                  </p:stCondLst>
                                  <p:childTnLst>
                                    <p:set>
                                      <p:cBhvr>
                                        <p:cTn id="10" dur="1" fill="hold">
                                          <p:stCondLst>
                                            <p:cond delay="0"/>
                                          </p:stCondLst>
                                        </p:cTn>
                                        <p:tgtEl>
                                          <p:spTgt spid="5"/>
                                        </p:tgtEl>
                                        <p:attrNameLst>
                                          <p:attrName>style.visibility</p:attrName>
                                        </p:attrNameLst>
                                      </p:cBhvr>
                                      <p:to>
                                        <p:strVal val="visible"/>
                                      </p:to>
                                    </p:set>
                                    <p:anim calcmode="lin" valueType="num">
                                      <p:cBhvr>
                                        <p:cTn id="11" dur="450" fill="hold"/>
                                        <p:tgtEl>
                                          <p:spTgt spid="5"/>
                                        </p:tgtEl>
                                        <p:attrNameLst>
                                          <p:attrName>ppt_w</p:attrName>
                                        </p:attrNameLst>
                                      </p:cBhvr>
                                      <p:tavLst>
                                        <p:tav tm="0">
                                          <p:val>
                                            <p:fltVal val="0"/>
                                          </p:val>
                                        </p:tav>
                                        <p:tav tm="100000">
                                          <p:val>
                                            <p:strVal val="#ppt_w"/>
                                          </p:val>
                                        </p:tav>
                                      </p:tavLst>
                                    </p:anim>
                                    <p:anim calcmode="lin" valueType="num">
                                      <p:cBhvr>
                                        <p:cTn id="12" dur="450" fill="hold"/>
                                        <p:tgtEl>
                                          <p:spTgt spid="5"/>
                                        </p:tgtEl>
                                        <p:attrNameLst>
                                          <p:attrName>ppt_h</p:attrName>
                                        </p:attrNameLst>
                                      </p:cBhvr>
                                      <p:tavLst>
                                        <p:tav tm="0">
                                          <p:val>
                                            <p:fltVal val="0"/>
                                          </p:val>
                                        </p:tav>
                                        <p:tav tm="100000">
                                          <p:val>
                                            <p:strVal val="#ppt_h"/>
                                          </p:val>
                                        </p:tav>
                                      </p:tavLst>
                                    </p:anim>
                                    <p:animEffect transition="in" filter="fade">
                                      <p:cBhvr>
                                        <p:cTn id="13" dur="450"/>
                                        <p:tgtEl>
                                          <p:spTgt spid="5"/>
                                        </p:tgtEl>
                                      </p:cBhvr>
                                    </p:animEffect>
                                  </p:childTnLst>
                                </p:cTn>
                              </p:par>
                              <p:par>
                                <p:cTn id="14" presetID="10" presetClass="entr" presetSubtype="0" fill="hold" nodeType="withEffect">
                                  <p:stCondLst>
                                    <p:cond delay="4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00"/>
                                        <p:tgtEl>
                                          <p:spTgt spid="6"/>
                                        </p:tgtEl>
                                      </p:cBhvr>
                                    </p:animEffect>
                                  </p:childTnLst>
                                </p:cTn>
                              </p:par>
                              <p:par>
                                <p:cTn id="17" presetID="2" presetClass="entr" presetSubtype="8" fill="hold" nodeType="withEffect">
                                  <p:stCondLst>
                                    <p:cond delay="50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0-#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par>
                                <p:cTn id="21" presetID="10" presetClass="entr" presetSubtype="0" fill="hold" nodeType="withEffect">
                                  <p:stCondLst>
                                    <p:cond delay="50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53" presetClass="entr" presetSubtype="16" fill="hold" nodeType="withEffect">
                                  <p:stCondLst>
                                    <p:cond delay="650"/>
                                  </p:stCondLst>
                                  <p:childTnLst>
                                    <p:set>
                                      <p:cBhvr>
                                        <p:cTn id="25" dur="1" fill="hold">
                                          <p:stCondLst>
                                            <p:cond delay="0"/>
                                          </p:stCondLst>
                                        </p:cTn>
                                        <p:tgtEl>
                                          <p:spTgt spid="8"/>
                                        </p:tgtEl>
                                        <p:attrNameLst>
                                          <p:attrName>style.visibility</p:attrName>
                                        </p:attrNameLst>
                                      </p:cBhvr>
                                      <p:to>
                                        <p:strVal val="visible"/>
                                      </p:to>
                                    </p:set>
                                    <p:anim calcmode="lin" valueType="num">
                                      <p:cBhvr>
                                        <p:cTn id="26" dur="450" fill="hold"/>
                                        <p:tgtEl>
                                          <p:spTgt spid="8"/>
                                        </p:tgtEl>
                                        <p:attrNameLst>
                                          <p:attrName>ppt_w</p:attrName>
                                        </p:attrNameLst>
                                      </p:cBhvr>
                                      <p:tavLst>
                                        <p:tav tm="0">
                                          <p:val>
                                            <p:fltVal val="0"/>
                                          </p:val>
                                        </p:tav>
                                        <p:tav tm="100000">
                                          <p:val>
                                            <p:strVal val="#ppt_w"/>
                                          </p:val>
                                        </p:tav>
                                      </p:tavLst>
                                    </p:anim>
                                    <p:anim calcmode="lin" valueType="num">
                                      <p:cBhvr>
                                        <p:cTn id="27" dur="450" fill="hold"/>
                                        <p:tgtEl>
                                          <p:spTgt spid="8"/>
                                        </p:tgtEl>
                                        <p:attrNameLst>
                                          <p:attrName>ppt_h</p:attrName>
                                        </p:attrNameLst>
                                      </p:cBhvr>
                                      <p:tavLst>
                                        <p:tav tm="0">
                                          <p:val>
                                            <p:fltVal val="0"/>
                                          </p:val>
                                        </p:tav>
                                        <p:tav tm="100000">
                                          <p:val>
                                            <p:strVal val="#ppt_h"/>
                                          </p:val>
                                        </p:tav>
                                      </p:tavLst>
                                    </p:anim>
                                    <p:animEffect transition="in" filter="fade">
                                      <p:cBhvr>
                                        <p:cTn id="28" dur="450"/>
                                        <p:tgtEl>
                                          <p:spTgt spid="8"/>
                                        </p:tgtEl>
                                      </p:cBhvr>
                                    </p:animEffect>
                                  </p:childTnLst>
                                </p:cTn>
                              </p:par>
                              <p:par>
                                <p:cTn id="29" presetID="22" presetClass="entr" presetSubtype="8" fill="hold" nodeType="withEffect">
                                  <p:stCondLst>
                                    <p:cond delay="70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900"/>
                                        <p:tgtEl>
                                          <p:spTgt spid="12"/>
                                        </p:tgtEl>
                                      </p:cBhvr>
                                    </p:animEffect>
                                  </p:childTnLst>
                                </p:cTn>
                              </p:par>
                              <p:par>
                                <p:cTn id="32" presetID="10" presetClass="entr" presetSubtype="0" fill="hold" nodeType="withEffect">
                                  <p:stCondLst>
                                    <p:cond delay="75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400"/>
                                        <p:tgtEl>
                                          <p:spTgt spid="9"/>
                                        </p:tgtEl>
                                      </p:cBhvr>
                                    </p:animEffect>
                                  </p:childTnLst>
                                </p:cTn>
                              </p:par>
                              <p:par>
                                <p:cTn id="35" presetID="53" presetClass="entr" presetSubtype="16" fill="hold" nodeType="withEffect">
                                  <p:stCondLst>
                                    <p:cond delay="900"/>
                                  </p:stCondLst>
                                  <p:childTnLst>
                                    <p:set>
                                      <p:cBhvr>
                                        <p:cTn id="36" dur="1" fill="hold">
                                          <p:stCondLst>
                                            <p:cond delay="0"/>
                                          </p:stCondLst>
                                        </p:cTn>
                                        <p:tgtEl>
                                          <p:spTgt spid="10"/>
                                        </p:tgtEl>
                                        <p:attrNameLst>
                                          <p:attrName>style.visibility</p:attrName>
                                        </p:attrNameLst>
                                      </p:cBhvr>
                                      <p:to>
                                        <p:strVal val="visible"/>
                                      </p:to>
                                    </p:set>
                                    <p:anim calcmode="lin" valueType="num">
                                      <p:cBhvr>
                                        <p:cTn id="37" dur="700" fill="hold"/>
                                        <p:tgtEl>
                                          <p:spTgt spid="10"/>
                                        </p:tgtEl>
                                        <p:attrNameLst>
                                          <p:attrName>ppt_w</p:attrName>
                                        </p:attrNameLst>
                                      </p:cBhvr>
                                      <p:tavLst>
                                        <p:tav tm="0">
                                          <p:val>
                                            <p:fltVal val="0"/>
                                          </p:val>
                                        </p:tav>
                                        <p:tav tm="100000">
                                          <p:val>
                                            <p:strVal val="#ppt_w"/>
                                          </p:val>
                                        </p:tav>
                                      </p:tavLst>
                                    </p:anim>
                                    <p:anim calcmode="lin" valueType="num">
                                      <p:cBhvr>
                                        <p:cTn id="38" dur="700" fill="hold"/>
                                        <p:tgtEl>
                                          <p:spTgt spid="10"/>
                                        </p:tgtEl>
                                        <p:attrNameLst>
                                          <p:attrName>ppt_h</p:attrName>
                                        </p:attrNameLst>
                                      </p:cBhvr>
                                      <p:tavLst>
                                        <p:tav tm="0">
                                          <p:val>
                                            <p:fltVal val="0"/>
                                          </p:val>
                                        </p:tav>
                                        <p:tav tm="100000">
                                          <p:val>
                                            <p:strVal val="#ppt_h"/>
                                          </p:val>
                                        </p:tav>
                                      </p:tavLst>
                                    </p:anim>
                                    <p:animEffect transition="in" filter="fade">
                                      <p:cBhvr>
                                        <p:cTn id="39" dur="700"/>
                                        <p:tgtEl>
                                          <p:spTgt spid="10"/>
                                        </p:tgtEl>
                                      </p:cBhvr>
                                    </p:animEffect>
                                  </p:childTnLst>
                                </p:cTn>
                              </p:par>
                              <p:par>
                                <p:cTn id="40" presetID="10" presetClass="entr" presetSubtype="0" fill="hold" nodeType="withEffect">
                                  <p:stCondLst>
                                    <p:cond delay="180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Why forward chaining? Judged on the CLO 3 criteria</a:t>
            </a:r>
            <a:endParaRPr lang="en-US" sz="3200" dirty="0"/>
          </a:p>
        </p:txBody>
      </p:sp>
      <p:graphicFrame>
        <p:nvGraphicFramePr>
          <p:cNvPr id="15" name="cmp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286000"/>
                <a:gridCol w="4572000"/>
                <a:gridCol w="4206240"/>
              </a:tblGrid>
              <a:tr h="566928">
                <a:tc>
                  <a:txBody>
                    <a:bodyPr/>
                    <a:lstStyle/>
                    <a:p>
                      <a:pPr indent="0" marL="0">
                        <a:buNone/>
                      </a:pPr>
                      <a:r>
                        <a:rPr lang="en-US" sz="1400" b="1" dirty="0">
                          <a:solidFill>
                            <a:schemeClr val="bg1"/>
                          </a:solidFill>
                        </a:rPr>
                        <a:t>Criterion</a:t>
                      </a:r>
                      <a:endParaRPr lang="en-US" sz="1400" dirty="0"/>
                    </a:p>
                  </a:txBody>
                  <a:tcPr marL="82296" marR="82296" marT="82296" marB="82296">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Rule-based forward chaining (chosen)</a:t>
                      </a:r>
                      <a:endParaRPr lang="en-US" sz="1400" dirty="0"/>
                    </a:p>
                  </a:txBody>
                  <a:tcPr marL="82296" marR="82296" marT="82296" marB="82296">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Alternative / trade-off</a:t>
                      </a:r>
                      <a:endParaRPr lang="en-US" sz="1400" dirty="0"/>
                    </a:p>
                  </a:txBody>
                  <a:tcPr marL="82296" marR="82296" marT="82296" marB="82296">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tx2"/>
                    </a:solidFill>
                  </a:tcPr>
                </a:tc>
              </a:tr>
              <a:tr h="566928">
                <a:tc>
                  <a:txBody>
                    <a:bodyPr/>
                    <a:lstStyle/>
                    <a:p>
                      <a:pPr indent="0" marL="0">
                        <a:buNone/>
                      </a:pPr>
                      <a:r>
                        <a:rPr lang="en-US" sz="1400" b="1" dirty="0">
                          <a:solidFill>
                            <a:schemeClr val="tx1"/>
                          </a:solidFill>
                        </a:rPr>
                        <a:t>Explainability</a:t>
                      </a:r>
                      <a:endParaRPr lang="en-US" sz="1400" dirty="0"/>
                    </a:p>
                  </a:txBody>
                  <a:tcPr marL="82296" marR="82296" marT="82296" marB="82296"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Every condition and derived action is inspectable</a:t>
                      </a:r>
                      <a:endParaRPr lang="en-US" sz="1400" dirty="0"/>
                    </a:p>
                  </a:txBody>
                  <a:tcPr marL="82296" marR="82296" marT="82296" marB="82296"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rgbClr val="DDF3F0"/>
                    </a:solidFill>
                  </a:tcPr>
                </a:tc>
                <a:tc>
                  <a:txBody>
                    <a:bodyPr/>
                    <a:lstStyle/>
                    <a:p>
                      <a:pPr indent="0" marL="0">
                        <a:buNone/>
                      </a:pPr>
                      <a:r>
                        <a:rPr lang="en-US" sz="1400" dirty="0">
                          <a:solidFill>
                            <a:schemeClr val="tx1"/>
                          </a:solidFill>
                        </a:rPr>
                        <a:t>ML needs labels and post-hoc explanation</a:t>
                      </a:r>
                      <a:endParaRPr lang="en-US" sz="1400" dirty="0"/>
                    </a:p>
                  </a:txBody>
                  <a:tcPr marL="82296" marR="82296" marT="82296" marB="82296"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Incomplete evidence</a:t>
                      </a:r>
                      <a:endParaRPr lang="en-US" sz="1400" dirty="0"/>
                    </a:p>
                  </a:txBody>
                  <a:tcPr marL="82296" marR="82296" marT="82296" marB="82296"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Unknown ≠ No; rules stay Possible</a:t>
                      </a:r>
                      <a:endParaRPr lang="en-US" sz="1400" dirty="0"/>
                    </a:p>
                  </a:txBody>
                  <a:tcPr marL="82296" marR="82296" marT="82296" marB="82296"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rgbClr val="DDF3F0"/>
                    </a:solidFill>
                  </a:tcPr>
                </a:tc>
                <a:tc>
                  <a:txBody>
                    <a:bodyPr/>
                    <a:lstStyle/>
                    <a:p>
                      <a:pPr indent="0" marL="0">
                        <a:buNone/>
                      </a:pPr>
                      <a:r>
                        <a:rPr lang="en-US" sz="1400" dirty="0">
                          <a:solidFill>
                            <a:schemeClr val="tx1"/>
                          </a:solidFill>
                        </a:rPr>
                        <a:t>Bayesian methods need calibrated probabilities</a:t>
                      </a:r>
                      <a:endParaRPr lang="en-US" sz="1400" dirty="0"/>
                    </a:p>
                  </a:txBody>
                  <a:tcPr marL="82296" marR="82296" marT="82296" marB="82296"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Safety</a:t>
                      </a:r>
                      <a:endParaRPr lang="en-US" sz="1400" dirty="0"/>
                    </a:p>
                  </a:txBody>
                  <a:tcPr marL="82296" marR="82296" marT="82296" marB="82296"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Independent hazard alerts, severity-first ranking</a:t>
                      </a:r>
                      <a:endParaRPr lang="en-US" sz="1400" dirty="0"/>
                    </a:p>
                  </a:txBody>
                  <a:tcPr marL="82296" marR="82296" marT="82296" marB="82296"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rgbClr val="DDF3F0"/>
                    </a:solidFill>
                  </a:tcPr>
                </a:tc>
                <a:tc>
                  <a:txBody>
                    <a:bodyPr/>
                    <a:lstStyle/>
                    <a:p>
                      <a:pPr indent="0" marL="0">
                        <a:buNone/>
                      </a:pPr>
                      <a:r>
                        <a:rPr lang="en-US" sz="1400" dirty="0">
                          <a:solidFill>
                            <a:schemeClr val="tx1"/>
                          </a:solidFill>
                        </a:rPr>
                        <a:t>Still needs human procedures</a:t>
                      </a:r>
                      <a:endParaRPr lang="en-US" sz="1400" dirty="0"/>
                    </a:p>
                  </a:txBody>
                  <a:tcPr marL="82296" marR="82296" marT="82296" marB="82296"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Cost / availability</a:t>
                      </a:r>
                      <a:endParaRPr lang="en-US" sz="1400" dirty="0"/>
                    </a:p>
                  </a:txBody>
                  <a:tcPr marL="82296" marR="82296" marT="82296" marB="82296"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Qualitative secondary ordering</a:t>
                      </a:r>
                      <a:endParaRPr lang="en-US" sz="1400" dirty="0"/>
                    </a:p>
                  </a:txBody>
                  <a:tcPr marL="82296" marR="82296" marT="82296" marB="82296"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rgbClr val="DDF3F0"/>
                    </a:solidFill>
                  </a:tcPr>
                </a:tc>
                <a:tc>
                  <a:txBody>
                    <a:bodyPr/>
                    <a:lstStyle/>
                    <a:p>
                      <a:pPr indent="0" marL="0">
                        <a:buNone/>
                      </a:pPr>
                      <a:r>
                        <a:rPr lang="en-US" sz="1400" dirty="0">
                          <a:solidFill>
                            <a:schemeClr val="tx1"/>
                          </a:solidFill>
                        </a:rPr>
                        <a:t>Needs real plant numbers</a:t>
                      </a:r>
                      <a:endParaRPr lang="en-US" sz="1400" dirty="0"/>
                    </a:p>
                  </a:txBody>
                  <a:tcPr marL="82296" marR="82296" marT="82296" marB="82296"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Maintainability</a:t>
                      </a:r>
                      <a:endParaRPr lang="en-US" sz="1400" dirty="0"/>
                    </a:p>
                  </a:txBody>
                  <a:tcPr marL="82296" marR="82296" marT="82296" marB="82296"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Editable JSON rules + regression suite</a:t>
                      </a:r>
                      <a:endParaRPr lang="en-US" sz="1400" dirty="0"/>
                    </a:p>
                  </a:txBody>
                  <a:tcPr marL="82296" marR="82296" marT="82296" marB="82296"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rgbClr val="DDF3F0"/>
                    </a:solidFill>
                  </a:tcPr>
                </a:tc>
                <a:tc>
                  <a:txBody>
                    <a:bodyPr/>
                    <a:lstStyle/>
                    <a:p>
                      <a:pPr indent="0" marL="0">
                        <a:buNone/>
                      </a:pPr>
                      <a:r>
                        <a:rPr lang="en-US" sz="1400" dirty="0">
                          <a:solidFill>
                            <a:schemeClr val="tx1"/>
                          </a:solidFill>
                        </a:rPr>
                        <a:t>Large ontology scales better across assets</a:t>
                      </a:r>
                      <a:endParaRPr lang="en-US" sz="1400" dirty="0"/>
                    </a:p>
                  </a:txBody>
                  <a:tcPr marL="82296" marR="82296" marT="82296" marB="82296"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Screening style</a:t>
                      </a:r>
                      <a:endParaRPr lang="en-US" sz="1400" dirty="0"/>
                    </a:p>
                  </a:txBody>
                  <a:tcPr marL="82296" marR="82296" marT="82296" marB="82296"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“Given these observations, what fires?”</a:t>
                      </a:r>
                      <a:endParaRPr lang="en-US" sz="1400" dirty="0"/>
                    </a:p>
                  </a:txBody>
                  <a:tcPr marL="82296" marR="82296" marT="82296" marB="82296"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rgbClr val="DDF3F0"/>
                    </a:solidFill>
                  </a:tcPr>
                </a:tc>
                <a:tc>
                  <a:txBody>
                    <a:bodyPr/>
                    <a:lstStyle/>
                    <a:p>
                      <a:pPr indent="0" marL="0">
                        <a:buNone/>
                      </a:pPr>
                      <a:r>
                        <a:rPr lang="en-US" sz="1400" dirty="0">
                          <a:solidFill>
                            <a:schemeClr val="tx1"/>
                          </a:solidFill>
                        </a:rPr>
                        <a:t>Backward chaining suits one suspected fault</a:t>
                      </a:r>
                      <a:endParaRPr lang="en-US" sz="1400" dirty="0"/>
                    </a:p>
                  </a:txBody>
                  <a:tcPr marL="82296" marR="82296" marT="82296" marB="82296" anchor="ctr">
                    <a:lnL w="6350" cap="flat" cmpd="sng" algn="ctr">
                      <a:solidFill>
                        <a:srgbClr val="C9D5E2"/>
                      </a:solidFill>
                      <a:prstDash val="solid"/>
                      <a:round/>
                      <a:headEnd type="none" w="med" len="med"/>
                      <a:tailEnd type="none" w="med" len="med"/>
                    </a:lnL>
                    <a:lnR w="6350" cap="flat" cmpd="sng" algn="ctr">
                      <a:solidFill>
                        <a:srgbClr val="C9D5E2"/>
                      </a:solidFill>
                      <a:prstDash val="solid"/>
                      <a:round/>
                      <a:headEnd type="none" w="med" len="med"/>
                      <a:tailEnd type="none" w="med" len="med"/>
                    </a:lnR>
                    <a:lnT w="6350" cap="flat" cmpd="sng" algn="ctr">
                      <a:solidFill>
                        <a:srgbClr val="C9D5E2"/>
                      </a:solidFill>
                      <a:prstDash val="solid"/>
                      <a:round/>
                      <a:headEnd type="none" w="med" len="med"/>
                      <a:tailEnd type="none" w="med" len="med"/>
                    </a:lnT>
                    <a:lnB w="6350" cap="flat" cmpd="sng" algn="ctr">
                      <a:solidFill>
                        <a:srgbClr val="C9D5E2"/>
                      </a:solidFill>
                      <a:prstDash val="solid"/>
                      <a:round/>
                      <a:headEnd type="none" w="med" len="med"/>
                      <a:tailEnd type="none" w="med" len="med"/>
                    </a:lnB>
                    <a:solidFill>
                      <a:schemeClr val="bg2"/>
                    </a:solidFill>
                  </a:tcPr>
                </a:tc>
              </a:tr>
            </a:tbl>
          </a:graphicData>
        </a:graphic>
      </p:graphicFrame>
      <p:sp>
        <p:nvSpPr>
          <p:cNvPr id="5" name="shape_14_1"/>
          <p:cNvSpPr/>
          <p:nvPr/>
        </p:nvSpPr>
        <p:spPr>
          <a:xfrm>
            <a:off x="548640" y="5440680"/>
            <a:ext cx="11064240" cy="777240"/>
          </a:xfrm>
          <a:prstGeom prst="roundRect">
            <a:avLst>
              <a:gd name="adj" fmla="val 14118"/>
            </a:avLst>
          </a:prstGeom>
          <a:solidFill>
            <a:schemeClr val="tx1"/>
          </a:solidFill>
          <a:ln w="12700">
            <a:solidFill>
              <a:srgbClr val="FFFFFF">
                <a:alpha val="0"/>
              </a:srgbClr>
            </a:solidFill>
            <a:prstDash val="solid"/>
          </a:ln>
        </p:spPr>
      </p:sp>
      <p:sp>
        <p:nvSpPr>
          <p:cNvPr id="6" name="text_14_2"/>
          <p:cNvSpPr txBox="1"/>
          <p:nvPr/>
        </p:nvSpPr>
        <p:spPr>
          <a:xfrm>
            <a:off x="822960" y="5440680"/>
            <a:ext cx="10607040" cy="777240"/>
          </a:xfrm>
          <a:prstGeom prst="rect">
            <a:avLst/>
          </a:prstGeom>
          <a:noFill/>
          <a:ln/>
        </p:spPr>
        <p:txBody>
          <a:bodyPr wrap="square" lIns="0" tIns="0" rIns="0" bIns="0" rtlCol="0" anchor="ctr"/>
          <a:lstStyle/>
          <a:p>
            <a:pPr indent="0" marL="0">
              <a:buNone/>
            </a:pPr>
            <a:r>
              <a:rPr lang="en-US" sz="1600" b="1" dirty="0">
                <a:solidFill>
                  <a:schemeClr val="accent2"/>
                </a:solidFill>
              </a:rPr>
              <a:t>Verdict  </a:t>
            </a:r>
            <a:pPr indent="0" marL="0">
              <a:buNone/>
            </a:pPr>
            <a:r>
              <a:rPr lang="en-US" sz="1600" dirty="0">
                <a:solidFill>
                  <a:schemeClr val="bg1"/>
                </a:solidFill>
              </a:rPr>
              <a:t>Maximum explainability and conservative handling of incomplete, conflicting evidence — with no data we do not have.</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20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000"/>
                                        <p:tgtEl>
                                          <p:spTgt spid="15"/>
                                        </p:tgtEl>
                                      </p:cBhvr>
                                    </p:animEffect>
                                  </p:childTnLst>
                                </p:cTn>
                              </p:par>
                              <p:par>
                                <p:cTn id="8" presetID="2" presetClass="entr" presetSubtype="4" fill="hold" nodeType="withEffect">
                                  <p:stCondLst>
                                    <p:cond delay="1400"/>
                                  </p:stCondLst>
                                  <p:childTnLst>
                                    <p:set>
                                      <p:cBhvr>
                                        <p:cTn id="9" dur="1" fill="hold">
                                          <p:stCondLst>
                                            <p:cond delay="0"/>
                                          </p:stCondLst>
                                        </p:cTn>
                                        <p:tgtEl>
                                          <p:spTgt spid="5"/>
                                        </p:tgtEl>
                                        <p:attrNameLst>
                                          <p:attrName>style.visibility</p:attrName>
                                        </p:attrNameLst>
                                      </p:cBhvr>
                                      <p:to>
                                        <p:strVal val="visible"/>
                                      </p:to>
                                    </p:set>
                                    <p:anim calcmode="lin" valueType="num">
                                      <p:cBhvr additive="base">
                                        <p:cTn id="10" dur="500" fill="hold"/>
                                        <p:tgtEl>
                                          <p:spTgt spid="5"/>
                                        </p:tgtEl>
                                        <p:attrNameLst>
                                          <p:attrName>ppt_x</p:attrName>
                                        </p:attrNameLst>
                                      </p:cBhvr>
                                      <p:tavLst>
                                        <p:tav tm="0">
                                          <p:val>
                                            <p:strVal val="#ppt_x"/>
                                          </p:val>
                                        </p:tav>
                                        <p:tav tm="100000">
                                          <p:val>
                                            <p:strVal val="#ppt_x"/>
                                          </p:val>
                                        </p:tav>
                                      </p:tavLst>
                                    </p:anim>
                                    <p:anim calcmode="lin" valueType="num">
                                      <p:cBhvr additive="base">
                                        <p:cTn id="11" dur="500" fill="hold"/>
                                        <p:tgtEl>
                                          <p:spTgt spid="5"/>
                                        </p:tgtEl>
                                        <p:attrNameLst>
                                          <p:attrName>ppt_y</p:attrName>
                                        </p:attrNameLst>
                                      </p:cBhvr>
                                      <p:tavLst>
                                        <p:tav tm="0">
                                          <p:val>
                                            <p:strVal val="1+#ppt_h/2"/>
                                          </p:val>
                                        </p:tav>
                                        <p:tav tm="100000">
                                          <p:val>
                                            <p:strVal val="#ppt_y"/>
                                          </p:val>
                                        </p:tav>
                                      </p:tavLst>
                                    </p:anim>
                                  </p:childTnLst>
                                </p:cTn>
                              </p:par>
                              <p:par>
                                <p:cTn id="12" presetID="10" presetClass="entr" presetSubtype="0" fill="hold" nodeType="withEffect">
                                  <p:stCondLst>
                                    <p:cond delay="160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Limitations and what comes next</a:t>
            </a:r>
            <a:endParaRPr lang="en-US" sz="3200" dirty="0"/>
          </a:p>
        </p:txBody>
      </p:sp>
      <p:sp>
        <p:nvSpPr>
          <p:cNvPr id="4" name="shape_15_1"/>
          <p:cNvSpPr/>
          <p:nvPr/>
        </p:nvSpPr>
        <p:spPr>
          <a:xfrm>
            <a:off x="548640" y="1371600"/>
            <a:ext cx="5440680" cy="3977640"/>
          </a:xfrm>
          <a:prstGeom prst="roundRect">
            <a:avLst>
              <a:gd name="adj" fmla="val 2759"/>
            </a:avLst>
          </a:prstGeom>
          <a:solidFill>
            <a:schemeClr val="bg2"/>
          </a:solidFill>
          <a:ln w="12700">
            <a:solidFill>
              <a:srgbClr val="FFFFFF">
                <a:alpha val="0"/>
              </a:srgbClr>
            </a:solidFill>
            <a:prstDash val="solid"/>
          </a:ln>
        </p:spPr>
      </p:sp>
      <p:sp>
        <p:nvSpPr>
          <p:cNvPr id="5" name="shape_15_2"/>
          <p:cNvSpPr/>
          <p:nvPr/>
        </p:nvSpPr>
        <p:spPr>
          <a:xfrm>
            <a:off x="822960" y="1554480"/>
            <a:ext cx="640080" cy="640080"/>
          </a:xfrm>
          <a:prstGeom prst="ellipse">
            <a:avLst/>
          </a:prstGeom>
          <a:solidFill>
            <a:schemeClr val="accent3"/>
          </a:solidFill>
          <a:ln w="12700">
            <a:solidFill>
              <a:schemeClr val="accent3"/>
            </a:solidFill>
            <a:prstDash val="solid"/>
          </a:ln>
        </p:spPr>
      </p:sp>
      <p:pic>
        <p:nvPicPr>
          <p:cNvPr id="6" name="pic_15_3" descr="FaExclamationTriangle">    </p:cNvPr>
          <p:cNvPicPr>
            <a:picLocks noChangeAspect="1"/>
          </p:cNvPicPr>
          <p:nvPr/>
        </p:nvPicPr>
        <p:blipFill>
          <a:blip r:embed="rId1"/>
          <a:stretch>
            <a:fillRect/>
          </a:stretch>
        </p:blipFill>
        <p:spPr>
          <a:xfrm>
            <a:off x="982980" y="1714500"/>
            <a:ext cx="320040" cy="320040"/>
          </a:xfrm>
          <a:prstGeom prst="rect">
            <a:avLst/>
          </a:prstGeom>
        </p:spPr>
      </p:pic>
      <p:sp>
        <p:nvSpPr>
          <p:cNvPr id="7" name="text_15_4"/>
          <p:cNvSpPr txBox="1"/>
          <p:nvPr/>
        </p:nvSpPr>
        <p:spPr>
          <a:xfrm>
            <a:off x="1645920" y="1554480"/>
            <a:ext cx="4023360" cy="64008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Limitations</a:t>
            </a:r>
            <a:endParaRPr lang="en-US" sz="2200" dirty="0"/>
          </a:p>
        </p:txBody>
      </p:sp>
      <p:sp>
        <p:nvSpPr>
          <p:cNvPr id="8" name="shape_15_5"/>
          <p:cNvSpPr/>
          <p:nvPr/>
        </p:nvSpPr>
        <p:spPr>
          <a:xfrm>
            <a:off x="868680" y="2624328"/>
            <a:ext cx="146304" cy="146304"/>
          </a:xfrm>
          <a:prstGeom prst="ellipse">
            <a:avLst/>
          </a:prstGeom>
          <a:solidFill>
            <a:schemeClr val="accent3"/>
          </a:solidFill>
          <a:ln w="12700">
            <a:solidFill>
              <a:schemeClr val="accent3"/>
            </a:solidFill>
            <a:prstDash val="solid"/>
          </a:ln>
        </p:spPr>
      </p:sp>
      <p:sp>
        <p:nvSpPr>
          <p:cNvPr id="9" name="text_15_6"/>
          <p:cNvSpPr txBox="1"/>
          <p:nvPr/>
        </p:nvSpPr>
        <p:spPr>
          <a:xfrm>
            <a:off x="1188720" y="2514600"/>
            <a:ext cx="4572000" cy="457200"/>
          </a:xfrm>
          <a:prstGeom prst="rect">
            <a:avLst/>
          </a:prstGeom>
          <a:noFill/>
          <a:ln/>
        </p:spPr>
        <p:txBody>
          <a:bodyPr wrap="square" lIns="0" tIns="0" rIns="0" bIns="0" rtlCol="0" anchor="ctr"/>
          <a:lstStyle/>
          <a:p>
            <a:pPr indent="0" marL="0">
              <a:buNone/>
            </a:pPr>
            <a:r>
              <a:rPr lang="en-US" sz="1400" dirty="0">
                <a:solidFill>
                  <a:schemeClr val="tx1"/>
                </a:solidFill>
              </a:rPr>
              <a:t>Generic arm, only eight fault hypotheses</a:t>
            </a:r>
            <a:endParaRPr lang="en-US" sz="1400" dirty="0"/>
          </a:p>
        </p:txBody>
      </p:sp>
      <p:sp>
        <p:nvSpPr>
          <p:cNvPr id="10" name="shape_15_7"/>
          <p:cNvSpPr/>
          <p:nvPr/>
        </p:nvSpPr>
        <p:spPr>
          <a:xfrm>
            <a:off x="868680" y="3145536"/>
            <a:ext cx="146304" cy="146304"/>
          </a:xfrm>
          <a:prstGeom prst="ellipse">
            <a:avLst/>
          </a:prstGeom>
          <a:solidFill>
            <a:schemeClr val="accent3"/>
          </a:solidFill>
          <a:ln w="12700">
            <a:solidFill>
              <a:schemeClr val="accent3"/>
            </a:solidFill>
            <a:prstDash val="solid"/>
          </a:ln>
        </p:spPr>
      </p:sp>
      <p:sp>
        <p:nvSpPr>
          <p:cNvPr id="11" name="text_15_8"/>
          <p:cNvSpPr txBox="1"/>
          <p:nvPr/>
        </p:nvSpPr>
        <p:spPr>
          <a:xfrm>
            <a:off x="1188720" y="3035808"/>
            <a:ext cx="4572000" cy="457200"/>
          </a:xfrm>
          <a:prstGeom prst="rect">
            <a:avLst/>
          </a:prstGeom>
          <a:noFill/>
          <a:ln/>
        </p:spPr>
        <p:txBody>
          <a:bodyPr wrap="square" lIns="0" tIns="0" rIns="0" bIns="0" rtlCol="0" anchor="ctr"/>
          <a:lstStyle/>
          <a:p>
            <a:pPr indent="0" marL="0">
              <a:buNone/>
            </a:pPr>
            <a:r>
              <a:rPr lang="en-US" sz="1400" dirty="0">
                <a:solidFill>
                  <a:schemeClr val="tx1"/>
                </a:solidFill>
              </a:rPr>
              <a:t>No live telemetry or model-specific thresholds</a:t>
            </a:r>
            <a:endParaRPr lang="en-US" sz="1400" dirty="0"/>
          </a:p>
        </p:txBody>
      </p:sp>
      <p:sp>
        <p:nvSpPr>
          <p:cNvPr id="12" name="shape_15_9"/>
          <p:cNvSpPr/>
          <p:nvPr/>
        </p:nvSpPr>
        <p:spPr>
          <a:xfrm>
            <a:off x="868680" y="3666744"/>
            <a:ext cx="146304" cy="146304"/>
          </a:xfrm>
          <a:prstGeom prst="ellipse">
            <a:avLst/>
          </a:prstGeom>
          <a:solidFill>
            <a:schemeClr val="accent3"/>
          </a:solidFill>
          <a:ln w="12700">
            <a:solidFill>
              <a:schemeClr val="accent3"/>
            </a:solidFill>
            <a:prstDash val="solid"/>
          </a:ln>
        </p:spPr>
      </p:sp>
      <p:sp>
        <p:nvSpPr>
          <p:cNvPr id="13" name="text_15_10"/>
          <p:cNvSpPr txBox="1"/>
          <p:nvPr/>
        </p:nvSpPr>
        <p:spPr>
          <a:xfrm>
            <a:off x="1188720" y="3557016"/>
            <a:ext cx="4572000" cy="457200"/>
          </a:xfrm>
          <a:prstGeom prst="rect">
            <a:avLst/>
          </a:prstGeom>
          <a:noFill/>
          <a:ln/>
        </p:spPr>
        <p:txBody>
          <a:bodyPr wrap="square" lIns="0" tIns="0" rIns="0" bIns="0" rtlCol="0" anchor="ctr"/>
          <a:lstStyle/>
          <a:p>
            <a:pPr indent="0" marL="0">
              <a:buNone/>
            </a:pPr>
            <a:r>
              <a:rPr lang="en-US" sz="1400" dirty="0">
                <a:solidFill>
                  <a:schemeClr val="tx1"/>
                </a:solidFill>
              </a:rPr>
              <a:t>Source labels do not authenticate claims</a:t>
            </a:r>
            <a:endParaRPr lang="en-US" sz="1400" dirty="0"/>
          </a:p>
        </p:txBody>
      </p:sp>
      <p:sp>
        <p:nvSpPr>
          <p:cNvPr id="14" name="shape_15_11"/>
          <p:cNvSpPr/>
          <p:nvPr/>
        </p:nvSpPr>
        <p:spPr>
          <a:xfrm>
            <a:off x="868680" y="4187952"/>
            <a:ext cx="146304" cy="146304"/>
          </a:xfrm>
          <a:prstGeom prst="ellipse">
            <a:avLst/>
          </a:prstGeom>
          <a:solidFill>
            <a:schemeClr val="accent3"/>
          </a:solidFill>
          <a:ln w="12700">
            <a:solidFill>
              <a:schemeClr val="accent3"/>
            </a:solidFill>
            <a:prstDash val="solid"/>
          </a:ln>
        </p:spPr>
      </p:sp>
      <p:sp>
        <p:nvSpPr>
          <p:cNvPr id="15" name="text_15_12"/>
          <p:cNvSpPr txBox="1"/>
          <p:nvPr/>
        </p:nvSpPr>
        <p:spPr>
          <a:xfrm>
            <a:off x="1188720" y="4078224"/>
            <a:ext cx="4572000" cy="457200"/>
          </a:xfrm>
          <a:prstGeom prst="rect">
            <a:avLst/>
          </a:prstGeom>
          <a:noFill/>
          <a:ln/>
        </p:spPr>
        <p:txBody>
          <a:bodyPr wrap="square" lIns="0" tIns="0" rIns="0" bIns="0" rtlCol="0" anchor="ctr"/>
          <a:lstStyle/>
          <a:p>
            <a:pPr indent="0" marL="0">
              <a:buNone/>
            </a:pPr>
            <a:r>
              <a:rPr lang="en-US" sz="1400" dirty="0">
                <a:solidFill>
                  <a:schemeClr val="tx1"/>
                </a:solidFill>
              </a:rPr>
              <a:t>Cost / downtime are qualitative teaching labels</a:t>
            </a:r>
            <a:endParaRPr lang="en-US" sz="1400" dirty="0"/>
          </a:p>
        </p:txBody>
      </p:sp>
      <p:sp>
        <p:nvSpPr>
          <p:cNvPr id="16" name="shape_15_13"/>
          <p:cNvSpPr/>
          <p:nvPr/>
        </p:nvSpPr>
        <p:spPr>
          <a:xfrm>
            <a:off x="868680" y="4709160"/>
            <a:ext cx="146304" cy="146304"/>
          </a:xfrm>
          <a:prstGeom prst="ellipse">
            <a:avLst/>
          </a:prstGeom>
          <a:solidFill>
            <a:schemeClr val="accent3"/>
          </a:solidFill>
          <a:ln w="12700">
            <a:solidFill>
              <a:schemeClr val="accent3"/>
            </a:solidFill>
            <a:prstDash val="solid"/>
          </a:ln>
        </p:spPr>
      </p:sp>
      <p:sp>
        <p:nvSpPr>
          <p:cNvPr id="17" name="text_15_14"/>
          <p:cNvSpPr txBox="1"/>
          <p:nvPr/>
        </p:nvSpPr>
        <p:spPr>
          <a:xfrm>
            <a:off x="1188720" y="4599432"/>
            <a:ext cx="4572000" cy="457200"/>
          </a:xfrm>
          <a:prstGeom prst="rect">
            <a:avLst/>
          </a:prstGeom>
          <a:noFill/>
          <a:ln/>
        </p:spPr>
        <p:txBody>
          <a:bodyPr wrap="square" lIns="0" tIns="0" rIns="0" bIns="0" rtlCol="0" anchor="ctr"/>
          <a:lstStyle/>
          <a:p>
            <a:pPr indent="0" marL="0">
              <a:buNone/>
            </a:pPr>
            <a:r>
              <a:rPr lang="en-US" sz="1400" dirty="0">
                <a:solidFill>
                  <a:schemeClr val="tx1"/>
                </a:solidFill>
              </a:rPr>
              <a:t>Demo Supabase policies are open — not production security</a:t>
            </a:r>
            <a:endParaRPr lang="en-US" sz="1400" dirty="0"/>
          </a:p>
        </p:txBody>
      </p:sp>
      <p:sp>
        <p:nvSpPr>
          <p:cNvPr id="18" name="shape_15_15"/>
          <p:cNvSpPr/>
          <p:nvPr/>
        </p:nvSpPr>
        <p:spPr>
          <a:xfrm>
            <a:off x="6172200" y="1371600"/>
            <a:ext cx="5440680" cy="3977640"/>
          </a:xfrm>
          <a:prstGeom prst="roundRect">
            <a:avLst>
              <a:gd name="adj" fmla="val 2759"/>
            </a:avLst>
          </a:prstGeom>
          <a:solidFill>
            <a:schemeClr val="bg2"/>
          </a:solidFill>
          <a:ln w="12700">
            <a:solidFill>
              <a:srgbClr val="FFFFFF">
                <a:alpha val="0"/>
              </a:srgbClr>
            </a:solidFill>
            <a:prstDash val="solid"/>
          </a:ln>
        </p:spPr>
      </p:sp>
      <p:sp>
        <p:nvSpPr>
          <p:cNvPr id="19" name="shape_15_16"/>
          <p:cNvSpPr/>
          <p:nvPr/>
        </p:nvSpPr>
        <p:spPr>
          <a:xfrm>
            <a:off x="6446520" y="1554480"/>
            <a:ext cx="640080" cy="640080"/>
          </a:xfrm>
          <a:prstGeom prst="ellipse">
            <a:avLst/>
          </a:prstGeom>
          <a:solidFill>
            <a:schemeClr val="accent1"/>
          </a:solidFill>
          <a:ln w="12700">
            <a:solidFill>
              <a:schemeClr val="accent1"/>
            </a:solidFill>
            <a:prstDash val="solid"/>
          </a:ln>
        </p:spPr>
      </p:sp>
      <p:pic>
        <p:nvPicPr>
          <p:cNvPr id="20" name="pic_15_17" descr="FaLayerGroup">    </p:cNvPr>
          <p:cNvPicPr>
            <a:picLocks noChangeAspect="1"/>
          </p:cNvPicPr>
          <p:nvPr/>
        </p:nvPicPr>
        <p:blipFill>
          <a:blip r:embed="rId2"/>
          <a:stretch>
            <a:fillRect/>
          </a:stretch>
        </p:blipFill>
        <p:spPr>
          <a:xfrm>
            <a:off x="6606540" y="1714500"/>
            <a:ext cx="320040" cy="320040"/>
          </a:xfrm>
          <a:prstGeom prst="rect">
            <a:avLst/>
          </a:prstGeom>
        </p:spPr>
      </p:pic>
      <p:sp>
        <p:nvSpPr>
          <p:cNvPr id="21" name="text_15_18"/>
          <p:cNvSpPr txBox="1"/>
          <p:nvPr/>
        </p:nvSpPr>
        <p:spPr>
          <a:xfrm>
            <a:off x="7269480" y="1554480"/>
            <a:ext cx="4023360" cy="64008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Future improvements</a:t>
            </a:r>
            <a:endParaRPr lang="en-US" sz="2200" dirty="0"/>
          </a:p>
        </p:txBody>
      </p:sp>
      <p:sp>
        <p:nvSpPr>
          <p:cNvPr id="22" name="shape_15_19"/>
          <p:cNvSpPr/>
          <p:nvPr/>
        </p:nvSpPr>
        <p:spPr>
          <a:xfrm>
            <a:off x="6492240" y="2624328"/>
            <a:ext cx="146304" cy="146304"/>
          </a:xfrm>
          <a:prstGeom prst="ellipse">
            <a:avLst/>
          </a:prstGeom>
          <a:solidFill>
            <a:schemeClr val="accent1"/>
          </a:solidFill>
          <a:ln w="12700">
            <a:solidFill>
              <a:schemeClr val="accent1"/>
            </a:solidFill>
            <a:prstDash val="solid"/>
          </a:ln>
        </p:spPr>
      </p:sp>
      <p:sp>
        <p:nvSpPr>
          <p:cNvPr id="23" name="text_15_20"/>
          <p:cNvSpPr txBox="1"/>
          <p:nvPr/>
        </p:nvSpPr>
        <p:spPr>
          <a:xfrm>
            <a:off x="6812280" y="2514600"/>
            <a:ext cx="4572000" cy="457200"/>
          </a:xfrm>
          <a:prstGeom prst="rect">
            <a:avLst/>
          </a:prstGeom>
          <a:noFill/>
          <a:ln/>
        </p:spPr>
        <p:txBody>
          <a:bodyPr wrap="square" lIns="0" tIns="0" rIns="0" bIns="0" rtlCol="0" anchor="ctr"/>
          <a:lstStyle/>
          <a:p>
            <a:pPr indent="0" marL="0">
              <a:buNone/>
            </a:pPr>
            <a:r>
              <a:rPr lang="en-US" sz="1400" dirty="0">
                <a:solidFill>
                  <a:schemeClr val="tx1"/>
                </a:solidFill>
              </a:rPr>
              <a:t>Bind knowledge to one specific robot model and manuals</a:t>
            </a:r>
            <a:endParaRPr lang="en-US" sz="1400" dirty="0"/>
          </a:p>
        </p:txBody>
      </p:sp>
      <p:sp>
        <p:nvSpPr>
          <p:cNvPr id="24" name="shape_15_21"/>
          <p:cNvSpPr/>
          <p:nvPr/>
        </p:nvSpPr>
        <p:spPr>
          <a:xfrm>
            <a:off x="6492240" y="3145536"/>
            <a:ext cx="146304" cy="146304"/>
          </a:xfrm>
          <a:prstGeom prst="ellipse">
            <a:avLst/>
          </a:prstGeom>
          <a:solidFill>
            <a:schemeClr val="accent1"/>
          </a:solidFill>
          <a:ln w="12700">
            <a:solidFill>
              <a:schemeClr val="accent1"/>
            </a:solidFill>
            <a:prstDash val="solid"/>
          </a:ln>
        </p:spPr>
      </p:sp>
      <p:sp>
        <p:nvSpPr>
          <p:cNvPr id="25" name="text_15_22"/>
          <p:cNvSpPr txBox="1"/>
          <p:nvPr/>
        </p:nvSpPr>
        <p:spPr>
          <a:xfrm>
            <a:off x="6812280" y="3035808"/>
            <a:ext cx="4572000" cy="457200"/>
          </a:xfrm>
          <a:prstGeom prst="rect">
            <a:avLst/>
          </a:prstGeom>
          <a:noFill/>
          <a:ln/>
        </p:spPr>
        <p:txBody>
          <a:bodyPr wrap="square" lIns="0" tIns="0" rIns="0" bIns="0" rtlCol="0" anchor="ctr"/>
          <a:lstStyle/>
          <a:p>
            <a:pPr indent="0" marL="0">
              <a:buNone/>
            </a:pPr>
            <a:r>
              <a:rPr lang="en-US" sz="1400" dirty="0">
                <a:solidFill>
                  <a:schemeClr val="tx1"/>
                </a:solidFill>
              </a:rPr>
              <a:t>Expert-labelled incidents: precision / recall, missed-hazard rate</a:t>
            </a:r>
            <a:endParaRPr lang="en-US" sz="1400" dirty="0"/>
          </a:p>
        </p:txBody>
      </p:sp>
      <p:sp>
        <p:nvSpPr>
          <p:cNvPr id="26" name="shape_15_23"/>
          <p:cNvSpPr/>
          <p:nvPr/>
        </p:nvSpPr>
        <p:spPr>
          <a:xfrm>
            <a:off x="6492240" y="3666744"/>
            <a:ext cx="146304" cy="146304"/>
          </a:xfrm>
          <a:prstGeom prst="ellipse">
            <a:avLst/>
          </a:prstGeom>
          <a:solidFill>
            <a:schemeClr val="accent1"/>
          </a:solidFill>
          <a:ln w="12700">
            <a:solidFill>
              <a:schemeClr val="accent1"/>
            </a:solidFill>
            <a:prstDash val="solid"/>
          </a:ln>
        </p:spPr>
      </p:sp>
      <p:sp>
        <p:nvSpPr>
          <p:cNvPr id="27" name="text_15_24"/>
          <p:cNvSpPr txBox="1"/>
          <p:nvPr/>
        </p:nvSpPr>
        <p:spPr>
          <a:xfrm>
            <a:off x="6812280" y="3557016"/>
            <a:ext cx="4572000" cy="457200"/>
          </a:xfrm>
          <a:prstGeom prst="rect">
            <a:avLst/>
          </a:prstGeom>
          <a:noFill/>
          <a:ln/>
        </p:spPr>
        <p:txBody>
          <a:bodyPr wrap="square" lIns="0" tIns="0" rIns="0" bIns="0" rtlCol="0" anchor="ctr"/>
          <a:lstStyle/>
          <a:p>
            <a:pPr indent="0" marL="0">
              <a:buNone/>
            </a:pPr>
            <a:r>
              <a:rPr lang="en-US" sz="1400" dirty="0">
                <a:solidFill>
                  <a:schemeClr val="tx1"/>
                </a:solidFill>
              </a:rPr>
              <a:t>Import timestamped alarms; weight source reliability</a:t>
            </a:r>
            <a:endParaRPr lang="en-US" sz="1400" dirty="0"/>
          </a:p>
        </p:txBody>
      </p:sp>
      <p:sp>
        <p:nvSpPr>
          <p:cNvPr id="28" name="shape_15_25"/>
          <p:cNvSpPr/>
          <p:nvPr/>
        </p:nvSpPr>
        <p:spPr>
          <a:xfrm>
            <a:off x="6492240" y="4187952"/>
            <a:ext cx="146304" cy="146304"/>
          </a:xfrm>
          <a:prstGeom prst="ellipse">
            <a:avLst/>
          </a:prstGeom>
          <a:solidFill>
            <a:schemeClr val="accent1"/>
          </a:solidFill>
          <a:ln w="12700">
            <a:solidFill>
              <a:schemeClr val="accent1"/>
            </a:solidFill>
            <a:prstDash val="solid"/>
          </a:ln>
        </p:spPr>
      </p:sp>
      <p:sp>
        <p:nvSpPr>
          <p:cNvPr id="29" name="text_15_26"/>
          <p:cNvSpPr txBox="1"/>
          <p:nvPr/>
        </p:nvSpPr>
        <p:spPr>
          <a:xfrm>
            <a:off x="6812280" y="4078224"/>
            <a:ext cx="4572000" cy="457200"/>
          </a:xfrm>
          <a:prstGeom prst="rect">
            <a:avLst/>
          </a:prstGeom>
          <a:noFill/>
          <a:ln/>
        </p:spPr>
        <p:txBody>
          <a:bodyPr wrap="square" lIns="0" tIns="0" rIns="0" bIns="0" rtlCol="0" anchor="ctr"/>
          <a:lstStyle/>
          <a:p>
            <a:pPr indent="0" marL="0">
              <a:buNone/>
            </a:pPr>
            <a:r>
              <a:rPr lang="en-US" sz="1400" dirty="0">
                <a:solidFill>
                  <a:schemeClr val="tx1"/>
                </a:solidFill>
              </a:rPr>
              <a:t>Authentication and audit logging on the shared store</a:t>
            </a:r>
            <a:endParaRPr lang="en-US" sz="1400" dirty="0"/>
          </a:p>
        </p:txBody>
      </p:sp>
      <p:sp>
        <p:nvSpPr>
          <p:cNvPr id="30" name="shape_15_27"/>
          <p:cNvSpPr/>
          <p:nvPr/>
        </p:nvSpPr>
        <p:spPr>
          <a:xfrm>
            <a:off x="6492240" y="4709160"/>
            <a:ext cx="146304" cy="146304"/>
          </a:xfrm>
          <a:prstGeom prst="ellipse">
            <a:avLst/>
          </a:prstGeom>
          <a:solidFill>
            <a:schemeClr val="accent1"/>
          </a:solidFill>
          <a:ln w="12700">
            <a:solidFill>
              <a:schemeClr val="accent1"/>
            </a:solidFill>
            <a:prstDash val="solid"/>
          </a:ln>
        </p:spPr>
      </p:sp>
      <p:sp>
        <p:nvSpPr>
          <p:cNvPr id="31" name="text_15_28"/>
          <p:cNvSpPr txBox="1"/>
          <p:nvPr/>
        </p:nvSpPr>
        <p:spPr>
          <a:xfrm>
            <a:off x="6812280" y="4599432"/>
            <a:ext cx="4572000" cy="457200"/>
          </a:xfrm>
          <a:prstGeom prst="rect">
            <a:avLst/>
          </a:prstGeom>
          <a:noFill/>
          <a:ln/>
        </p:spPr>
        <p:txBody>
          <a:bodyPr wrap="square" lIns="0" tIns="0" rIns="0" bIns="0" rtlCol="0" anchor="ctr"/>
          <a:lstStyle/>
          <a:p>
            <a:pPr indent="0" marL="0">
              <a:buNone/>
            </a:pPr>
            <a:r>
              <a:rPr lang="en-US" sz="1400" dirty="0">
                <a:solidFill>
                  <a:schemeClr val="tx1"/>
                </a:solidFill>
              </a:rPr>
              <a:t>Optional ontology / graph view for cross-equipment reuse</a:t>
            </a:r>
            <a:endParaRPr lang="en-US" sz="1400" dirty="0"/>
          </a:p>
        </p:txBody>
      </p:sp>
      <p:sp>
        <p:nvSpPr>
          <p:cNvPr id="32" name="shape_15_29"/>
          <p:cNvSpPr/>
          <p:nvPr/>
        </p:nvSpPr>
        <p:spPr>
          <a:xfrm>
            <a:off x="548640" y="5532120"/>
            <a:ext cx="11064240" cy="685800"/>
          </a:xfrm>
          <a:prstGeom prst="roundRect">
            <a:avLst>
              <a:gd name="adj" fmla="val 16000"/>
            </a:avLst>
          </a:prstGeom>
          <a:solidFill>
            <a:schemeClr val="tx1"/>
          </a:solidFill>
          <a:ln w="12700">
            <a:solidFill>
              <a:srgbClr val="FFFFFF">
                <a:alpha val="0"/>
              </a:srgbClr>
            </a:solidFill>
            <a:prstDash val="solid"/>
          </a:ln>
        </p:spPr>
      </p:sp>
      <p:sp>
        <p:nvSpPr>
          <p:cNvPr id="33" name="text_15_30"/>
          <p:cNvSpPr txBox="1"/>
          <p:nvPr/>
        </p:nvSpPr>
        <p:spPr>
          <a:xfrm>
            <a:off x="548640" y="5532120"/>
            <a:ext cx="11064240" cy="685800"/>
          </a:xfrm>
          <a:prstGeom prst="rect">
            <a:avLst/>
          </a:prstGeom>
          <a:noFill/>
          <a:ln/>
        </p:spPr>
        <p:txBody>
          <a:bodyPr wrap="square" lIns="0" tIns="0" rIns="0" bIns="0" rtlCol="0" anchor="ctr"/>
          <a:lstStyle/>
          <a:p>
            <a:pPr algn="ctr" indent="0" marL="0">
              <a:buNone/>
            </a:pPr>
            <a:r>
              <a:rPr lang="en-US" sz="1800" b="1" dirty="0">
                <a:solidFill>
                  <a:schemeClr val="bg1"/>
                </a:solidFill>
              </a:rPr>
              <a:t>A qualified engineer must approve any real maintenance action.</a:t>
            </a:r>
            <a:endParaRPr lang="en-US" sz="18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15</a:t>
            </a:fld>
            <a:endParaRPr lang="en-US"/>
          </a:p>
        </p:txBody>
      </p:sp>
    </p:spTree>
  </p:cSld>
  <p:clrMapOvr>
    <a:masterClrMapping/>
  </p:clrMapOvr>
  <p:transition spd="med">
    <p:wipe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350"/>
                                  </p:stCondLst>
                                  <p:childTnLst>
                                    <p:set>
                                      <p:cBhvr>
                                        <p:cTn id="10" dur="1" fill="hold">
                                          <p:stCondLst>
                                            <p:cond delay="0"/>
                                          </p:stCondLst>
                                        </p:cTn>
                                        <p:tgtEl>
                                          <p:spTgt spid="5"/>
                                        </p:tgtEl>
                                        <p:attrNameLst>
                                          <p:attrName>style.visibility</p:attrName>
                                        </p:attrNameLst>
                                      </p:cBhvr>
                                      <p:to>
                                        <p:strVal val="visible"/>
                                      </p:to>
                                    </p:set>
                                    <p:anim calcmode="lin" valueType="num">
                                      <p:cBhvr>
                                        <p:cTn id="11" dur="350" fill="hold"/>
                                        <p:tgtEl>
                                          <p:spTgt spid="5"/>
                                        </p:tgtEl>
                                        <p:attrNameLst>
                                          <p:attrName>ppt_w</p:attrName>
                                        </p:attrNameLst>
                                      </p:cBhvr>
                                      <p:tavLst>
                                        <p:tav tm="0">
                                          <p:val>
                                            <p:fltVal val="0"/>
                                          </p:val>
                                        </p:tav>
                                        <p:tav tm="100000">
                                          <p:val>
                                            <p:strVal val="#ppt_w"/>
                                          </p:val>
                                        </p:tav>
                                      </p:tavLst>
                                    </p:anim>
                                    <p:anim calcmode="lin" valueType="num">
                                      <p:cBhvr>
                                        <p:cTn id="12" dur="350" fill="hold"/>
                                        <p:tgtEl>
                                          <p:spTgt spid="5"/>
                                        </p:tgtEl>
                                        <p:attrNameLst>
                                          <p:attrName>ppt_h</p:attrName>
                                        </p:attrNameLst>
                                      </p:cBhvr>
                                      <p:tavLst>
                                        <p:tav tm="0">
                                          <p:val>
                                            <p:fltVal val="0"/>
                                          </p:val>
                                        </p:tav>
                                        <p:tav tm="100000">
                                          <p:val>
                                            <p:strVal val="#ppt_h"/>
                                          </p:val>
                                        </p:tav>
                                      </p:tavLst>
                                    </p:anim>
                                    <p:animEffect transition="in" filter="fade">
                                      <p:cBhvr>
                                        <p:cTn id="13" dur="350"/>
                                        <p:tgtEl>
                                          <p:spTgt spid="5"/>
                                        </p:tgtEl>
                                      </p:cBhvr>
                                    </p:animEffect>
                                  </p:childTnLst>
                                </p:cTn>
                              </p:par>
                              <p:par>
                                <p:cTn id="14" presetID="53" presetClass="entr" presetSubtype="16" fill="hold" nodeType="withEffect">
                                  <p:stCondLst>
                                    <p:cond delay="350"/>
                                  </p:stCondLst>
                                  <p:childTnLst>
                                    <p:set>
                                      <p:cBhvr>
                                        <p:cTn id="15" dur="1" fill="hold">
                                          <p:stCondLst>
                                            <p:cond delay="0"/>
                                          </p:stCondLst>
                                        </p:cTn>
                                        <p:tgtEl>
                                          <p:spTgt spid="6"/>
                                        </p:tgtEl>
                                        <p:attrNameLst>
                                          <p:attrName>style.visibility</p:attrName>
                                        </p:attrNameLst>
                                      </p:cBhvr>
                                      <p:to>
                                        <p:strVal val="visible"/>
                                      </p:to>
                                    </p:set>
                                    <p:anim calcmode="lin" valueType="num">
                                      <p:cBhvr>
                                        <p:cTn id="16" dur="350" fill="hold"/>
                                        <p:tgtEl>
                                          <p:spTgt spid="6"/>
                                        </p:tgtEl>
                                        <p:attrNameLst>
                                          <p:attrName>ppt_w</p:attrName>
                                        </p:attrNameLst>
                                      </p:cBhvr>
                                      <p:tavLst>
                                        <p:tav tm="0">
                                          <p:val>
                                            <p:fltVal val="0"/>
                                          </p:val>
                                        </p:tav>
                                        <p:tav tm="100000">
                                          <p:val>
                                            <p:strVal val="#ppt_w"/>
                                          </p:val>
                                        </p:tav>
                                      </p:tavLst>
                                    </p:anim>
                                    <p:anim calcmode="lin" valueType="num">
                                      <p:cBhvr>
                                        <p:cTn id="17" dur="350" fill="hold"/>
                                        <p:tgtEl>
                                          <p:spTgt spid="6"/>
                                        </p:tgtEl>
                                        <p:attrNameLst>
                                          <p:attrName>ppt_h</p:attrName>
                                        </p:attrNameLst>
                                      </p:cBhvr>
                                      <p:tavLst>
                                        <p:tav tm="0">
                                          <p:val>
                                            <p:fltVal val="0"/>
                                          </p:val>
                                        </p:tav>
                                        <p:tav tm="100000">
                                          <p:val>
                                            <p:strVal val="#ppt_h"/>
                                          </p:val>
                                        </p:tav>
                                      </p:tavLst>
                                    </p:anim>
                                    <p:animEffect transition="in" filter="fade">
                                      <p:cBhvr>
                                        <p:cTn id="18" dur="350"/>
                                        <p:tgtEl>
                                          <p:spTgt spid="6"/>
                                        </p:tgtEl>
                                      </p:cBhvr>
                                    </p:animEffect>
                                  </p:childTnLst>
                                </p:cTn>
                              </p:par>
                              <p:par>
                                <p:cTn id="19" presetID="10" presetClass="entr" presetSubtype="0" fill="hold" nodeType="withEffect">
                                  <p:stCondLst>
                                    <p:cond delay="40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400"/>
                                        <p:tgtEl>
                                          <p:spTgt spid="7"/>
                                        </p:tgtEl>
                                      </p:cBhvr>
                                    </p:animEffect>
                                  </p:childTnLst>
                                </p:cTn>
                              </p:par>
                              <p:par>
                                <p:cTn id="22" presetID="2" presetClass="entr" presetSubtype="2" fill="hold" nodeType="withEffect">
                                  <p:stCondLst>
                                    <p:cond delay="500"/>
                                  </p:stCondLst>
                                  <p:childTnLst>
                                    <p:set>
                                      <p:cBhvr>
                                        <p:cTn id="23" dur="1" fill="hold">
                                          <p:stCondLst>
                                            <p:cond delay="0"/>
                                          </p:stCondLst>
                                        </p:cTn>
                                        <p:tgtEl>
                                          <p:spTgt spid="18"/>
                                        </p:tgtEl>
                                        <p:attrNameLst>
                                          <p:attrName>style.visibility</p:attrName>
                                        </p:attrNameLst>
                                      </p:cBhvr>
                                      <p:to>
                                        <p:strVal val="visible"/>
                                      </p:to>
                                    </p:set>
                                    <p:anim calcmode="lin" valueType="num">
                                      <p:cBhvr additive="base">
                                        <p:cTn id="24" dur="500" fill="hold"/>
                                        <p:tgtEl>
                                          <p:spTgt spid="18"/>
                                        </p:tgtEl>
                                        <p:attrNameLst>
                                          <p:attrName>ppt_x</p:attrName>
                                        </p:attrNameLst>
                                      </p:cBhvr>
                                      <p:tavLst>
                                        <p:tav tm="0">
                                          <p:val>
                                            <p:strVal val="1+#ppt_w/2"/>
                                          </p:val>
                                        </p:tav>
                                        <p:tav tm="100000">
                                          <p:val>
                                            <p:strVal val="#ppt_x"/>
                                          </p:val>
                                        </p:tav>
                                      </p:tavLst>
                                    </p:anim>
                                    <p:anim calcmode="lin" valueType="num">
                                      <p:cBhvr additive="base">
                                        <p:cTn id="25" dur="500" fill="hold"/>
                                        <p:tgtEl>
                                          <p:spTgt spid="18"/>
                                        </p:tgtEl>
                                        <p:attrNameLst>
                                          <p:attrName>ppt_y</p:attrName>
                                        </p:attrNameLst>
                                      </p:cBhvr>
                                      <p:tavLst>
                                        <p:tav tm="0">
                                          <p:val>
                                            <p:strVal val="#ppt_y"/>
                                          </p:val>
                                        </p:tav>
                                        <p:tav tm="100000">
                                          <p:val>
                                            <p:strVal val="#ppt_y"/>
                                          </p:val>
                                        </p:tav>
                                      </p:tavLst>
                                    </p:anim>
                                  </p:childTnLst>
                                </p:cTn>
                              </p:par>
                              <p:par>
                                <p:cTn id="26" presetID="53" presetClass="entr" presetSubtype="16" fill="hold" nodeType="withEffect">
                                  <p:stCondLst>
                                    <p:cond delay="600"/>
                                  </p:stCondLst>
                                  <p:childTnLst>
                                    <p:set>
                                      <p:cBhvr>
                                        <p:cTn id="27" dur="1" fill="hold">
                                          <p:stCondLst>
                                            <p:cond delay="0"/>
                                          </p:stCondLst>
                                        </p:cTn>
                                        <p:tgtEl>
                                          <p:spTgt spid="8"/>
                                        </p:tgtEl>
                                        <p:attrNameLst>
                                          <p:attrName>style.visibility</p:attrName>
                                        </p:attrNameLst>
                                      </p:cBhvr>
                                      <p:to>
                                        <p:strVal val="visible"/>
                                      </p:to>
                                    </p:set>
                                    <p:anim calcmode="lin" valueType="num">
                                      <p:cBhvr>
                                        <p:cTn id="28" dur="250" fill="hold"/>
                                        <p:tgtEl>
                                          <p:spTgt spid="8"/>
                                        </p:tgtEl>
                                        <p:attrNameLst>
                                          <p:attrName>ppt_w</p:attrName>
                                        </p:attrNameLst>
                                      </p:cBhvr>
                                      <p:tavLst>
                                        <p:tav tm="0">
                                          <p:val>
                                            <p:fltVal val="0"/>
                                          </p:val>
                                        </p:tav>
                                        <p:tav tm="100000">
                                          <p:val>
                                            <p:strVal val="#ppt_w"/>
                                          </p:val>
                                        </p:tav>
                                      </p:tavLst>
                                    </p:anim>
                                    <p:anim calcmode="lin" valueType="num">
                                      <p:cBhvr>
                                        <p:cTn id="29" dur="250" fill="hold"/>
                                        <p:tgtEl>
                                          <p:spTgt spid="8"/>
                                        </p:tgtEl>
                                        <p:attrNameLst>
                                          <p:attrName>ppt_h</p:attrName>
                                        </p:attrNameLst>
                                      </p:cBhvr>
                                      <p:tavLst>
                                        <p:tav tm="0">
                                          <p:val>
                                            <p:fltVal val="0"/>
                                          </p:val>
                                        </p:tav>
                                        <p:tav tm="100000">
                                          <p:val>
                                            <p:strVal val="#ppt_h"/>
                                          </p:val>
                                        </p:tav>
                                      </p:tavLst>
                                    </p:anim>
                                    <p:animEffect transition="in" filter="fade">
                                      <p:cBhvr>
                                        <p:cTn id="30" dur="250"/>
                                        <p:tgtEl>
                                          <p:spTgt spid="8"/>
                                        </p:tgtEl>
                                      </p:cBhvr>
                                    </p:animEffect>
                                  </p:childTnLst>
                                </p:cTn>
                              </p:par>
                              <p:par>
                                <p:cTn id="31" presetID="22" presetClass="entr" presetSubtype="8" fill="hold" nodeType="withEffect">
                                  <p:stCondLst>
                                    <p:cond delay="600"/>
                                  </p:stCondLst>
                                  <p:childTnLst>
                                    <p:set>
                                      <p:cBhvr>
                                        <p:cTn id="32" dur="1" fill="hold">
                                          <p:stCondLst>
                                            <p:cond delay="0"/>
                                          </p:stCondLst>
                                        </p:cTn>
                                        <p:tgtEl>
                                          <p:spTgt spid="9"/>
                                        </p:tgtEl>
                                        <p:attrNameLst>
                                          <p:attrName>style.visibility</p:attrName>
                                        </p:attrNameLst>
                                      </p:cBhvr>
                                      <p:to>
                                        <p:strVal val="visible"/>
                                      </p:to>
                                    </p:set>
                                    <p:animEffect transition="in" filter="wipe(left)">
                                      <p:cBhvr>
                                        <p:cTn id="33" dur="400"/>
                                        <p:tgtEl>
                                          <p:spTgt spid="9"/>
                                        </p:tgtEl>
                                      </p:cBhvr>
                                    </p:animEffect>
                                  </p:childTnLst>
                                </p:cTn>
                              </p:par>
                              <p:par>
                                <p:cTn id="34" presetID="53" presetClass="entr" presetSubtype="16" fill="hold" nodeType="withEffect">
                                  <p:stCondLst>
                                    <p:cond delay="650"/>
                                  </p:stCondLst>
                                  <p:childTnLst>
                                    <p:set>
                                      <p:cBhvr>
                                        <p:cTn id="35" dur="1" fill="hold">
                                          <p:stCondLst>
                                            <p:cond delay="0"/>
                                          </p:stCondLst>
                                        </p:cTn>
                                        <p:tgtEl>
                                          <p:spTgt spid="19"/>
                                        </p:tgtEl>
                                        <p:attrNameLst>
                                          <p:attrName>style.visibility</p:attrName>
                                        </p:attrNameLst>
                                      </p:cBhvr>
                                      <p:to>
                                        <p:strVal val="visible"/>
                                      </p:to>
                                    </p:set>
                                    <p:anim calcmode="lin" valueType="num">
                                      <p:cBhvr>
                                        <p:cTn id="36" dur="350" fill="hold"/>
                                        <p:tgtEl>
                                          <p:spTgt spid="19"/>
                                        </p:tgtEl>
                                        <p:attrNameLst>
                                          <p:attrName>ppt_w</p:attrName>
                                        </p:attrNameLst>
                                      </p:cBhvr>
                                      <p:tavLst>
                                        <p:tav tm="0">
                                          <p:val>
                                            <p:fltVal val="0"/>
                                          </p:val>
                                        </p:tav>
                                        <p:tav tm="100000">
                                          <p:val>
                                            <p:strVal val="#ppt_w"/>
                                          </p:val>
                                        </p:tav>
                                      </p:tavLst>
                                    </p:anim>
                                    <p:anim calcmode="lin" valueType="num">
                                      <p:cBhvr>
                                        <p:cTn id="37" dur="350" fill="hold"/>
                                        <p:tgtEl>
                                          <p:spTgt spid="19"/>
                                        </p:tgtEl>
                                        <p:attrNameLst>
                                          <p:attrName>ppt_h</p:attrName>
                                        </p:attrNameLst>
                                      </p:cBhvr>
                                      <p:tavLst>
                                        <p:tav tm="0">
                                          <p:val>
                                            <p:fltVal val="0"/>
                                          </p:val>
                                        </p:tav>
                                        <p:tav tm="100000">
                                          <p:val>
                                            <p:strVal val="#ppt_h"/>
                                          </p:val>
                                        </p:tav>
                                      </p:tavLst>
                                    </p:anim>
                                    <p:animEffect transition="in" filter="fade">
                                      <p:cBhvr>
                                        <p:cTn id="38" dur="350"/>
                                        <p:tgtEl>
                                          <p:spTgt spid="19"/>
                                        </p:tgtEl>
                                      </p:cBhvr>
                                    </p:animEffect>
                                  </p:childTnLst>
                                </p:cTn>
                              </p:par>
                              <p:par>
                                <p:cTn id="39" presetID="53" presetClass="entr" presetSubtype="16" fill="hold" nodeType="withEffect">
                                  <p:stCondLst>
                                    <p:cond delay="650"/>
                                  </p:stCondLst>
                                  <p:childTnLst>
                                    <p:set>
                                      <p:cBhvr>
                                        <p:cTn id="40" dur="1" fill="hold">
                                          <p:stCondLst>
                                            <p:cond delay="0"/>
                                          </p:stCondLst>
                                        </p:cTn>
                                        <p:tgtEl>
                                          <p:spTgt spid="20"/>
                                        </p:tgtEl>
                                        <p:attrNameLst>
                                          <p:attrName>style.visibility</p:attrName>
                                        </p:attrNameLst>
                                      </p:cBhvr>
                                      <p:to>
                                        <p:strVal val="visible"/>
                                      </p:to>
                                    </p:set>
                                    <p:anim calcmode="lin" valueType="num">
                                      <p:cBhvr>
                                        <p:cTn id="41" dur="350" fill="hold"/>
                                        <p:tgtEl>
                                          <p:spTgt spid="20"/>
                                        </p:tgtEl>
                                        <p:attrNameLst>
                                          <p:attrName>ppt_w</p:attrName>
                                        </p:attrNameLst>
                                      </p:cBhvr>
                                      <p:tavLst>
                                        <p:tav tm="0">
                                          <p:val>
                                            <p:fltVal val="0"/>
                                          </p:val>
                                        </p:tav>
                                        <p:tav tm="100000">
                                          <p:val>
                                            <p:strVal val="#ppt_w"/>
                                          </p:val>
                                        </p:tav>
                                      </p:tavLst>
                                    </p:anim>
                                    <p:anim calcmode="lin" valueType="num">
                                      <p:cBhvr>
                                        <p:cTn id="42" dur="350" fill="hold"/>
                                        <p:tgtEl>
                                          <p:spTgt spid="20"/>
                                        </p:tgtEl>
                                        <p:attrNameLst>
                                          <p:attrName>ppt_h</p:attrName>
                                        </p:attrNameLst>
                                      </p:cBhvr>
                                      <p:tavLst>
                                        <p:tav tm="0">
                                          <p:val>
                                            <p:fltVal val="0"/>
                                          </p:val>
                                        </p:tav>
                                        <p:tav tm="100000">
                                          <p:val>
                                            <p:strVal val="#ppt_h"/>
                                          </p:val>
                                        </p:tav>
                                      </p:tavLst>
                                    </p:anim>
                                    <p:animEffect transition="in" filter="fade">
                                      <p:cBhvr>
                                        <p:cTn id="43" dur="350"/>
                                        <p:tgtEl>
                                          <p:spTgt spid="20"/>
                                        </p:tgtEl>
                                      </p:cBhvr>
                                    </p:animEffect>
                                  </p:childTnLst>
                                </p:cTn>
                              </p:par>
                              <p:par>
                                <p:cTn id="44" presetID="10" presetClass="entr" presetSubtype="0" fill="hold" nodeType="withEffect">
                                  <p:stCondLst>
                                    <p:cond delay="70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400"/>
                                        <p:tgtEl>
                                          <p:spTgt spid="21"/>
                                        </p:tgtEl>
                                      </p:cBhvr>
                                    </p:animEffect>
                                  </p:childTnLst>
                                </p:cTn>
                              </p:par>
                              <p:par>
                                <p:cTn id="47" presetID="53" presetClass="entr" presetSubtype="16" fill="hold" nodeType="withEffect">
                                  <p:stCondLst>
                                    <p:cond delay="800"/>
                                  </p:stCondLst>
                                  <p:childTnLst>
                                    <p:set>
                                      <p:cBhvr>
                                        <p:cTn id="48" dur="1" fill="hold">
                                          <p:stCondLst>
                                            <p:cond delay="0"/>
                                          </p:stCondLst>
                                        </p:cTn>
                                        <p:tgtEl>
                                          <p:spTgt spid="10"/>
                                        </p:tgtEl>
                                        <p:attrNameLst>
                                          <p:attrName>style.visibility</p:attrName>
                                        </p:attrNameLst>
                                      </p:cBhvr>
                                      <p:to>
                                        <p:strVal val="visible"/>
                                      </p:to>
                                    </p:set>
                                    <p:anim calcmode="lin" valueType="num">
                                      <p:cBhvr>
                                        <p:cTn id="49" dur="250" fill="hold"/>
                                        <p:tgtEl>
                                          <p:spTgt spid="10"/>
                                        </p:tgtEl>
                                        <p:attrNameLst>
                                          <p:attrName>ppt_w</p:attrName>
                                        </p:attrNameLst>
                                      </p:cBhvr>
                                      <p:tavLst>
                                        <p:tav tm="0">
                                          <p:val>
                                            <p:fltVal val="0"/>
                                          </p:val>
                                        </p:tav>
                                        <p:tav tm="100000">
                                          <p:val>
                                            <p:strVal val="#ppt_w"/>
                                          </p:val>
                                        </p:tav>
                                      </p:tavLst>
                                    </p:anim>
                                    <p:anim calcmode="lin" valueType="num">
                                      <p:cBhvr>
                                        <p:cTn id="50" dur="250" fill="hold"/>
                                        <p:tgtEl>
                                          <p:spTgt spid="10"/>
                                        </p:tgtEl>
                                        <p:attrNameLst>
                                          <p:attrName>ppt_h</p:attrName>
                                        </p:attrNameLst>
                                      </p:cBhvr>
                                      <p:tavLst>
                                        <p:tav tm="0">
                                          <p:val>
                                            <p:fltVal val="0"/>
                                          </p:val>
                                        </p:tav>
                                        <p:tav tm="100000">
                                          <p:val>
                                            <p:strVal val="#ppt_h"/>
                                          </p:val>
                                        </p:tav>
                                      </p:tavLst>
                                    </p:anim>
                                    <p:animEffect transition="in" filter="fade">
                                      <p:cBhvr>
                                        <p:cTn id="51" dur="250"/>
                                        <p:tgtEl>
                                          <p:spTgt spid="10"/>
                                        </p:tgtEl>
                                      </p:cBhvr>
                                    </p:animEffect>
                                  </p:childTnLst>
                                </p:cTn>
                              </p:par>
                              <p:par>
                                <p:cTn id="52" presetID="22" presetClass="entr" presetSubtype="8" fill="hold" nodeType="withEffect">
                                  <p:stCondLst>
                                    <p:cond delay="800"/>
                                  </p:stCondLst>
                                  <p:childTnLst>
                                    <p:set>
                                      <p:cBhvr>
                                        <p:cTn id="53" dur="1" fill="hold">
                                          <p:stCondLst>
                                            <p:cond delay="0"/>
                                          </p:stCondLst>
                                        </p:cTn>
                                        <p:tgtEl>
                                          <p:spTgt spid="11"/>
                                        </p:tgtEl>
                                        <p:attrNameLst>
                                          <p:attrName>style.visibility</p:attrName>
                                        </p:attrNameLst>
                                      </p:cBhvr>
                                      <p:to>
                                        <p:strVal val="visible"/>
                                      </p:to>
                                    </p:set>
                                    <p:animEffect transition="in" filter="wipe(left)">
                                      <p:cBhvr>
                                        <p:cTn id="54" dur="400"/>
                                        <p:tgtEl>
                                          <p:spTgt spid="11"/>
                                        </p:tgtEl>
                                      </p:cBhvr>
                                    </p:animEffect>
                                  </p:childTnLst>
                                </p:cTn>
                              </p:par>
                              <p:par>
                                <p:cTn id="55" presetID="53" presetClass="entr" presetSubtype="16" fill="hold" nodeType="withEffect">
                                  <p:stCondLst>
                                    <p:cond delay="900"/>
                                  </p:stCondLst>
                                  <p:childTnLst>
                                    <p:set>
                                      <p:cBhvr>
                                        <p:cTn id="56" dur="1" fill="hold">
                                          <p:stCondLst>
                                            <p:cond delay="0"/>
                                          </p:stCondLst>
                                        </p:cTn>
                                        <p:tgtEl>
                                          <p:spTgt spid="22"/>
                                        </p:tgtEl>
                                        <p:attrNameLst>
                                          <p:attrName>style.visibility</p:attrName>
                                        </p:attrNameLst>
                                      </p:cBhvr>
                                      <p:to>
                                        <p:strVal val="visible"/>
                                      </p:to>
                                    </p:set>
                                    <p:anim calcmode="lin" valueType="num">
                                      <p:cBhvr>
                                        <p:cTn id="57" dur="250" fill="hold"/>
                                        <p:tgtEl>
                                          <p:spTgt spid="22"/>
                                        </p:tgtEl>
                                        <p:attrNameLst>
                                          <p:attrName>ppt_w</p:attrName>
                                        </p:attrNameLst>
                                      </p:cBhvr>
                                      <p:tavLst>
                                        <p:tav tm="0">
                                          <p:val>
                                            <p:fltVal val="0"/>
                                          </p:val>
                                        </p:tav>
                                        <p:tav tm="100000">
                                          <p:val>
                                            <p:strVal val="#ppt_w"/>
                                          </p:val>
                                        </p:tav>
                                      </p:tavLst>
                                    </p:anim>
                                    <p:anim calcmode="lin" valueType="num">
                                      <p:cBhvr>
                                        <p:cTn id="58" dur="250" fill="hold"/>
                                        <p:tgtEl>
                                          <p:spTgt spid="22"/>
                                        </p:tgtEl>
                                        <p:attrNameLst>
                                          <p:attrName>ppt_h</p:attrName>
                                        </p:attrNameLst>
                                      </p:cBhvr>
                                      <p:tavLst>
                                        <p:tav tm="0">
                                          <p:val>
                                            <p:fltVal val="0"/>
                                          </p:val>
                                        </p:tav>
                                        <p:tav tm="100000">
                                          <p:val>
                                            <p:strVal val="#ppt_h"/>
                                          </p:val>
                                        </p:tav>
                                      </p:tavLst>
                                    </p:anim>
                                    <p:animEffect transition="in" filter="fade">
                                      <p:cBhvr>
                                        <p:cTn id="59" dur="250"/>
                                        <p:tgtEl>
                                          <p:spTgt spid="22"/>
                                        </p:tgtEl>
                                      </p:cBhvr>
                                    </p:animEffect>
                                  </p:childTnLst>
                                </p:cTn>
                              </p:par>
                              <p:par>
                                <p:cTn id="60" presetID="22" presetClass="entr" presetSubtype="8" fill="hold" nodeType="withEffect">
                                  <p:stCondLst>
                                    <p:cond delay="900"/>
                                  </p:stCondLst>
                                  <p:childTnLst>
                                    <p:set>
                                      <p:cBhvr>
                                        <p:cTn id="61" dur="1" fill="hold">
                                          <p:stCondLst>
                                            <p:cond delay="0"/>
                                          </p:stCondLst>
                                        </p:cTn>
                                        <p:tgtEl>
                                          <p:spTgt spid="23"/>
                                        </p:tgtEl>
                                        <p:attrNameLst>
                                          <p:attrName>style.visibility</p:attrName>
                                        </p:attrNameLst>
                                      </p:cBhvr>
                                      <p:to>
                                        <p:strVal val="visible"/>
                                      </p:to>
                                    </p:set>
                                    <p:animEffect transition="in" filter="wipe(left)">
                                      <p:cBhvr>
                                        <p:cTn id="62" dur="400"/>
                                        <p:tgtEl>
                                          <p:spTgt spid="23"/>
                                        </p:tgtEl>
                                      </p:cBhvr>
                                    </p:animEffect>
                                  </p:childTnLst>
                                </p:cTn>
                              </p:par>
                              <p:par>
                                <p:cTn id="63" presetID="53" presetClass="entr" presetSubtype="16" fill="hold" nodeType="withEffect">
                                  <p:stCondLst>
                                    <p:cond delay="1000"/>
                                  </p:stCondLst>
                                  <p:childTnLst>
                                    <p:set>
                                      <p:cBhvr>
                                        <p:cTn id="64" dur="1" fill="hold">
                                          <p:stCondLst>
                                            <p:cond delay="0"/>
                                          </p:stCondLst>
                                        </p:cTn>
                                        <p:tgtEl>
                                          <p:spTgt spid="12"/>
                                        </p:tgtEl>
                                        <p:attrNameLst>
                                          <p:attrName>style.visibility</p:attrName>
                                        </p:attrNameLst>
                                      </p:cBhvr>
                                      <p:to>
                                        <p:strVal val="visible"/>
                                      </p:to>
                                    </p:set>
                                    <p:anim calcmode="lin" valueType="num">
                                      <p:cBhvr>
                                        <p:cTn id="65" dur="250" fill="hold"/>
                                        <p:tgtEl>
                                          <p:spTgt spid="12"/>
                                        </p:tgtEl>
                                        <p:attrNameLst>
                                          <p:attrName>ppt_w</p:attrName>
                                        </p:attrNameLst>
                                      </p:cBhvr>
                                      <p:tavLst>
                                        <p:tav tm="0">
                                          <p:val>
                                            <p:fltVal val="0"/>
                                          </p:val>
                                        </p:tav>
                                        <p:tav tm="100000">
                                          <p:val>
                                            <p:strVal val="#ppt_w"/>
                                          </p:val>
                                        </p:tav>
                                      </p:tavLst>
                                    </p:anim>
                                    <p:anim calcmode="lin" valueType="num">
                                      <p:cBhvr>
                                        <p:cTn id="66" dur="250" fill="hold"/>
                                        <p:tgtEl>
                                          <p:spTgt spid="12"/>
                                        </p:tgtEl>
                                        <p:attrNameLst>
                                          <p:attrName>ppt_h</p:attrName>
                                        </p:attrNameLst>
                                      </p:cBhvr>
                                      <p:tavLst>
                                        <p:tav tm="0">
                                          <p:val>
                                            <p:fltVal val="0"/>
                                          </p:val>
                                        </p:tav>
                                        <p:tav tm="100000">
                                          <p:val>
                                            <p:strVal val="#ppt_h"/>
                                          </p:val>
                                        </p:tav>
                                      </p:tavLst>
                                    </p:anim>
                                    <p:animEffect transition="in" filter="fade">
                                      <p:cBhvr>
                                        <p:cTn id="67" dur="250"/>
                                        <p:tgtEl>
                                          <p:spTgt spid="12"/>
                                        </p:tgtEl>
                                      </p:cBhvr>
                                    </p:animEffect>
                                  </p:childTnLst>
                                </p:cTn>
                              </p:par>
                              <p:par>
                                <p:cTn id="68" presetID="22" presetClass="entr" presetSubtype="8" fill="hold" nodeType="withEffect">
                                  <p:stCondLst>
                                    <p:cond delay="1000"/>
                                  </p:stCondLst>
                                  <p:childTnLst>
                                    <p:set>
                                      <p:cBhvr>
                                        <p:cTn id="69" dur="1" fill="hold">
                                          <p:stCondLst>
                                            <p:cond delay="0"/>
                                          </p:stCondLst>
                                        </p:cTn>
                                        <p:tgtEl>
                                          <p:spTgt spid="13"/>
                                        </p:tgtEl>
                                        <p:attrNameLst>
                                          <p:attrName>style.visibility</p:attrName>
                                        </p:attrNameLst>
                                      </p:cBhvr>
                                      <p:to>
                                        <p:strVal val="visible"/>
                                      </p:to>
                                    </p:set>
                                    <p:animEffect transition="in" filter="wipe(left)">
                                      <p:cBhvr>
                                        <p:cTn id="70" dur="400"/>
                                        <p:tgtEl>
                                          <p:spTgt spid="13"/>
                                        </p:tgtEl>
                                      </p:cBhvr>
                                    </p:animEffect>
                                  </p:childTnLst>
                                </p:cTn>
                              </p:par>
                              <p:par>
                                <p:cTn id="71" presetID="53" presetClass="entr" presetSubtype="16" fill="hold" nodeType="withEffect">
                                  <p:stCondLst>
                                    <p:cond delay="1100"/>
                                  </p:stCondLst>
                                  <p:childTnLst>
                                    <p:set>
                                      <p:cBhvr>
                                        <p:cTn id="72" dur="1" fill="hold">
                                          <p:stCondLst>
                                            <p:cond delay="0"/>
                                          </p:stCondLst>
                                        </p:cTn>
                                        <p:tgtEl>
                                          <p:spTgt spid="24"/>
                                        </p:tgtEl>
                                        <p:attrNameLst>
                                          <p:attrName>style.visibility</p:attrName>
                                        </p:attrNameLst>
                                      </p:cBhvr>
                                      <p:to>
                                        <p:strVal val="visible"/>
                                      </p:to>
                                    </p:set>
                                    <p:anim calcmode="lin" valueType="num">
                                      <p:cBhvr>
                                        <p:cTn id="73" dur="250" fill="hold"/>
                                        <p:tgtEl>
                                          <p:spTgt spid="24"/>
                                        </p:tgtEl>
                                        <p:attrNameLst>
                                          <p:attrName>ppt_w</p:attrName>
                                        </p:attrNameLst>
                                      </p:cBhvr>
                                      <p:tavLst>
                                        <p:tav tm="0">
                                          <p:val>
                                            <p:fltVal val="0"/>
                                          </p:val>
                                        </p:tav>
                                        <p:tav tm="100000">
                                          <p:val>
                                            <p:strVal val="#ppt_w"/>
                                          </p:val>
                                        </p:tav>
                                      </p:tavLst>
                                    </p:anim>
                                    <p:anim calcmode="lin" valueType="num">
                                      <p:cBhvr>
                                        <p:cTn id="74" dur="250" fill="hold"/>
                                        <p:tgtEl>
                                          <p:spTgt spid="24"/>
                                        </p:tgtEl>
                                        <p:attrNameLst>
                                          <p:attrName>ppt_h</p:attrName>
                                        </p:attrNameLst>
                                      </p:cBhvr>
                                      <p:tavLst>
                                        <p:tav tm="0">
                                          <p:val>
                                            <p:fltVal val="0"/>
                                          </p:val>
                                        </p:tav>
                                        <p:tav tm="100000">
                                          <p:val>
                                            <p:strVal val="#ppt_h"/>
                                          </p:val>
                                        </p:tav>
                                      </p:tavLst>
                                    </p:anim>
                                    <p:animEffect transition="in" filter="fade">
                                      <p:cBhvr>
                                        <p:cTn id="75" dur="250"/>
                                        <p:tgtEl>
                                          <p:spTgt spid="24"/>
                                        </p:tgtEl>
                                      </p:cBhvr>
                                    </p:animEffect>
                                  </p:childTnLst>
                                </p:cTn>
                              </p:par>
                              <p:par>
                                <p:cTn id="76" presetID="22" presetClass="entr" presetSubtype="8" fill="hold" nodeType="withEffect">
                                  <p:stCondLst>
                                    <p:cond delay="1100"/>
                                  </p:stCondLst>
                                  <p:childTnLst>
                                    <p:set>
                                      <p:cBhvr>
                                        <p:cTn id="77" dur="1" fill="hold">
                                          <p:stCondLst>
                                            <p:cond delay="0"/>
                                          </p:stCondLst>
                                        </p:cTn>
                                        <p:tgtEl>
                                          <p:spTgt spid="25"/>
                                        </p:tgtEl>
                                        <p:attrNameLst>
                                          <p:attrName>style.visibility</p:attrName>
                                        </p:attrNameLst>
                                      </p:cBhvr>
                                      <p:to>
                                        <p:strVal val="visible"/>
                                      </p:to>
                                    </p:set>
                                    <p:animEffect transition="in" filter="wipe(left)">
                                      <p:cBhvr>
                                        <p:cTn id="78" dur="400"/>
                                        <p:tgtEl>
                                          <p:spTgt spid="25"/>
                                        </p:tgtEl>
                                      </p:cBhvr>
                                    </p:animEffect>
                                  </p:childTnLst>
                                </p:cTn>
                              </p:par>
                              <p:par>
                                <p:cTn id="79" presetID="53" presetClass="entr" presetSubtype="16" fill="hold" nodeType="withEffect">
                                  <p:stCondLst>
                                    <p:cond delay="1200"/>
                                  </p:stCondLst>
                                  <p:childTnLst>
                                    <p:set>
                                      <p:cBhvr>
                                        <p:cTn id="80" dur="1" fill="hold">
                                          <p:stCondLst>
                                            <p:cond delay="0"/>
                                          </p:stCondLst>
                                        </p:cTn>
                                        <p:tgtEl>
                                          <p:spTgt spid="14"/>
                                        </p:tgtEl>
                                        <p:attrNameLst>
                                          <p:attrName>style.visibility</p:attrName>
                                        </p:attrNameLst>
                                      </p:cBhvr>
                                      <p:to>
                                        <p:strVal val="visible"/>
                                      </p:to>
                                    </p:set>
                                    <p:anim calcmode="lin" valueType="num">
                                      <p:cBhvr>
                                        <p:cTn id="81" dur="250" fill="hold"/>
                                        <p:tgtEl>
                                          <p:spTgt spid="14"/>
                                        </p:tgtEl>
                                        <p:attrNameLst>
                                          <p:attrName>ppt_w</p:attrName>
                                        </p:attrNameLst>
                                      </p:cBhvr>
                                      <p:tavLst>
                                        <p:tav tm="0">
                                          <p:val>
                                            <p:fltVal val="0"/>
                                          </p:val>
                                        </p:tav>
                                        <p:tav tm="100000">
                                          <p:val>
                                            <p:strVal val="#ppt_w"/>
                                          </p:val>
                                        </p:tav>
                                      </p:tavLst>
                                    </p:anim>
                                    <p:anim calcmode="lin" valueType="num">
                                      <p:cBhvr>
                                        <p:cTn id="82" dur="250" fill="hold"/>
                                        <p:tgtEl>
                                          <p:spTgt spid="14"/>
                                        </p:tgtEl>
                                        <p:attrNameLst>
                                          <p:attrName>ppt_h</p:attrName>
                                        </p:attrNameLst>
                                      </p:cBhvr>
                                      <p:tavLst>
                                        <p:tav tm="0">
                                          <p:val>
                                            <p:fltVal val="0"/>
                                          </p:val>
                                        </p:tav>
                                        <p:tav tm="100000">
                                          <p:val>
                                            <p:strVal val="#ppt_h"/>
                                          </p:val>
                                        </p:tav>
                                      </p:tavLst>
                                    </p:anim>
                                    <p:animEffect transition="in" filter="fade">
                                      <p:cBhvr>
                                        <p:cTn id="83" dur="250"/>
                                        <p:tgtEl>
                                          <p:spTgt spid="14"/>
                                        </p:tgtEl>
                                      </p:cBhvr>
                                    </p:animEffect>
                                  </p:childTnLst>
                                </p:cTn>
                              </p:par>
                              <p:par>
                                <p:cTn id="84" presetID="22" presetClass="entr" presetSubtype="8" fill="hold" nodeType="withEffect">
                                  <p:stCondLst>
                                    <p:cond delay="1200"/>
                                  </p:stCondLst>
                                  <p:childTnLst>
                                    <p:set>
                                      <p:cBhvr>
                                        <p:cTn id="85" dur="1" fill="hold">
                                          <p:stCondLst>
                                            <p:cond delay="0"/>
                                          </p:stCondLst>
                                        </p:cTn>
                                        <p:tgtEl>
                                          <p:spTgt spid="15"/>
                                        </p:tgtEl>
                                        <p:attrNameLst>
                                          <p:attrName>style.visibility</p:attrName>
                                        </p:attrNameLst>
                                      </p:cBhvr>
                                      <p:to>
                                        <p:strVal val="visible"/>
                                      </p:to>
                                    </p:set>
                                    <p:animEffect transition="in" filter="wipe(left)">
                                      <p:cBhvr>
                                        <p:cTn id="86" dur="400"/>
                                        <p:tgtEl>
                                          <p:spTgt spid="15"/>
                                        </p:tgtEl>
                                      </p:cBhvr>
                                    </p:animEffect>
                                  </p:childTnLst>
                                </p:cTn>
                              </p:par>
                              <p:par>
                                <p:cTn id="87" presetID="53" presetClass="entr" presetSubtype="16" fill="hold" nodeType="withEffect">
                                  <p:stCondLst>
                                    <p:cond delay="1300"/>
                                  </p:stCondLst>
                                  <p:childTnLst>
                                    <p:set>
                                      <p:cBhvr>
                                        <p:cTn id="88" dur="1" fill="hold">
                                          <p:stCondLst>
                                            <p:cond delay="0"/>
                                          </p:stCondLst>
                                        </p:cTn>
                                        <p:tgtEl>
                                          <p:spTgt spid="26"/>
                                        </p:tgtEl>
                                        <p:attrNameLst>
                                          <p:attrName>style.visibility</p:attrName>
                                        </p:attrNameLst>
                                      </p:cBhvr>
                                      <p:to>
                                        <p:strVal val="visible"/>
                                      </p:to>
                                    </p:set>
                                    <p:anim calcmode="lin" valueType="num">
                                      <p:cBhvr>
                                        <p:cTn id="89" dur="250" fill="hold"/>
                                        <p:tgtEl>
                                          <p:spTgt spid="26"/>
                                        </p:tgtEl>
                                        <p:attrNameLst>
                                          <p:attrName>ppt_w</p:attrName>
                                        </p:attrNameLst>
                                      </p:cBhvr>
                                      <p:tavLst>
                                        <p:tav tm="0">
                                          <p:val>
                                            <p:fltVal val="0"/>
                                          </p:val>
                                        </p:tav>
                                        <p:tav tm="100000">
                                          <p:val>
                                            <p:strVal val="#ppt_w"/>
                                          </p:val>
                                        </p:tav>
                                      </p:tavLst>
                                    </p:anim>
                                    <p:anim calcmode="lin" valueType="num">
                                      <p:cBhvr>
                                        <p:cTn id="90" dur="250" fill="hold"/>
                                        <p:tgtEl>
                                          <p:spTgt spid="26"/>
                                        </p:tgtEl>
                                        <p:attrNameLst>
                                          <p:attrName>ppt_h</p:attrName>
                                        </p:attrNameLst>
                                      </p:cBhvr>
                                      <p:tavLst>
                                        <p:tav tm="0">
                                          <p:val>
                                            <p:fltVal val="0"/>
                                          </p:val>
                                        </p:tav>
                                        <p:tav tm="100000">
                                          <p:val>
                                            <p:strVal val="#ppt_h"/>
                                          </p:val>
                                        </p:tav>
                                      </p:tavLst>
                                    </p:anim>
                                    <p:animEffect transition="in" filter="fade">
                                      <p:cBhvr>
                                        <p:cTn id="91" dur="250"/>
                                        <p:tgtEl>
                                          <p:spTgt spid="26"/>
                                        </p:tgtEl>
                                      </p:cBhvr>
                                    </p:animEffect>
                                  </p:childTnLst>
                                </p:cTn>
                              </p:par>
                              <p:par>
                                <p:cTn id="92" presetID="22" presetClass="entr" presetSubtype="8" fill="hold" nodeType="withEffect">
                                  <p:stCondLst>
                                    <p:cond delay="1300"/>
                                  </p:stCondLst>
                                  <p:childTnLst>
                                    <p:set>
                                      <p:cBhvr>
                                        <p:cTn id="93" dur="1" fill="hold">
                                          <p:stCondLst>
                                            <p:cond delay="0"/>
                                          </p:stCondLst>
                                        </p:cTn>
                                        <p:tgtEl>
                                          <p:spTgt spid="27"/>
                                        </p:tgtEl>
                                        <p:attrNameLst>
                                          <p:attrName>style.visibility</p:attrName>
                                        </p:attrNameLst>
                                      </p:cBhvr>
                                      <p:to>
                                        <p:strVal val="visible"/>
                                      </p:to>
                                    </p:set>
                                    <p:animEffect transition="in" filter="wipe(left)">
                                      <p:cBhvr>
                                        <p:cTn id="94" dur="400"/>
                                        <p:tgtEl>
                                          <p:spTgt spid="27"/>
                                        </p:tgtEl>
                                      </p:cBhvr>
                                    </p:animEffect>
                                  </p:childTnLst>
                                </p:cTn>
                              </p:par>
                              <p:par>
                                <p:cTn id="95" presetID="53" presetClass="entr" presetSubtype="16" fill="hold" nodeType="withEffect">
                                  <p:stCondLst>
                                    <p:cond delay="1400"/>
                                  </p:stCondLst>
                                  <p:childTnLst>
                                    <p:set>
                                      <p:cBhvr>
                                        <p:cTn id="96" dur="1" fill="hold">
                                          <p:stCondLst>
                                            <p:cond delay="0"/>
                                          </p:stCondLst>
                                        </p:cTn>
                                        <p:tgtEl>
                                          <p:spTgt spid="16"/>
                                        </p:tgtEl>
                                        <p:attrNameLst>
                                          <p:attrName>style.visibility</p:attrName>
                                        </p:attrNameLst>
                                      </p:cBhvr>
                                      <p:to>
                                        <p:strVal val="visible"/>
                                      </p:to>
                                    </p:set>
                                    <p:anim calcmode="lin" valueType="num">
                                      <p:cBhvr>
                                        <p:cTn id="97" dur="250" fill="hold"/>
                                        <p:tgtEl>
                                          <p:spTgt spid="16"/>
                                        </p:tgtEl>
                                        <p:attrNameLst>
                                          <p:attrName>ppt_w</p:attrName>
                                        </p:attrNameLst>
                                      </p:cBhvr>
                                      <p:tavLst>
                                        <p:tav tm="0">
                                          <p:val>
                                            <p:fltVal val="0"/>
                                          </p:val>
                                        </p:tav>
                                        <p:tav tm="100000">
                                          <p:val>
                                            <p:strVal val="#ppt_w"/>
                                          </p:val>
                                        </p:tav>
                                      </p:tavLst>
                                    </p:anim>
                                    <p:anim calcmode="lin" valueType="num">
                                      <p:cBhvr>
                                        <p:cTn id="98" dur="250" fill="hold"/>
                                        <p:tgtEl>
                                          <p:spTgt spid="16"/>
                                        </p:tgtEl>
                                        <p:attrNameLst>
                                          <p:attrName>ppt_h</p:attrName>
                                        </p:attrNameLst>
                                      </p:cBhvr>
                                      <p:tavLst>
                                        <p:tav tm="0">
                                          <p:val>
                                            <p:fltVal val="0"/>
                                          </p:val>
                                        </p:tav>
                                        <p:tav tm="100000">
                                          <p:val>
                                            <p:strVal val="#ppt_h"/>
                                          </p:val>
                                        </p:tav>
                                      </p:tavLst>
                                    </p:anim>
                                    <p:animEffect transition="in" filter="fade">
                                      <p:cBhvr>
                                        <p:cTn id="99" dur="250"/>
                                        <p:tgtEl>
                                          <p:spTgt spid="16"/>
                                        </p:tgtEl>
                                      </p:cBhvr>
                                    </p:animEffect>
                                  </p:childTnLst>
                                </p:cTn>
                              </p:par>
                              <p:par>
                                <p:cTn id="100" presetID="22" presetClass="entr" presetSubtype="8" fill="hold" nodeType="withEffect">
                                  <p:stCondLst>
                                    <p:cond delay="1400"/>
                                  </p:stCondLst>
                                  <p:childTnLst>
                                    <p:set>
                                      <p:cBhvr>
                                        <p:cTn id="101" dur="1" fill="hold">
                                          <p:stCondLst>
                                            <p:cond delay="0"/>
                                          </p:stCondLst>
                                        </p:cTn>
                                        <p:tgtEl>
                                          <p:spTgt spid="17"/>
                                        </p:tgtEl>
                                        <p:attrNameLst>
                                          <p:attrName>style.visibility</p:attrName>
                                        </p:attrNameLst>
                                      </p:cBhvr>
                                      <p:to>
                                        <p:strVal val="visible"/>
                                      </p:to>
                                    </p:set>
                                    <p:animEffect transition="in" filter="wipe(left)">
                                      <p:cBhvr>
                                        <p:cTn id="102" dur="400"/>
                                        <p:tgtEl>
                                          <p:spTgt spid="17"/>
                                        </p:tgtEl>
                                      </p:cBhvr>
                                    </p:animEffect>
                                  </p:childTnLst>
                                </p:cTn>
                              </p:par>
                              <p:par>
                                <p:cTn id="103" presetID="53" presetClass="entr" presetSubtype="16" fill="hold" nodeType="withEffect">
                                  <p:stCondLst>
                                    <p:cond delay="1500"/>
                                  </p:stCondLst>
                                  <p:childTnLst>
                                    <p:set>
                                      <p:cBhvr>
                                        <p:cTn id="104" dur="1" fill="hold">
                                          <p:stCondLst>
                                            <p:cond delay="0"/>
                                          </p:stCondLst>
                                        </p:cTn>
                                        <p:tgtEl>
                                          <p:spTgt spid="28"/>
                                        </p:tgtEl>
                                        <p:attrNameLst>
                                          <p:attrName>style.visibility</p:attrName>
                                        </p:attrNameLst>
                                      </p:cBhvr>
                                      <p:to>
                                        <p:strVal val="visible"/>
                                      </p:to>
                                    </p:set>
                                    <p:anim calcmode="lin" valueType="num">
                                      <p:cBhvr>
                                        <p:cTn id="105" dur="250" fill="hold"/>
                                        <p:tgtEl>
                                          <p:spTgt spid="28"/>
                                        </p:tgtEl>
                                        <p:attrNameLst>
                                          <p:attrName>ppt_w</p:attrName>
                                        </p:attrNameLst>
                                      </p:cBhvr>
                                      <p:tavLst>
                                        <p:tav tm="0">
                                          <p:val>
                                            <p:fltVal val="0"/>
                                          </p:val>
                                        </p:tav>
                                        <p:tav tm="100000">
                                          <p:val>
                                            <p:strVal val="#ppt_w"/>
                                          </p:val>
                                        </p:tav>
                                      </p:tavLst>
                                    </p:anim>
                                    <p:anim calcmode="lin" valueType="num">
                                      <p:cBhvr>
                                        <p:cTn id="106" dur="250" fill="hold"/>
                                        <p:tgtEl>
                                          <p:spTgt spid="28"/>
                                        </p:tgtEl>
                                        <p:attrNameLst>
                                          <p:attrName>ppt_h</p:attrName>
                                        </p:attrNameLst>
                                      </p:cBhvr>
                                      <p:tavLst>
                                        <p:tav tm="0">
                                          <p:val>
                                            <p:fltVal val="0"/>
                                          </p:val>
                                        </p:tav>
                                        <p:tav tm="100000">
                                          <p:val>
                                            <p:strVal val="#ppt_h"/>
                                          </p:val>
                                        </p:tav>
                                      </p:tavLst>
                                    </p:anim>
                                    <p:animEffect transition="in" filter="fade">
                                      <p:cBhvr>
                                        <p:cTn id="107" dur="250"/>
                                        <p:tgtEl>
                                          <p:spTgt spid="28"/>
                                        </p:tgtEl>
                                      </p:cBhvr>
                                    </p:animEffect>
                                  </p:childTnLst>
                                </p:cTn>
                              </p:par>
                              <p:par>
                                <p:cTn id="108" presetID="22" presetClass="entr" presetSubtype="8" fill="hold" nodeType="withEffect">
                                  <p:stCondLst>
                                    <p:cond delay="1500"/>
                                  </p:stCondLst>
                                  <p:childTnLst>
                                    <p:set>
                                      <p:cBhvr>
                                        <p:cTn id="109" dur="1" fill="hold">
                                          <p:stCondLst>
                                            <p:cond delay="0"/>
                                          </p:stCondLst>
                                        </p:cTn>
                                        <p:tgtEl>
                                          <p:spTgt spid="29"/>
                                        </p:tgtEl>
                                        <p:attrNameLst>
                                          <p:attrName>style.visibility</p:attrName>
                                        </p:attrNameLst>
                                      </p:cBhvr>
                                      <p:to>
                                        <p:strVal val="visible"/>
                                      </p:to>
                                    </p:set>
                                    <p:animEffect transition="in" filter="wipe(left)">
                                      <p:cBhvr>
                                        <p:cTn id="110" dur="400"/>
                                        <p:tgtEl>
                                          <p:spTgt spid="29"/>
                                        </p:tgtEl>
                                      </p:cBhvr>
                                    </p:animEffect>
                                  </p:childTnLst>
                                </p:cTn>
                              </p:par>
                              <p:par>
                                <p:cTn id="111" presetID="53" presetClass="entr" presetSubtype="16" fill="hold" nodeType="withEffect">
                                  <p:stCondLst>
                                    <p:cond delay="1700"/>
                                  </p:stCondLst>
                                  <p:childTnLst>
                                    <p:set>
                                      <p:cBhvr>
                                        <p:cTn id="112" dur="1" fill="hold">
                                          <p:stCondLst>
                                            <p:cond delay="0"/>
                                          </p:stCondLst>
                                        </p:cTn>
                                        <p:tgtEl>
                                          <p:spTgt spid="30"/>
                                        </p:tgtEl>
                                        <p:attrNameLst>
                                          <p:attrName>style.visibility</p:attrName>
                                        </p:attrNameLst>
                                      </p:cBhvr>
                                      <p:to>
                                        <p:strVal val="visible"/>
                                      </p:to>
                                    </p:set>
                                    <p:anim calcmode="lin" valueType="num">
                                      <p:cBhvr>
                                        <p:cTn id="113" dur="250" fill="hold"/>
                                        <p:tgtEl>
                                          <p:spTgt spid="30"/>
                                        </p:tgtEl>
                                        <p:attrNameLst>
                                          <p:attrName>ppt_w</p:attrName>
                                        </p:attrNameLst>
                                      </p:cBhvr>
                                      <p:tavLst>
                                        <p:tav tm="0">
                                          <p:val>
                                            <p:fltVal val="0"/>
                                          </p:val>
                                        </p:tav>
                                        <p:tav tm="100000">
                                          <p:val>
                                            <p:strVal val="#ppt_w"/>
                                          </p:val>
                                        </p:tav>
                                      </p:tavLst>
                                    </p:anim>
                                    <p:anim calcmode="lin" valueType="num">
                                      <p:cBhvr>
                                        <p:cTn id="114" dur="250" fill="hold"/>
                                        <p:tgtEl>
                                          <p:spTgt spid="30"/>
                                        </p:tgtEl>
                                        <p:attrNameLst>
                                          <p:attrName>ppt_h</p:attrName>
                                        </p:attrNameLst>
                                      </p:cBhvr>
                                      <p:tavLst>
                                        <p:tav tm="0">
                                          <p:val>
                                            <p:fltVal val="0"/>
                                          </p:val>
                                        </p:tav>
                                        <p:tav tm="100000">
                                          <p:val>
                                            <p:strVal val="#ppt_h"/>
                                          </p:val>
                                        </p:tav>
                                      </p:tavLst>
                                    </p:anim>
                                    <p:animEffect transition="in" filter="fade">
                                      <p:cBhvr>
                                        <p:cTn id="115" dur="250"/>
                                        <p:tgtEl>
                                          <p:spTgt spid="30"/>
                                        </p:tgtEl>
                                      </p:cBhvr>
                                    </p:animEffect>
                                  </p:childTnLst>
                                </p:cTn>
                              </p:par>
                              <p:par>
                                <p:cTn id="116" presetID="22" presetClass="entr" presetSubtype="8" fill="hold" nodeType="withEffect">
                                  <p:stCondLst>
                                    <p:cond delay="1700"/>
                                  </p:stCondLst>
                                  <p:childTnLst>
                                    <p:set>
                                      <p:cBhvr>
                                        <p:cTn id="117" dur="1" fill="hold">
                                          <p:stCondLst>
                                            <p:cond delay="0"/>
                                          </p:stCondLst>
                                        </p:cTn>
                                        <p:tgtEl>
                                          <p:spTgt spid="31"/>
                                        </p:tgtEl>
                                        <p:attrNameLst>
                                          <p:attrName>style.visibility</p:attrName>
                                        </p:attrNameLst>
                                      </p:cBhvr>
                                      <p:to>
                                        <p:strVal val="visible"/>
                                      </p:to>
                                    </p:set>
                                    <p:animEffect transition="in" filter="wipe(left)">
                                      <p:cBhvr>
                                        <p:cTn id="118" dur="400"/>
                                        <p:tgtEl>
                                          <p:spTgt spid="31"/>
                                        </p:tgtEl>
                                      </p:cBhvr>
                                    </p:animEffect>
                                  </p:childTnLst>
                                </p:cTn>
                              </p:par>
                              <p:par>
                                <p:cTn id="119" presetID="2" presetClass="entr" presetSubtype="4" fill="hold" nodeType="withEffect">
                                  <p:stCondLst>
                                    <p:cond delay="1900"/>
                                  </p:stCondLst>
                                  <p:childTnLst>
                                    <p:set>
                                      <p:cBhvr>
                                        <p:cTn id="120" dur="1" fill="hold">
                                          <p:stCondLst>
                                            <p:cond delay="0"/>
                                          </p:stCondLst>
                                        </p:cTn>
                                        <p:tgtEl>
                                          <p:spTgt spid="32"/>
                                        </p:tgtEl>
                                        <p:attrNameLst>
                                          <p:attrName>style.visibility</p:attrName>
                                        </p:attrNameLst>
                                      </p:cBhvr>
                                      <p:to>
                                        <p:strVal val="visible"/>
                                      </p:to>
                                    </p:set>
                                    <p:anim calcmode="lin" valueType="num">
                                      <p:cBhvr additive="base">
                                        <p:cTn id="121" dur="500" fill="hold"/>
                                        <p:tgtEl>
                                          <p:spTgt spid="32"/>
                                        </p:tgtEl>
                                        <p:attrNameLst>
                                          <p:attrName>ppt_x</p:attrName>
                                        </p:attrNameLst>
                                      </p:cBhvr>
                                      <p:tavLst>
                                        <p:tav tm="0">
                                          <p:val>
                                            <p:strVal val="#ppt_x"/>
                                          </p:val>
                                        </p:tav>
                                        <p:tav tm="100000">
                                          <p:val>
                                            <p:strVal val="#ppt_x"/>
                                          </p:val>
                                        </p:tav>
                                      </p:tavLst>
                                    </p:anim>
                                    <p:anim calcmode="lin" valueType="num">
                                      <p:cBhvr additive="base">
                                        <p:cTn id="122" dur="500" fill="hold"/>
                                        <p:tgtEl>
                                          <p:spTgt spid="32"/>
                                        </p:tgtEl>
                                        <p:attrNameLst>
                                          <p:attrName>ppt_y</p:attrName>
                                        </p:attrNameLst>
                                      </p:cBhvr>
                                      <p:tavLst>
                                        <p:tav tm="0">
                                          <p:val>
                                            <p:strVal val="1+#ppt_h/2"/>
                                          </p:val>
                                        </p:tav>
                                        <p:tav tm="100000">
                                          <p:val>
                                            <p:strVal val="#ppt_y"/>
                                          </p:val>
                                        </p:tav>
                                      </p:tavLst>
                                    </p:anim>
                                  </p:childTnLst>
                                </p:cTn>
                              </p:par>
                              <p:par>
                                <p:cTn id="123" presetID="10" presetClass="entr" presetSubtype="0" fill="hold" nodeType="withEffect">
                                  <p:stCondLst>
                                    <p:cond delay="2100"/>
                                  </p:stCondLst>
                                  <p:childTnLst>
                                    <p:set>
                                      <p:cBhvr>
                                        <p:cTn id="124" dur="1" fill="hold">
                                          <p:stCondLst>
                                            <p:cond delay="0"/>
                                          </p:stCondLst>
                                        </p:cTn>
                                        <p:tgtEl>
                                          <p:spTgt spid="33"/>
                                        </p:tgtEl>
                                        <p:attrNameLst>
                                          <p:attrName>style.visibility</p:attrName>
                                        </p:attrNameLst>
                                      </p:cBhvr>
                                      <p:to>
                                        <p:strVal val="visible"/>
                                      </p:to>
                                    </p:set>
                                    <p:animEffect transition="in" filter="fade">
                                      <p:cBhvr>
                                        <p:cTn id="125"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bg1"/>
                </a:solidFill>
                <a:latin typeface="Cambria" pitchFamily="34" charset="0"/>
                <a:ea typeface="Cambria" pitchFamily="34" charset="-122"/>
                <a:cs typeface="Cambria" pitchFamily="34" charset="-120"/>
              </a:rPr>
              <a:t>Five-minute viva demonstration</a:t>
            </a:r>
            <a:endParaRPr lang="en-US" sz="3200" dirty="0"/>
          </a:p>
        </p:txBody>
      </p:sp>
      <p:sp>
        <p:nvSpPr>
          <p:cNvPr id="4" name="shape_16_1"/>
          <p:cNvSpPr/>
          <p:nvPr/>
        </p:nvSpPr>
        <p:spPr>
          <a:xfrm>
            <a:off x="1600200" y="3017520"/>
            <a:ext cx="9070848" cy="0"/>
          </a:xfrm>
          <a:prstGeom prst="line">
            <a:avLst/>
          </a:prstGeom>
          <a:noFill/>
          <a:ln w="25400">
            <a:solidFill>
              <a:srgbClr val="A9BCCF">
                <a:alpha val="50000"/>
              </a:srgbClr>
            </a:solidFill>
            <a:prstDash val="solid"/>
          </a:ln>
        </p:spPr>
      </p:sp>
      <p:sp>
        <p:nvSpPr>
          <p:cNvPr id="5" name="step_16_2"/>
          <p:cNvSpPr/>
          <p:nvPr/>
        </p:nvSpPr>
        <p:spPr>
          <a:xfrm>
            <a:off x="1234440" y="2651760"/>
            <a:ext cx="731520" cy="731520"/>
          </a:xfrm>
          <a:prstGeom prst="ellipse">
            <a:avLst/>
          </a:prstGeom>
          <a:solidFill>
            <a:schemeClr val="accent1"/>
          </a:solidFill>
          <a:ln w="25400">
            <a:solidFill>
              <a:schemeClr val="bg1"/>
            </a:solidFill>
            <a:prstDash val="solid"/>
          </a:ln>
        </p:spPr>
      </p:sp>
      <p:sp>
        <p:nvSpPr>
          <p:cNvPr id="6" name="text_16_3"/>
          <p:cNvSpPr txBox="1"/>
          <p:nvPr/>
        </p:nvSpPr>
        <p:spPr>
          <a:xfrm>
            <a:off x="1234440" y="2651760"/>
            <a:ext cx="731520" cy="731520"/>
          </a:xfrm>
          <a:prstGeom prst="rect">
            <a:avLst/>
          </a:prstGeom>
          <a:noFill/>
          <a:ln/>
        </p:spPr>
        <p:txBody>
          <a:bodyPr wrap="square" lIns="0" tIns="0" rIns="0" bIns="0" rtlCol="0" anchor="ctr"/>
          <a:lstStyle/>
          <a:p>
            <a:pPr algn="ctr" indent="0" marL="0">
              <a:buNone/>
            </a:pPr>
            <a:r>
              <a:rPr lang="en-US" sz="2400" b="1" dirty="0">
                <a:solidFill>
                  <a:schemeClr val="tx1"/>
                </a:solidFill>
              </a:rPr>
              <a:t>1</a:t>
            </a:r>
            <a:endParaRPr lang="en-US" sz="2400" dirty="0"/>
          </a:p>
        </p:txBody>
      </p:sp>
      <p:sp>
        <p:nvSpPr>
          <p:cNvPr id="7" name="shape_16_4"/>
          <p:cNvSpPr/>
          <p:nvPr/>
        </p:nvSpPr>
        <p:spPr>
          <a:xfrm>
            <a:off x="548640" y="3703320"/>
            <a:ext cx="2103120" cy="1920240"/>
          </a:xfrm>
          <a:prstGeom prst="roundRect">
            <a:avLst>
              <a:gd name="adj" fmla="val 5714"/>
            </a:avLst>
          </a:prstGeom>
          <a:solidFill>
            <a:schemeClr val="bg1">
              <a:alpha val="9000"/>
            </a:schemeClr>
          </a:solidFill>
          <a:ln w="12700">
            <a:solidFill>
              <a:srgbClr val="FFFFFF">
                <a:alpha val="0"/>
              </a:srgbClr>
            </a:solidFill>
            <a:prstDash val="solid"/>
          </a:ln>
        </p:spPr>
      </p:sp>
      <p:sp>
        <p:nvSpPr>
          <p:cNvPr id="8" name="text_16_5"/>
          <p:cNvSpPr txBox="1"/>
          <p:nvPr/>
        </p:nvSpPr>
        <p:spPr>
          <a:xfrm>
            <a:off x="685800" y="3840480"/>
            <a:ext cx="1828800" cy="1645920"/>
          </a:xfrm>
          <a:prstGeom prst="rect">
            <a:avLst/>
          </a:prstGeom>
          <a:noFill/>
          <a:ln/>
        </p:spPr>
        <p:txBody>
          <a:bodyPr wrap="square" lIns="0" tIns="0" rIns="0" bIns="0" rtlCol="0" anchor="t"/>
          <a:lstStyle/>
          <a:p>
            <a:pPr algn="ctr" indent="0" marL="0">
              <a:buNone/>
            </a:pPr>
            <a:r>
              <a:rPr lang="en-US" sz="1700" b="1" dirty="0">
                <a:solidFill>
                  <a:schemeClr val="accent2"/>
                </a:solidFill>
                <a:latin typeface="Cambria" pitchFamily="34" charset="0"/>
                <a:ea typeface="Cambria" pitchFamily="34" charset="-122"/>
                <a:cs typeface="Cambria" pitchFamily="34" charset="-120"/>
              </a:rPr>
              <a:t>Dataset &amp; ETL</a:t>
            </a:r>
            <a:endParaRPr lang="en-US" sz="1700" dirty="0"/>
          </a:p>
          <a:p>
            <a:pPr algn="ctr" indent="0" marL="0">
              <a:buNone/>
            </a:pPr>
            <a:r>
              <a:rPr lang="en-US" sz="1400" dirty="0">
                <a:solidFill>
                  <a:schemeClr val="bg1"/>
                </a:solidFill>
              </a:rPr>
              <a:t>Cite UCI, show cleaning, batch predict</a:t>
            </a:r>
            <a:endParaRPr lang="en-US" sz="1700" dirty="0"/>
          </a:p>
        </p:txBody>
      </p:sp>
      <p:sp>
        <p:nvSpPr>
          <p:cNvPr id="9" name="step_16_6"/>
          <p:cNvSpPr/>
          <p:nvPr/>
        </p:nvSpPr>
        <p:spPr>
          <a:xfrm>
            <a:off x="3502152" y="2651760"/>
            <a:ext cx="731520" cy="731520"/>
          </a:xfrm>
          <a:prstGeom prst="ellipse">
            <a:avLst/>
          </a:prstGeom>
          <a:solidFill>
            <a:schemeClr val="accent1"/>
          </a:solidFill>
          <a:ln w="25400">
            <a:solidFill>
              <a:schemeClr val="bg1"/>
            </a:solidFill>
            <a:prstDash val="solid"/>
          </a:ln>
        </p:spPr>
      </p:sp>
      <p:sp>
        <p:nvSpPr>
          <p:cNvPr id="10" name="text_16_7"/>
          <p:cNvSpPr txBox="1"/>
          <p:nvPr/>
        </p:nvSpPr>
        <p:spPr>
          <a:xfrm>
            <a:off x="3502152" y="2651760"/>
            <a:ext cx="731520" cy="731520"/>
          </a:xfrm>
          <a:prstGeom prst="rect">
            <a:avLst/>
          </a:prstGeom>
          <a:noFill/>
          <a:ln/>
        </p:spPr>
        <p:txBody>
          <a:bodyPr wrap="square" lIns="0" tIns="0" rIns="0" bIns="0" rtlCol="0" anchor="ctr"/>
          <a:lstStyle/>
          <a:p>
            <a:pPr algn="ctr" indent="0" marL="0">
              <a:buNone/>
            </a:pPr>
            <a:r>
              <a:rPr lang="en-US" sz="2400" b="1" dirty="0">
                <a:solidFill>
                  <a:schemeClr val="tx1"/>
                </a:solidFill>
              </a:rPr>
              <a:t>2</a:t>
            </a:r>
            <a:endParaRPr lang="en-US" sz="2400" dirty="0"/>
          </a:p>
        </p:txBody>
      </p:sp>
      <p:sp>
        <p:nvSpPr>
          <p:cNvPr id="11" name="shape_16_8"/>
          <p:cNvSpPr/>
          <p:nvPr/>
        </p:nvSpPr>
        <p:spPr>
          <a:xfrm>
            <a:off x="2816352" y="3703320"/>
            <a:ext cx="2103120" cy="1920240"/>
          </a:xfrm>
          <a:prstGeom prst="roundRect">
            <a:avLst>
              <a:gd name="adj" fmla="val 5714"/>
            </a:avLst>
          </a:prstGeom>
          <a:solidFill>
            <a:schemeClr val="bg1">
              <a:alpha val="9000"/>
            </a:schemeClr>
          </a:solidFill>
          <a:ln w="12700">
            <a:solidFill>
              <a:srgbClr val="FFFFFF">
                <a:alpha val="0"/>
              </a:srgbClr>
            </a:solidFill>
            <a:prstDash val="solid"/>
          </a:ln>
        </p:spPr>
      </p:sp>
      <p:sp>
        <p:nvSpPr>
          <p:cNvPr id="12" name="text_16_9"/>
          <p:cNvSpPr txBox="1"/>
          <p:nvPr/>
        </p:nvSpPr>
        <p:spPr>
          <a:xfrm>
            <a:off x="2953512" y="3840480"/>
            <a:ext cx="1828800" cy="1645920"/>
          </a:xfrm>
          <a:prstGeom prst="rect">
            <a:avLst/>
          </a:prstGeom>
          <a:noFill/>
          <a:ln/>
        </p:spPr>
        <p:txBody>
          <a:bodyPr wrap="square" lIns="0" tIns="0" rIns="0" bIns="0" rtlCol="0" anchor="t"/>
          <a:lstStyle/>
          <a:p>
            <a:pPr algn="ctr" indent="0" marL="0">
              <a:buNone/>
            </a:pPr>
            <a:r>
              <a:rPr lang="en-US" sz="1700" b="1" dirty="0">
                <a:solidFill>
                  <a:schemeClr val="accent2"/>
                </a:solidFill>
                <a:latin typeface="Cambria" pitchFamily="34" charset="0"/>
                <a:ea typeface="Cambria" pitchFamily="34" charset="-122"/>
                <a:cs typeface="Cambria" pitchFamily="34" charset="-120"/>
              </a:rPr>
              <a:t>Payload scenario</a:t>
            </a:r>
            <a:endParaRPr lang="en-US" sz="1700" dirty="0"/>
          </a:p>
          <a:p>
            <a:pPr algn="ctr" indent="0" marL="0">
              <a:buNone/>
            </a:pPr>
            <a:r>
              <a:rPr lang="en-US" sz="1400" dirty="0">
                <a:solidFill>
                  <a:schemeClr val="bg1"/>
                </a:solidFill>
              </a:rPr>
              <a:t>Load it, open the rule trace</a:t>
            </a:r>
            <a:endParaRPr lang="en-US" sz="1700" dirty="0"/>
          </a:p>
        </p:txBody>
      </p:sp>
      <p:sp>
        <p:nvSpPr>
          <p:cNvPr id="13" name="step_16_10"/>
          <p:cNvSpPr/>
          <p:nvPr/>
        </p:nvSpPr>
        <p:spPr>
          <a:xfrm>
            <a:off x="5769864" y="2651760"/>
            <a:ext cx="731520" cy="731520"/>
          </a:xfrm>
          <a:prstGeom prst="ellipse">
            <a:avLst/>
          </a:prstGeom>
          <a:solidFill>
            <a:schemeClr val="accent1"/>
          </a:solidFill>
          <a:ln w="25400">
            <a:solidFill>
              <a:schemeClr val="bg1"/>
            </a:solidFill>
            <a:prstDash val="solid"/>
          </a:ln>
        </p:spPr>
      </p:sp>
      <p:sp>
        <p:nvSpPr>
          <p:cNvPr id="14" name="text_16_11"/>
          <p:cNvSpPr txBox="1"/>
          <p:nvPr/>
        </p:nvSpPr>
        <p:spPr>
          <a:xfrm>
            <a:off x="5769864" y="2651760"/>
            <a:ext cx="731520" cy="731520"/>
          </a:xfrm>
          <a:prstGeom prst="rect">
            <a:avLst/>
          </a:prstGeom>
          <a:noFill/>
          <a:ln/>
        </p:spPr>
        <p:txBody>
          <a:bodyPr wrap="square" lIns="0" tIns="0" rIns="0" bIns="0" rtlCol="0" anchor="ctr"/>
          <a:lstStyle/>
          <a:p>
            <a:pPr algn="ctr" indent="0" marL="0">
              <a:buNone/>
            </a:pPr>
            <a:r>
              <a:rPr lang="en-US" sz="2400" b="1" dirty="0">
                <a:solidFill>
                  <a:schemeClr val="tx1"/>
                </a:solidFill>
              </a:rPr>
              <a:t>3</a:t>
            </a:r>
            <a:endParaRPr lang="en-US" sz="2400" dirty="0"/>
          </a:p>
        </p:txBody>
      </p:sp>
      <p:sp>
        <p:nvSpPr>
          <p:cNvPr id="15" name="shape_16_12"/>
          <p:cNvSpPr/>
          <p:nvPr/>
        </p:nvSpPr>
        <p:spPr>
          <a:xfrm>
            <a:off x="5084064" y="3703320"/>
            <a:ext cx="2103120" cy="1920240"/>
          </a:xfrm>
          <a:prstGeom prst="roundRect">
            <a:avLst>
              <a:gd name="adj" fmla="val 5714"/>
            </a:avLst>
          </a:prstGeom>
          <a:solidFill>
            <a:schemeClr val="bg1">
              <a:alpha val="9000"/>
            </a:schemeClr>
          </a:solidFill>
          <a:ln w="12700">
            <a:solidFill>
              <a:srgbClr val="FFFFFF">
                <a:alpha val="0"/>
              </a:srgbClr>
            </a:solidFill>
            <a:prstDash val="solid"/>
          </a:ln>
        </p:spPr>
      </p:sp>
      <p:sp>
        <p:nvSpPr>
          <p:cNvPr id="16" name="text_16_13"/>
          <p:cNvSpPr txBox="1"/>
          <p:nvPr/>
        </p:nvSpPr>
        <p:spPr>
          <a:xfrm>
            <a:off x="5221224" y="3840480"/>
            <a:ext cx="1828800" cy="1645920"/>
          </a:xfrm>
          <a:prstGeom prst="rect">
            <a:avLst/>
          </a:prstGeom>
          <a:noFill/>
          <a:ln/>
        </p:spPr>
        <p:txBody>
          <a:bodyPr wrap="square" lIns="0" tIns="0" rIns="0" bIns="0" rtlCol="0" anchor="t"/>
          <a:lstStyle/>
          <a:p>
            <a:pPr algn="ctr" indent="0" marL="0">
              <a:buNone/>
            </a:pPr>
            <a:r>
              <a:rPr lang="en-US" sz="1700" b="1" dirty="0">
                <a:solidFill>
                  <a:schemeClr val="accent2"/>
                </a:solidFill>
                <a:latin typeface="Cambria" pitchFamily="34" charset="0"/>
                <a:ea typeface="Cambria" pitchFamily="34" charset="-122"/>
                <a:cs typeface="Cambria" pitchFamily="34" charset="-120"/>
              </a:rPr>
              <a:t>Conflict</a:t>
            </a:r>
            <a:endParaRPr lang="en-US" sz="1700" dirty="0"/>
          </a:p>
          <a:p>
            <a:pPr algn="ctr" indent="0" marL="0">
              <a:buNone/>
            </a:pPr>
            <a:r>
              <a:rPr lang="en-US" sz="1400" dirty="0">
                <a:solidFill>
                  <a:schemeClr val="bg1"/>
                </a:solidFill>
              </a:rPr>
              <a:t>Add opposing source claims</a:t>
            </a:r>
            <a:endParaRPr lang="en-US" sz="1700" dirty="0"/>
          </a:p>
        </p:txBody>
      </p:sp>
      <p:sp>
        <p:nvSpPr>
          <p:cNvPr id="17" name="step_16_14"/>
          <p:cNvSpPr/>
          <p:nvPr/>
        </p:nvSpPr>
        <p:spPr>
          <a:xfrm>
            <a:off x="8037576" y="2651760"/>
            <a:ext cx="731520" cy="731520"/>
          </a:xfrm>
          <a:prstGeom prst="ellipse">
            <a:avLst/>
          </a:prstGeom>
          <a:solidFill>
            <a:schemeClr val="accent1"/>
          </a:solidFill>
          <a:ln w="25400">
            <a:solidFill>
              <a:schemeClr val="bg1"/>
            </a:solidFill>
            <a:prstDash val="solid"/>
          </a:ln>
        </p:spPr>
      </p:sp>
      <p:sp>
        <p:nvSpPr>
          <p:cNvPr id="18" name="text_16_15"/>
          <p:cNvSpPr txBox="1"/>
          <p:nvPr/>
        </p:nvSpPr>
        <p:spPr>
          <a:xfrm>
            <a:off x="8037576" y="2651760"/>
            <a:ext cx="731520" cy="731520"/>
          </a:xfrm>
          <a:prstGeom prst="rect">
            <a:avLst/>
          </a:prstGeom>
          <a:noFill/>
          <a:ln/>
        </p:spPr>
        <p:txBody>
          <a:bodyPr wrap="square" lIns="0" tIns="0" rIns="0" bIns="0" rtlCol="0" anchor="ctr"/>
          <a:lstStyle/>
          <a:p>
            <a:pPr algn="ctr" indent="0" marL="0">
              <a:buNone/>
            </a:pPr>
            <a:r>
              <a:rPr lang="en-US" sz="2400" b="1" dirty="0">
                <a:solidFill>
                  <a:schemeClr val="tx1"/>
                </a:solidFill>
              </a:rPr>
              <a:t>4</a:t>
            </a:r>
            <a:endParaRPr lang="en-US" sz="2400" dirty="0"/>
          </a:p>
        </p:txBody>
      </p:sp>
      <p:sp>
        <p:nvSpPr>
          <p:cNvPr id="19" name="shape_16_16"/>
          <p:cNvSpPr/>
          <p:nvPr/>
        </p:nvSpPr>
        <p:spPr>
          <a:xfrm>
            <a:off x="7351776" y="3703320"/>
            <a:ext cx="2103120" cy="1920240"/>
          </a:xfrm>
          <a:prstGeom prst="roundRect">
            <a:avLst>
              <a:gd name="adj" fmla="val 5714"/>
            </a:avLst>
          </a:prstGeom>
          <a:solidFill>
            <a:schemeClr val="bg1">
              <a:alpha val="9000"/>
            </a:schemeClr>
          </a:solidFill>
          <a:ln w="12700">
            <a:solidFill>
              <a:srgbClr val="FFFFFF">
                <a:alpha val="0"/>
              </a:srgbClr>
            </a:solidFill>
            <a:prstDash val="solid"/>
          </a:ln>
        </p:spPr>
      </p:sp>
      <p:sp>
        <p:nvSpPr>
          <p:cNvPr id="20" name="text_16_17"/>
          <p:cNvSpPr txBox="1"/>
          <p:nvPr/>
        </p:nvSpPr>
        <p:spPr>
          <a:xfrm>
            <a:off x="7488936" y="3840480"/>
            <a:ext cx="1828800" cy="1645920"/>
          </a:xfrm>
          <a:prstGeom prst="rect">
            <a:avLst/>
          </a:prstGeom>
          <a:noFill/>
          <a:ln/>
        </p:spPr>
        <p:txBody>
          <a:bodyPr wrap="square" lIns="0" tIns="0" rIns="0" bIns="0" rtlCol="0" anchor="t"/>
          <a:lstStyle/>
          <a:p>
            <a:pPr algn="ctr" indent="0" marL="0">
              <a:buNone/>
            </a:pPr>
            <a:r>
              <a:rPr lang="en-US" sz="1700" b="1" dirty="0">
                <a:solidFill>
                  <a:schemeClr val="accent2"/>
                </a:solidFill>
                <a:latin typeface="Cambria" pitchFamily="34" charset="0"/>
                <a:ea typeface="Cambria" pitchFamily="34" charset="-122"/>
                <a:cs typeface="Cambria" pitchFamily="34" charset="-120"/>
              </a:rPr>
              <a:t>Evaluation lab</a:t>
            </a:r>
            <a:endParaRPr lang="en-US" sz="1700" dirty="0"/>
          </a:p>
          <a:p>
            <a:pPr algn="ctr" indent="0" marL="0">
              <a:buNone/>
            </a:pPr>
            <a:r>
              <a:rPr lang="en-US" sz="1400" dirty="0">
                <a:solidFill>
                  <a:schemeClr val="bg1"/>
                </a:solidFill>
              </a:rPr>
              <a:t>Run 13 / 13 scenarios</a:t>
            </a:r>
            <a:endParaRPr lang="en-US" sz="1700" dirty="0"/>
          </a:p>
        </p:txBody>
      </p:sp>
      <p:sp>
        <p:nvSpPr>
          <p:cNvPr id="21" name="step_16_18"/>
          <p:cNvSpPr/>
          <p:nvPr/>
        </p:nvSpPr>
        <p:spPr>
          <a:xfrm>
            <a:off x="10305288" y="2651760"/>
            <a:ext cx="731520" cy="731520"/>
          </a:xfrm>
          <a:prstGeom prst="ellipse">
            <a:avLst/>
          </a:prstGeom>
          <a:solidFill>
            <a:schemeClr val="accent2"/>
          </a:solidFill>
          <a:ln w="25400">
            <a:solidFill>
              <a:schemeClr val="bg1"/>
            </a:solidFill>
            <a:prstDash val="solid"/>
          </a:ln>
        </p:spPr>
      </p:sp>
      <p:sp>
        <p:nvSpPr>
          <p:cNvPr id="22" name="text_16_19"/>
          <p:cNvSpPr txBox="1"/>
          <p:nvPr/>
        </p:nvSpPr>
        <p:spPr>
          <a:xfrm>
            <a:off x="10305288" y="2651760"/>
            <a:ext cx="731520" cy="731520"/>
          </a:xfrm>
          <a:prstGeom prst="rect">
            <a:avLst/>
          </a:prstGeom>
          <a:noFill/>
          <a:ln/>
        </p:spPr>
        <p:txBody>
          <a:bodyPr wrap="square" lIns="0" tIns="0" rIns="0" bIns="0" rtlCol="0" anchor="ctr"/>
          <a:lstStyle/>
          <a:p>
            <a:pPr algn="ctr" indent="0" marL="0">
              <a:buNone/>
            </a:pPr>
            <a:r>
              <a:rPr lang="en-US" sz="2400" b="1" dirty="0">
                <a:solidFill>
                  <a:schemeClr val="tx1"/>
                </a:solidFill>
              </a:rPr>
              <a:t>5</a:t>
            </a:r>
            <a:endParaRPr lang="en-US" sz="2400" dirty="0"/>
          </a:p>
        </p:txBody>
      </p:sp>
      <p:sp>
        <p:nvSpPr>
          <p:cNvPr id="23" name="shape_16_20"/>
          <p:cNvSpPr/>
          <p:nvPr/>
        </p:nvSpPr>
        <p:spPr>
          <a:xfrm>
            <a:off x="9619488" y="3703320"/>
            <a:ext cx="2103120" cy="1920240"/>
          </a:xfrm>
          <a:prstGeom prst="roundRect">
            <a:avLst>
              <a:gd name="adj" fmla="val 5714"/>
            </a:avLst>
          </a:prstGeom>
          <a:solidFill>
            <a:schemeClr val="bg1">
              <a:alpha val="9000"/>
            </a:schemeClr>
          </a:solidFill>
          <a:ln w="12700">
            <a:solidFill>
              <a:srgbClr val="FFFFFF">
                <a:alpha val="0"/>
              </a:srgbClr>
            </a:solidFill>
            <a:prstDash val="solid"/>
          </a:ln>
        </p:spPr>
      </p:sp>
      <p:sp>
        <p:nvSpPr>
          <p:cNvPr id="24" name="text_16_21"/>
          <p:cNvSpPr txBox="1"/>
          <p:nvPr/>
        </p:nvSpPr>
        <p:spPr>
          <a:xfrm>
            <a:off x="9756648" y="3840480"/>
            <a:ext cx="1828800" cy="1645920"/>
          </a:xfrm>
          <a:prstGeom prst="rect">
            <a:avLst/>
          </a:prstGeom>
          <a:noFill/>
          <a:ln/>
        </p:spPr>
        <p:txBody>
          <a:bodyPr wrap="square" lIns="0" tIns="0" rIns="0" bIns="0" rtlCol="0" anchor="t"/>
          <a:lstStyle/>
          <a:p>
            <a:pPr algn="ctr" indent="0" marL="0">
              <a:buNone/>
            </a:pPr>
            <a:r>
              <a:rPr lang="en-US" sz="1700" b="1" dirty="0">
                <a:solidFill>
                  <a:schemeClr val="accent2"/>
                </a:solidFill>
                <a:latin typeface="Cambria" pitchFamily="34" charset="0"/>
                <a:ea typeface="Cambria" pitchFamily="34" charset="-122"/>
                <a:cs typeface="Cambria" pitchFamily="34" charset="-120"/>
              </a:rPr>
              <a:t>Close</a:t>
            </a:r>
            <a:endParaRPr lang="en-US" sz="1700" dirty="0"/>
          </a:p>
          <a:p>
            <a:pPr algn="ctr" indent="0" marL="0">
              <a:buNone/>
            </a:pPr>
            <a:r>
              <a:rPr lang="en-US" sz="1400" dirty="0">
                <a:solidFill>
                  <a:schemeClr val="bg1"/>
                </a:solidFill>
              </a:rPr>
              <a:t>Real data + explainable rules; tests are regression, not plant accuracy</a:t>
            </a:r>
            <a:endParaRPr lang="en-US" sz="1700" dirty="0"/>
          </a:p>
        </p:txBody>
      </p:sp>
      <p:sp>
        <p:nvSpPr>
          <p:cNvPr id="25" name="traveller"/>
          <p:cNvSpPr/>
          <p:nvPr/>
        </p:nvSpPr>
        <p:spPr>
          <a:xfrm>
            <a:off x="1508760" y="2926080"/>
            <a:ext cx="182880" cy="182880"/>
          </a:xfrm>
          <a:prstGeom prst="ellipse">
            <a:avLst/>
          </a:prstGeom>
          <a:solidFill>
            <a:schemeClr val="accent2"/>
          </a:solidFill>
          <a:ln w="12700">
            <a:solidFill>
              <a:schemeClr val="accent2"/>
            </a:solidFill>
            <a:prstDash val="solid"/>
          </a:ln>
        </p:spPr>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CCF"/>
                </a:solidFill>
              </a:defRPr>
            </a:lvl1pPr>
          </a:lstStyle>
          <a:p>
            <a:pPr algn="r"/>
            <a:fld id="{F7021451-1387-4CA6-816F-3879F97B5CBC}" type="slidenum">
              <a:rPr b="0" lang="en-US"/>
              <a:t>16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20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1400"/>
                                        <p:tgtEl>
                                          <p:spTgt spid="4"/>
                                        </p:tgtEl>
                                      </p:cBhvr>
                                    </p:animEffect>
                                  </p:childTnLst>
                                </p:cTn>
                              </p:par>
                              <p:par>
                                <p:cTn id="8" presetID="53" presetClass="entr" presetSubtype="16" fill="hold" nodeType="withEffect">
                                  <p:stCondLst>
                                    <p:cond delay="600"/>
                                  </p:stCondLst>
                                  <p:childTnLst>
                                    <p:set>
                                      <p:cBhvr>
                                        <p:cTn id="9" dur="1" fill="hold">
                                          <p:stCondLst>
                                            <p:cond delay="0"/>
                                          </p:stCondLst>
                                        </p:cTn>
                                        <p:tgtEl>
                                          <p:spTgt spid="5"/>
                                        </p:tgtEl>
                                        <p:attrNameLst>
                                          <p:attrName>style.visibility</p:attrName>
                                        </p:attrNameLst>
                                      </p:cBhvr>
                                      <p:to>
                                        <p:strVal val="visible"/>
                                      </p:to>
                                    </p:set>
                                    <p:anim calcmode="lin" valueType="num">
                                      <p:cBhvr>
                                        <p:cTn id="10" dur="400" fill="hold"/>
                                        <p:tgtEl>
                                          <p:spTgt spid="5"/>
                                        </p:tgtEl>
                                        <p:attrNameLst>
                                          <p:attrName>ppt_w</p:attrName>
                                        </p:attrNameLst>
                                      </p:cBhvr>
                                      <p:tavLst>
                                        <p:tav tm="0">
                                          <p:val>
                                            <p:fltVal val="0"/>
                                          </p:val>
                                        </p:tav>
                                        <p:tav tm="100000">
                                          <p:val>
                                            <p:strVal val="#ppt_w"/>
                                          </p:val>
                                        </p:tav>
                                      </p:tavLst>
                                    </p:anim>
                                    <p:anim calcmode="lin" valueType="num">
                                      <p:cBhvr>
                                        <p:cTn id="11" dur="400" fill="hold"/>
                                        <p:tgtEl>
                                          <p:spTgt spid="5"/>
                                        </p:tgtEl>
                                        <p:attrNameLst>
                                          <p:attrName>ppt_h</p:attrName>
                                        </p:attrNameLst>
                                      </p:cBhvr>
                                      <p:tavLst>
                                        <p:tav tm="0">
                                          <p:val>
                                            <p:fltVal val="0"/>
                                          </p:val>
                                        </p:tav>
                                        <p:tav tm="100000">
                                          <p:val>
                                            <p:strVal val="#ppt_h"/>
                                          </p:val>
                                        </p:tav>
                                      </p:tavLst>
                                    </p:anim>
                                    <p:animEffect transition="in" filter="fade">
                                      <p:cBhvr>
                                        <p:cTn id="12" dur="400"/>
                                        <p:tgtEl>
                                          <p:spTgt spid="5"/>
                                        </p:tgtEl>
                                      </p:cBhvr>
                                    </p:animEffect>
                                  </p:childTnLst>
                                </p:cTn>
                              </p:par>
                              <p:par>
                                <p:cTn id="13" presetID="53" presetClass="entr" presetSubtype="16" fill="hold" nodeType="withEffect">
                                  <p:stCondLst>
                                    <p:cond delay="650"/>
                                  </p:stCondLst>
                                  <p:childTnLst>
                                    <p:set>
                                      <p:cBhvr>
                                        <p:cTn id="14" dur="1" fill="hold">
                                          <p:stCondLst>
                                            <p:cond delay="0"/>
                                          </p:stCondLst>
                                        </p:cTn>
                                        <p:tgtEl>
                                          <p:spTgt spid="6"/>
                                        </p:tgtEl>
                                        <p:attrNameLst>
                                          <p:attrName>style.visibility</p:attrName>
                                        </p:attrNameLst>
                                      </p:cBhvr>
                                      <p:to>
                                        <p:strVal val="visible"/>
                                      </p:to>
                                    </p:set>
                                    <p:anim calcmode="lin" valueType="num">
                                      <p:cBhvr>
                                        <p:cTn id="15" dur="400" fill="hold"/>
                                        <p:tgtEl>
                                          <p:spTgt spid="6"/>
                                        </p:tgtEl>
                                        <p:attrNameLst>
                                          <p:attrName>ppt_w</p:attrName>
                                        </p:attrNameLst>
                                      </p:cBhvr>
                                      <p:tavLst>
                                        <p:tav tm="0">
                                          <p:val>
                                            <p:fltVal val="0"/>
                                          </p:val>
                                        </p:tav>
                                        <p:tav tm="100000">
                                          <p:val>
                                            <p:strVal val="#ppt_w"/>
                                          </p:val>
                                        </p:tav>
                                      </p:tavLst>
                                    </p:anim>
                                    <p:anim calcmode="lin" valueType="num">
                                      <p:cBhvr>
                                        <p:cTn id="16" dur="400" fill="hold"/>
                                        <p:tgtEl>
                                          <p:spTgt spid="6"/>
                                        </p:tgtEl>
                                        <p:attrNameLst>
                                          <p:attrName>ppt_h</p:attrName>
                                        </p:attrNameLst>
                                      </p:cBhvr>
                                      <p:tavLst>
                                        <p:tav tm="0">
                                          <p:val>
                                            <p:fltVal val="0"/>
                                          </p:val>
                                        </p:tav>
                                        <p:tav tm="100000">
                                          <p:val>
                                            <p:strVal val="#ppt_h"/>
                                          </p:val>
                                        </p:tav>
                                      </p:tavLst>
                                    </p:anim>
                                    <p:animEffect transition="in" filter="fade">
                                      <p:cBhvr>
                                        <p:cTn id="17" dur="400"/>
                                        <p:tgtEl>
                                          <p:spTgt spid="6"/>
                                        </p:tgtEl>
                                      </p:cBhvr>
                                    </p:animEffect>
                                  </p:childTnLst>
                                </p:cTn>
                              </p:par>
                              <p:par>
                                <p:cTn id="18" presetID="2" presetClass="entr" presetSubtype="4" fill="hold" nodeType="withEffect">
                                  <p:stCondLst>
                                    <p:cond delay="80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ppt_x"/>
                                          </p:val>
                                        </p:tav>
                                        <p:tav tm="100000">
                                          <p:val>
                                            <p:strVal val="#ppt_x"/>
                                          </p:val>
                                        </p:tav>
                                      </p:tavLst>
                                    </p:anim>
                                    <p:anim calcmode="lin" valueType="num">
                                      <p:cBhvr additive="base">
                                        <p:cTn id="21" dur="500" fill="hold"/>
                                        <p:tgtEl>
                                          <p:spTgt spid="7"/>
                                        </p:tgtEl>
                                        <p:attrNameLst>
                                          <p:attrName>ppt_y</p:attrName>
                                        </p:attrNameLst>
                                      </p:cBhvr>
                                      <p:tavLst>
                                        <p:tav tm="0">
                                          <p:val>
                                            <p:strVal val="1+#ppt_h/2"/>
                                          </p:val>
                                        </p:tav>
                                        <p:tav tm="100000">
                                          <p:val>
                                            <p:strVal val="#ppt_y"/>
                                          </p:val>
                                        </p:tav>
                                      </p:tavLst>
                                    </p:anim>
                                  </p:childTnLst>
                                </p:cTn>
                              </p:par>
                              <p:par>
                                <p:cTn id="22" presetID="10" presetClass="entr" presetSubtype="0" fill="hold" nodeType="withEffect">
                                  <p:stCondLst>
                                    <p:cond delay="90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400"/>
                                        <p:tgtEl>
                                          <p:spTgt spid="8"/>
                                        </p:tgtEl>
                                      </p:cBhvr>
                                    </p:animEffect>
                                  </p:childTnLst>
                                </p:cTn>
                              </p:par>
                              <p:par>
                                <p:cTn id="25" presetID="26" presetClass="emph" presetSubtype="0" repeatCount="indefinite" fill="hold" nodeType="withEffect">
                                  <p:stCondLst>
                                    <p:cond delay="1200"/>
                                  </p:stCondLst>
                                  <p:childTnLst>
                                    <p:animScale>
                                      <p:cBhvr>
                                        <p:cTn id="26" dur="700" autoRev="1" fill="hold"/>
                                        <p:tgtEl>
                                          <p:spTgt spid="5"/>
                                        </p:tgtEl>
                                      </p:cBhvr>
                                      <p:by x="112000" y="112000"/>
                                    </p:animScale>
                                  </p:childTnLst>
                                </p:cTn>
                              </p:par>
                              <p:par>
                                <p:cTn id="27" presetID="53" presetClass="entr" presetSubtype="16" fill="hold" nodeType="withEffect">
                                  <p:stCondLst>
                                    <p:cond delay="1300"/>
                                  </p:stCondLst>
                                  <p:childTnLst>
                                    <p:set>
                                      <p:cBhvr>
                                        <p:cTn id="28" dur="1" fill="hold">
                                          <p:stCondLst>
                                            <p:cond delay="0"/>
                                          </p:stCondLst>
                                        </p:cTn>
                                        <p:tgtEl>
                                          <p:spTgt spid="9"/>
                                        </p:tgtEl>
                                        <p:attrNameLst>
                                          <p:attrName>style.visibility</p:attrName>
                                        </p:attrNameLst>
                                      </p:cBhvr>
                                      <p:to>
                                        <p:strVal val="visible"/>
                                      </p:to>
                                    </p:set>
                                    <p:anim calcmode="lin" valueType="num">
                                      <p:cBhvr>
                                        <p:cTn id="29" dur="400" fill="hold"/>
                                        <p:tgtEl>
                                          <p:spTgt spid="9"/>
                                        </p:tgtEl>
                                        <p:attrNameLst>
                                          <p:attrName>ppt_w</p:attrName>
                                        </p:attrNameLst>
                                      </p:cBhvr>
                                      <p:tavLst>
                                        <p:tav tm="0">
                                          <p:val>
                                            <p:fltVal val="0"/>
                                          </p:val>
                                        </p:tav>
                                        <p:tav tm="100000">
                                          <p:val>
                                            <p:strVal val="#ppt_w"/>
                                          </p:val>
                                        </p:tav>
                                      </p:tavLst>
                                    </p:anim>
                                    <p:anim calcmode="lin" valueType="num">
                                      <p:cBhvr>
                                        <p:cTn id="30" dur="400" fill="hold"/>
                                        <p:tgtEl>
                                          <p:spTgt spid="9"/>
                                        </p:tgtEl>
                                        <p:attrNameLst>
                                          <p:attrName>ppt_h</p:attrName>
                                        </p:attrNameLst>
                                      </p:cBhvr>
                                      <p:tavLst>
                                        <p:tav tm="0">
                                          <p:val>
                                            <p:fltVal val="0"/>
                                          </p:val>
                                        </p:tav>
                                        <p:tav tm="100000">
                                          <p:val>
                                            <p:strVal val="#ppt_h"/>
                                          </p:val>
                                        </p:tav>
                                      </p:tavLst>
                                    </p:anim>
                                    <p:animEffect transition="in" filter="fade">
                                      <p:cBhvr>
                                        <p:cTn id="31" dur="400"/>
                                        <p:tgtEl>
                                          <p:spTgt spid="9"/>
                                        </p:tgtEl>
                                      </p:cBhvr>
                                    </p:animEffect>
                                  </p:childTnLst>
                                </p:cTn>
                              </p:par>
                              <p:par>
                                <p:cTn id="32" presetID="53" presetClass="entr" presetSubtype="16" fill="hold" nodeType="withEffect">
                                  <p:stCondLst>
                                    <p:cond delay="1350"/>
                                  </p:stCondLst>
                                  <p:childTnLst>
                                    <p:set>
                                      <p:cBhvr>
                                        <p:cTn id="33" dur="1" fill="hold">
                                          <p:stCondLst>
                                            <p:cond delay="0"/>
                                          </p:stCondLst>
                                        </p:cTn>
                                        <p:tgtEl>
                                          <p:spTgt spid="10"/>
                                        </p:tgtEl>
                                        <p:attrNameLst>
                                          <p:attrName>style.visibility</p:attrName>
                                        </p:attrNameLst>
                                      </p:cBhvr>
                                      <p:to>
                                        <p:strVal val="visible"/>
                                      </p:to>
                                    </p:set>
                                    <p:anim calcmode="lin" valueType="num">
                                      <p:cBhvr>
                                        <p:cTn id="34" dur="400" fill="hold"/>
                                        <p:tgtEl>
                                          <p:spTgt spid="10"/>
                                        </p:tgtEl>
                                        <p:attrNameLst>
                                          <p:attrName>ppt_w</p:attrName>
                                        </p:attrNameLst>
                                      </p:cBhvr>
                                      <p:tavLst>
                                        <p:tav tm="0">
                                          <p:val>
                                            <p:fltVal val="0"/>
                                          </p:val>
                                        </p:tav>
                                        <p:tav tm="100000">
                                          <p:val>
                                            <p:strVal val="#ppt_w"/>
                                          </p:val>
                                        </p:tav>
                                      </p:tavLst>
                                    </p:anim>
                                    <p:anim calcmode="lin" valueType="num">
                                      <p:cBhvr>
                                        <p:cTn id="35" dur="400" fill="hold"/>
                                        <p:tgtEl>
                                          <p:spTgt spid="10"/>
                                        </p:tgtEl>
                                        <p:attrNameLst>
                                          <p:attrName>ppt_h</p:attrName>
                                        </p:attrNameLst>
                                      </p:cBhvr>
                                      <p:tavLst>
                                        <p:tav tm="0">
                                          <p:val>
                                            <p:fltVal val="0"/>
                                          </p:val>
                                        </p:tav>
                                        <p:tav tm="100000">
                                          <p:val>
                                            <p:strVal val="#ppt_h"/>
                                          </p:val>
                                        </p:tav>
                                      </p:tavLst>
                                    </p:anim>
                                    <p:animEffect transition="in" filter="fade">
                                      <p:cBhvr>
                                        <p:cTn id="36" dur="400"/>
                                        <p:tgtEl>
                                          <p:spTgt spid="10"/>
                                        </p:tgtEl>
                                      </p:cBhvr>
                                    </p:animEffect>
                                  </p:childTnLst>
                                </p:cTn>
                              </p:par>
                              <p:par>
                                <p:cTn id="37" presetID="2" presetClass="entr" presetSubtype="4" fill="hold" nodeType="withEffect">
                                  <p:stCondLst>
                                    <p:cond delay="150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500" fill="hold"/>
                                        <p:tgtEl>
                                          <p:spTgt spid="11"/>
                                        </p:tgtEl>
                                        <p:attrNameLst>
                                          <p:attrName>ppt_x</p:attrName>
                                        </p:attrNameLst>
                                      </p:cBhvr>
                                      <p:tavLst>
                                        <p:tav tm="0">
                                          <p:val>
                                            <p:strVal val="#ppt_x"/>
                                          </p:val>
                                        </p:tav>
                                        <p:tav tm="100000">
                                          <p:val>
                                            <p:strVal val="#ppt_x"/>
                                          </p:val>
                                        </p:tav>
                                      </p:tavLst>
                                    </p:anim>
                                    <p:anim calcmode="lin" valueType="num">
                                      <p:cBhvr additive="base">
                                        <p:cTn id="40" dur="500" fill="hold"/>
                                        <p:tgtEl>
                                          <p:spTgt spid="11"/>
                                        </p:tgtEl>
                                        <p:attrNameLst>
                                          <p:attrName>ppt_y</p:attrName>
                                        </p:attrNameLst>
                                      </p:cBhvr>
                                      <p:tavLst>
                                        <p:tav tm="0">
                                          <p:val>
                                            <p:strVal val="1+#ppt_h/2"/>
                                          </p:val>
                                        </p:tav>
                                        <p:tav tm="100000">
                                          <p:val>
                                            <p:strVal val="#ppt_y"/>
                                          </p:val>
                                        </p:tav>
                                      </p:tavLst>
                                    </p:anim>
                                  </p:childTnLst>
                                </p:cTn>
                              </p:par>
                              <p:par>
                                <p:cTn id="41" presetID="10" presetClass="entr" presetSubtype="0" fill="hold" nodeType="withEffect">
                                  <p:stCondLst>
                                    <p:cond delay="160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400"/>
                                        <p:tgtEl>
                                          <p:spTgt spid="12"/>
                                        </p:tgtEl>
                                      </p:cBhvr>
                                    </p:animEffect>
                                  </p:childTnLst>
                                </p:cTn>
                              </p:par>
                              <p:par>
                                <p:cTn id="44" presetID="26" presetClass="emph" presetSubtype="0" repeatCount="indefinite" fill="hold" nodeType="withEffect">
                                  <p:stCondLst>
                                    <p:cond delay="1900"/>
                                  </p:stCondLst>
                                  <p:childTnLst>
                                    <p:animScale>
                                      <p:cBhvr>
                                        <p:cTn id="45" dur="700" autoRev="1" fill="hold"/>
                                        <p:tgtEl>
                                          <p:spTgt spid="9"/>
                                        </p:tgtEl>
                                      </p:cBhvr>
                                      <p:by x="112000" y="112000"/>
                                    </p:animScale>
                                  </p:childTnLst>
                                </p:cTn>
                              </p:par>
                              <p:par>
                                <p:cTn id="46" presetID="53" presetClass="entr" presetSubtype="16" fill="hold" nodeType="withEffect">
                                  <p:stCondLst>
                                    <p:cond delay="2000"/>
                                  </p:stCondLst>
                                  <p:childTnLst>
                                    <p:set>
                                      <p:cBhvr>
                                        <p:cTn id="47" dur="1" fill="hold">
                                          <p:stCondLst>
                                            <p:cond delay="0"/>
                                          </p:stCondLst>
                                        </p:cTn>
                                        <p:tgtEl>
                                          <p:spTgt spid="13"/>
                                        </p:tgtEl>
                                        <p:attrNameLst>
                                          <p:attrName>style.visibility</p:attrName>
                                        </p:attrNameLst>
                                      </p:cBhvr>
                                      <p:to>
                                        <p:strVal val="visible"/>
                                      </p:to>
                                    </p:set>
                                    <p:anim calcmode="lin" valueType="num">
                                      <p:cBhvr>
                                        <p:cTn id="48" dur="400" fill="hold"/>
                                        <p:tgtEl>
                                          <p:spTgt spid="13"/>
                                        </p:tgtEl>
                                        <p:attrNameLst>
                                          <p:attrName>ppt_w</p:attrName>
                                        </p:attrNameLst>
                                      </p:cBhvr>
                                      <p:tavLst>
                                        <p:tav tm="0">
                                          <p:val>
                                            <p:fltVal val="0"/>
                                          </p:val>
                                        </p:tav>
                                        <p:tav tm="100000">
                                          <p:val>
                                            <p:strVal val="#ppt_w"/>
                                          </p:val>
                                        </p:tav>
                                      </p:tavLst>
                                    </p:anim>
                                    <p:anim calcmode="lin" valueType="num">
                                      <p:cBhvr>
                                        <p:cTn id="49" dur="400" fill="hold"/>
                                        <p:tgtEl>
                                          <p:spTgt spid="13"/>
                                        </p:tgtEl>
                                        <p:attrNameLst>
                                          <p:attrName>ppt_h</p:attrName>
                                        </p:attrNameLst>
                                      </p:cBhvr>
                                      <p:tavLst>
                                        <p:tav tm="0">
                                          <p:val>
                                            <p:fltVal val="0"/>
                                          </p:val>
                                        </p:tav>
                                        <p:tav tm="100000">
                                          <p:val>
                                            <p:strVal val="#ppt_h"/>
                                          </p:val>
                                        </p:tav>
                                      </p:tavLst>
                                    </p:anim>
                                    <p:animEffect transition="in" filter="fade">
                                      <p:cBhvr>
                                        <p:cTn id="50" dur="400"/>
                                        <p:tgtEl>
                                          <p:spTgt spid="13"/>
                                        </p:tgtEl>
                                      </p:cBhvr>
                                    </p:animEffect>
                                  </p:childTnLst>
                                </p:cTn>
                              </p:par>
                              <p:par>
                                <p:cTn id="51" presetID="53" presetClass="entr" presetSubtype="16" fill="hold" nodeType="withEffect">
                                  <p:stCondLst>
                                    <p:cond delay="2050"/>
                                  </p:stCondLst>
                                  <p:childTnLst>
                                    <p:set>
                                      <p:cBhvr>
                                        <p:cTn id="52" dur="1" fill="hold">
                                          <p:stCondLst>
                                            <p:cond delay="0"/>
                                          </p:stCondLst>
                                        </p:cTn>
                                        <p:tgtEl>
                                          <p:spTgt spid="14"/>
                                        </p:tgtEl>
                                        <p:attrNameLst>
                                          <p:attrName>style.visibility</p:attrName>
                                        </p:attrNameLst>
                                      </p:cBhvr>
                                      <p:to>
                                        <p:strVal val="visible"/>
                                      </p:to>
                                    </p:set>
                                    <p:anim calcmode="lin" valueType="num">
                                      <p:cBhvr>
                                        <p:cTn id="53" dur="400" fill="hold"/>
                                        <p:tgtEl>
                                          <p:spTgt spid="14"/>
                                        </p:tgtEl>
                                        <p:attrNameLst>
                                          <p:attrName>ppt_w</p:attrName>
                                        </p:attrNameLst>
                                      </p:cBhvr>
                                      <p:tavLst>
                                        <p:tav tm="0">
                                          <p:val>
                                            <p:fltVal val="0"/>
                                          </p:val>
                                        </p:tav>
                                        <p:tav tm="100000">
                                          <p:val>
                                            <p:strVal val="#ppt_w"/>
                                          </p:val>
                                        </p:tav>
                                      </p:tavLst>
                                    </p:anim>
                                    <p:anim calcmode="lin" valueType="num">
                                      <p:cBhvr>
                                        <p:cTn id="54" dur="400" fill="hold"/>
                                        <p:tgtEl>
                                          <p:spTgt spid="14"/>
                                        </p:tgtEl>
                                        <p:attrNameLst>
                                          <p:attrName>ppt_h</p:attrName>
                                        </p:attrNameLst>
                                      </p:cBhvr>
                                      <p:tavLst>
                                        <p:tav tm="0">
                                          <p:val>
                                            <p:fltVal val="0"/>
                                          </p:val>
                                        </p:tav>
                                        <p:tav tm="100000">
                                          <p:val>
                                            <p:strVal val="#ppt_h"/>
                                          </p:val>
                                        </p:tav>
                                      </p:tavLst>
                                    </p:anim>
                                    <p:animEffect transition="in" filter="fade">
                                      <p:cBhvr>
                                        <p:cTn id="55" dur="400"/>
                                        <p:tgtEl>
                                          <p:spTgt spid="14"/>
                                        </p:tgtEl>
                                      </p:cBhvr>
                                    </p:animEffect>
                                  </p:childTnLst>
                                </p:cTn>
                              </p:par>
                              <p:par>
                                <p:cTn id="56" presetID="2" presetClass="entr" presetSubtype="4" fill="hold" nodeType="withEffect">
                                  <p:stCondLst>
                                    <p:cond delay="2200"/>
                                  </p:stCondLst>
                                  <p:childTnLst>
                                    <p:set>
                                      <p:cBhvr>
                                        <p:cTn id="57" dur="1" fill="hold">
                                          <p:stCondLst>
                                            <p:cond delay="0"/>
                                          </p:stCondLst>
                                        </p:cTn>
                                        <p:tgtEl>
                                          <p:spTgt spid="15"/>
                                        </p:tgtEl>
                                        <p:attrNameLst>
                                          <p:attrName>style.visibility</p:attrName>
                                        </p:attrNameLst>
                                      </p:cBhvr>
                                      <p:to>
                                        <p:strVal val="visible"/>
                                      </p:to>
                                    </p:set>
                                    <p:anim calcmode="lin" valueType="num">
                                      <p:cBhvr additive="base">
                                        <p:cTn id="58" dur="500" fill="hold"/>
                                        <p:tgtEl>
                                          <p:spTgt spid="15"/>
                                        </p:tgtEl>
                                        <p:attrNameLst>
                                          <p:attrName>ppt_x</p:attrName>
                                        </p:attrNameLst>
                                      </p:cBhvr>
                                      <p:tavLst>
                                        <p:tav tm="0">
                                          <p:val>
                                            <p:strVal val="#ppt_x"/>
                                          </p:val>
                                        </p:tav>
                                        <p:tav tm="100000">
                                          <p:val>
                                            <p:strVal val="#ppt_x"/>
                                          </p:val>
                                        </p:tav>
                                      </p:tavLst>
                                    </p:anim>
                                    <p:anim calcmode="lin" valueType="num">
                                      <p:cBhvr additive="base">
                                        <p:cTn id="59" dur="500" fill="hold"/>
                                        <p:tgtEl>
                                          <p:spTgt spid="15"/>
                                        </p:tgtEl>
                                        <p:attrNameLst>
                                          <p:attrName>ppt_y</p:attrName>
                                        </p:attrNameLst>
                                      </p:cBhvr>
                                      <p:tavLst>
                                        <p:tav tm="0">
                                          <p:val>
                                            <p:strVal val="1+#ppt_h/2"/>
                                          </p:val>
                                        </p:tav>
                                        <p:tav tm="100000">
                                          <p:val>
                                            <p:strVal val="#ppt_y"/>
                                          </p:val>
                                        </p:tav>
                                      </p:tavLst>
                                    </p:anim>
                                  </p:childTnLst>
                                </p:cTn>
                              </p:par>
                              <p:par>
                                <p:cTn id="60" presetID="10" presetClass="entr" presetSubtype="0" fill="hold" nodeType="withEffect">
                                  <p:stCondLst>
                                    <p:cond delay="230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400"/>
                                        <p:tgtEl>
                                          <p:spTgt spid="16"/>
                                        </p:tgtEl>
                                      </p:cBhvr>
                                    </p:animEffect>
                                  </p:childTnLst>
                                </p:cTn>
                              </p:par>
                              <p:par>
                                <p:cTn id="63" presetID="26" presetClass="emph" presetSubtype="0" repeatCount="indefinite" fill="hold" nodeType="withEffect">
                                  <p:stCondLst>
                                    <p:cond delay="2600"/>
                                  </p:stCondLst>
                                  <p:childTnLst>
                                    <p:animScale>
                                      <p:cBhvr>
                                        <p:cTn id="64" dur="700" autoRev="1" fill="hold"/>
                                        <p:tgtEl>
                                          <p:spTgt spid="13"/>
                                        </p:tgtEl>
                                      </p:cBhvr>
                                      <p:by x="112000" y="112000"/>
                                    </p:animScale>
                                  </p:childTnLst>
                                </p:cTn>
                              </p:par>
                              <p:par>
                                <p:cTn id="65" presetID="53" presetClass="entr" presetSubtype="16" fill="hold" nodeType="withEffect">
                                  <p:stCondLst>
                                    <p:cond delay="2700"/>
                                  </p:stCondLst>
                                  <p:childTnLst>
                                    <p:set>
                                      <p:cBhvr>
                                        <p:cTn id="66" dur="1" fill="hold">
                                          <p:stCondLst>
                                            <p:cond delay="0"/>
                                          </p:stCondLst>
                                        </p:cTn>
                                        <p:tgtEl>
                                          <p:spTgt spid="17"/>
                                        </p:tgtEl>
                                        <p:attrNameLst>
                                          <p:attrName>style.visibility</p:attrName>
                                        </p:attrNameLst>
                                      </p:cBhvr>
                                      <p:to>
                                        <p:strVal val="visible"/>
                                      </p:to>
                                    </p:set>
                                    <p:anim calcmode="lin" valueType="num">
                                      <p:cBhvr>
                                        <p:cTn id="67" dur="400" fill="hold"/>
                                        <p:tgtEl>
                                          <p:spTgt spid="17"/>
                                        </p:tgtEl>
                                        <p:attrNameLst>
                                          <p:attrName>ppt_w</p:attrName>
                                        </p:attrNameLst>
                                      </p:cBhvr>
                                      <p:tavLst>
                                        <p:tav tm="0">
                                          <p:val>
                                            <p:fltVal val="0"/>
                                          </p:val>
                                        </p:tav>
                                        <p:tav tm="100000">
                                          <p:val>
                                            <p:strVal val="#ppt_w"/>
                                          </p:val>
                                        </p:tav>
                                      </p:tavLst>
                                    </p:anim>
                                    <p:anim calcmode="lin" valueType="num">
                                      <p:cBhvr>
                                        <p:cTn id="68" dur="400" fill="hold"/>
                                        <p:tgtEl>
                                          <p:spTgt spid="17"/>
                                        </p:tgtEl>
                                        <p:attrNameLst>
                                          <p:attrName>ppt_h</p:attrName>
                                        </p:attrNameLst>
                                      </p:cBhvr>
                                      <p:tavLst>
                                        <p:tav tm="0">
                                          <p:val>
                                            <p:fltVal val="0"/>
                                          </p:val>
                                        </p:tav>
                                        <p:tav tm="100000">
                                          <p:val>
                                            <p:strVal val="#ppt_h"/>
                                          </p:val>
                                        </p:tav>
                                      </p:tavLst>
                                    </p:anim>
                                    <p:animEffect transition="in" filter="fade">
                                      <p:cBhvr>
                                        <p:cTn id="69" dur="400"/>
                                        <p:tgtEl>
                                          <p:spTgt spid="17"/>
                                        </p:tgtEl>
                                      </p:cBhvr>
                                    </p:animEffect>
                                  </p:childTnLst>
                                </p:cTn>
                              </p:par>
                              <p:par>
                                <p:cTn id="70" presetID="53" presetClass="entr" presetSubtype="16" fill="hold" nodeType="withEffect">
                                  <p:stCondLst>
                                    <p:cond delay="2750"/>
                                  </p:stCondLst>
                                  <p:childTnLst>
                                    <p:set>
                                      <p:cBhvr>
                                        <p:cTn id="71" dur="1" fill="hold">
                                          <p:stCondLst>
                                            <p:cond delay="0"/>
                                          </p:stCondLst>
                                        </p:cTn>
                                        <p:tgtEl>
                                          <p:spTgt spid="18"/>
                                        </p:tgtEl>
                                        <p:attrNameLst>
                                          <p:attrName>style.visibility</p:attrName>
                                        </p:attrNameLst>
                                      </p:cBhvr>
                                      <p:to>
                                        <p:strVal val="visible"/>
                                      </p:to>
                                    </p:set>
                                    <p:anim calcmode="lin" valueType="num">
                                      <p:cBhvr>
                                        <p:cTn id="72" dur="400" fill="hold"/>
                                        <p:tgtEl>
                                          <p:spTgt spid="18"/>
                                        </p:tgtEl>
                                        <p:attrNameLst>
                                          <p:attrName>ppt_w</p:attrName>
                                        </p:attrNameLst>
                                      </p:cBhvr>
                                      <p:tavLst>
                                        <p:tav tm="0">
                                          <p:val>
                                            <p:fltVal val="0"/>
                                          </p:val>
                                        </p:tav>
                                        <p:tav tm="100000">
                                          <p:val>
                                            <p:strVal val="#ppt_w"/>
                                          </p:val>
                                        </p:tav>
                                      </p:tavLst>
                                    </p:anim>
                                    <p:anim calcmode="lin" valueType="num">
                                      <p:cBhvr>
                                        <p:cTn id="73" dur="400" fill="hold"/>
                                        <p:tgtEl>
                                          <p:spTgt spid="18"/>
                                        </p:tgtEl>
                                        <p:attrNameLst>
                                          <p:attrName>ppt_h</p:attrName>
                                        </p:attrNameLst>
                                      </p:cBhvr>
                                      <p:tavLst>
                                        <p:tav tm="0">
                                          <p:val>
                                            <p:fltVal val="0"/>
                                          </p:val>
                                        </p:tav>
                                        <p:tav tm="100000">
                                          <p:val>
                                            <p:strVal val="#ppt_h"/>
                                          </p:val>
                                        </p:tav>
                                      </p:tavLst>
                                    </p:anim>
                                    <p:animEffect transition="in" filter="fade">
                                      <p:cBhvr>
                                        <p:cTn id="74" dur="400"/>
                                        <p:tgtEl>
                                          <p:spTgt spid="18"/>
                                        </p:tgtEl>
                                      </p:cBhvr>
                                    </p:animEffect>
                                  </p:childTnLst>
                                </p:cTn>
                              </p:par>
                              <p:par>
                                <p:cTn id="75" presetID="2" presetClass="entr" presetSubtype="4" fill="hold" nodeType="withEffect">
                                  <p:stCondLst>
                                    <p:cond delay="2900"/>
                                  </p:stCondLst>
                                  <p:childTnLst>
                                    <p:set>
                                      <p:cBhvr>
                                        <p:cTn id="76" dur="1" fill="hold">
                                          <p:stCondLst>
                                            <p:cond delay="0"/>
                                          </p:stCondLst>
                                        </p:cTn>
                                        <p:tgtEl>
                                          <p:spTgt spid="19"/>
                                        </p:tgtEl>
                                        <p:attrNameLst>
                                          <p:attrName>style.visibility</p:attrName>
                                        </p:attrNameLst>
                                      </p:cBhvr>
                                      <p:to>
                                        <p:strVal val="visible"/>
                                      </p:to>
                                    </p:set>
                                    <p:anim calcmode="lin" valueType="num">
                                      <p:cBhvr additive="base">
                                        <p:cTn id="77" dur="500" fill="hold"/>
                                        <p:tgtEl>
                                          <p:spTgt spid="19"/>
                                        </p:tgtEl>
                                        <p:attrNameLst>
                                          <p:attrName>ppt_x</p:attrName>
                                        </p:attrNameLst>
                                      </p:cBhvr>
                                      <p:tavLst>
                                        <p:tav tm="0">
                                          <p:val>
                                            <p:strVal val="#ppt_x"/>
                                          </p:val>
                                        </p:tav>
                                        <p:tav tm="100000">
                                          <p:val>
                                            <p:strVal val="#ppt_x"/>
                                          </p:val>
                                        </p:tav>
                                      </p:tavLst>
                                    </p:anim>
                                    <p:anim calcmode="lin" valueType="num">
                                      <p:cBhvr additive="base">
                                        <p:cTn id="78" dur="500" fill="hold"/>
                                        <p:tgtEl>
                                          <p:spTgt spid="19"/>
                                        </p:tgtEl>
                                        <p:attrNameLst>
                                          <p:attrName>ppt_y</p:attrName>
                                        </p:attrNameLst>
                                      </p:cBhvr>
                                      <p:tavLst>
                                        <p:tav tm="0">
                                          <p:val>
                                            <p:strVal val="1+#ppt_h/2"/>
                                          </p:val>
                                        </p:tav>
                                        <p:tav tm="100000">
                                          <p:val>
                                            <p:strVal val="#ppt_y"/>
                                          </p:val>
                                        </p:tav>
                                      </p:tavLst>
                                    </p:anim>
                                  </p:childTnLst>
                                </p:cTn>
                              </p:par>
                              <p:par>
                                <p:cTn id="79" presetID="10" presetClass="entr" presetSubtype="0" fill="hold" nodeType="withEffect">
                                  <p:stCondLst>
                                    <p:cond delay="3000"/>
                                  </p:stCondLst>
                                  <p:childTnLst>
                                    <p:set>
                                      <p:cBhvr>
                                        <p:cTn id="80" dur="1" fill="hold">
                                          <p:stCondLst>
                                            <p:cond delay="0"/>
                                          </p:stCondLst>
                                        </p:cTn>
                                        <p:tgtEl>
                                          <p:spTgt spid="20"/>
                                        </p:tgtEl>
                                        <p:attrNameLst>
                                          <p:attrName>style.visibility</p:attrName>
                                        </p:attrNameLst>
                                      </p:cBhvr>
                                      <p:to>
                                        <p:strVal val="visible"/>
                                      </p:to>
                                    </p:set>
                                    <p:animEffect transition="in" filter="fade">
                                      <p:cBhvr>
                                        <p:cTn id="81" dur="400"/>
                                        <p:tgtEl>
                                          <p:spTgt spid="20"/>
                                        </p:tgtEl>
                                      </p:cBhvr>
                                    </p:animEffect>
                                  </p:childTnLst>
                                </p:cTn>
                              </p:par>
                              <p:par>
                                <p:cTn id="82" presetID="26" presetClass="emph" presetSubtype="0" repeatCount="indefinite" fill="hold" nodeType="withEffect">
                                  <p:stCondLst>
                                    <p:cond delay="3300"/>
                                  </p:stCondLst>
                                  <p:childTnLst>
                                    <p:animScale>
                                      <p:cBhvr>
                                        <p:cTn id="83" dur="700" autoRev="1" fill="hold"/>
                                        <p:tgtEl>
                                          <p:spTgt spid="17"/>
                                        </p:tgtEl>
                                      </p:cBhvr>
                                      <p:by x="112000" y="112000"/>
                                    </p:animScale>
                                  </p:childTnLst>
                                </p:cTn>
                              </p:par>
                              <p:par>
                                <p:cTn id="84" presetID="53" presetClass="entr" presetSubtype="16" fill="hold" nodeType="withEffect">
                                  <p:stCondLst>
                                    <p:cond delay="3400"/>
                                  </p:stCondLst>
                                  <p:childTnLst>
                                    <p:set>
                                      <p:cBhvr>
                                        <p:cTn id="85" dur="1" fill="hold">
                                          <p:stCondLst>
                                            <p:cond delay="0"/>
                                          </p:stCondLst>
                                        </p:cTn>
                                        <p:tgtEl>
                                          <p:spTgt spid="21"/>
                                        </p:tgtEl>
                                        <p:attrNameLst>
                                          <p:attrName>style.visibility</p:attrName>
                                        </p:attrNameLst>
                                      </p:cBhvr>
                                      <p:to>
                                        <p:strVal val="visible"/>
                                      </p:to>
                                    </p:set>
                                    <p:anim calcmode="lin" valueType="num">
                                      <p:cBhvr>
                                        <p:cTn id="86" dur="400" fill="hold"/>
                                        <p:tgtEl>
                                          <p:spTgt spid="21"/>
                                        </p:tgtEl>
                                        <p:attrNameLst>
                                          <p:attrName>ppt_w</p:attrName>
                                        </p:attrNameLst>
                                      </p:cBhvr>
                                      <p:tavLst>
                                        <p:tav tm="0">
                                          <p:val>
                                            <p:fltVal val="0"/>
                                          </p:val>
                                        </p:tav>
                                        <p:tav tm="100000">
                                          <p:val>
                                            <p:strVal val="#ppt_w"/>
                                          </p:val>
                                        </p:tav>
                                      </p:tavLst>
                                    </p:anim>
                                    <p:anim calcmode="lin" valueType="num">
                                      <p:cBhvr>
                                        <p:cTn id="87" dur="400" fill="hold"/>
                                        <p:tgtEl>
                                          <p:spTgt spid="21"/>
                                        </p:tgtEl>
                                        <p:attrNameLst>
                                          <p:attrName>ppt_h</p:attrName>
                                        </p:attrNameLst>
                                      </p:cBhvr>
                                      <p:tavLst>
                                        <p:tav tm="0">
                                          <p:val>
                                            <p:fltVal val="0"/>
                                          </p:val>
                                        </p:tav>
                                        <p:tav tm="100000">
                                          <p:val>
                                            <p:strVal val="#ppt_h"/>
                                          </p:val>
                                        </p:tav>
                                      </p:tavLst>
                                    </p:anim>
                                    <p:animEffect transition="in" filter="fade">
                                      <p:cBhvr>
                                        <p:cTn id="88" dur="400"/>
                                        <p:tgtEl>
                                          <p:spTgt spid="21"/>
                                        </p:tgtEl>
                                      </p:cBhvr>
                                    </p:animEffect>
                                  </p:childTnLst>
                                </p:cTn>
                              </p:par>
                              <p:par>
                                <p:cTn id="89" presetID="53" presetClass="entr" presetSubtype="16" fill="hold" nodeType="withEffect">
                                  <p:stCondLst>
                                    <p:cond delay="3450"/>
                                  </p:stCondLst>
                                  <p:childTnLst>
                                    <p:set>
                                      <p:cBhvr>
                                        <p:cTn id="90" dur="1" fill="hold">
                                          <p:stCondLst>
                                            <p:cond delay="0"/>
                                          </p:stCondLst>
                                        </p:cTn>
                                        <p:tgtEl>
                                          <p:spTgt spid="22"/>
                                        </p:tgtEl>
                                        <p:attrNameLst>
                                          <p:attrName>style.visibility</p:attrName>
                                        </p:attrNameLst>
                                      </p:cBhvr>
                                      <p:to>
                                        <p:strVal val="visible"/>
                                      </p:to>
                                    </p:set>
                                    <p:anim calcmode="lin" valueType="num">
                                      <p:cBhvr>
                                        <p:cTn id="91" dur="400" fill="hold"/>
                                        <p:tgtEl>
                                          <p:spTgt spid="22"/>
                                        </p:tgtEl>
                                        <p:attrNameLst>
                                          <p:attrName>ppt_w</p:attrName>
                                        </p:attrNameLst>
                                      </p:cBhvr>
                                      <p:tavLst>
                                        <p:tav tm="0">
                                          <p:val>
                                            <p:fltVal val="0"/>
                                          </p:val>
                                        </p:tav>
                                        <p:tav tm="100000">
                                          <p:val>
                                            <p:strVal val="#ppt_w"/>
                                          </p:val>
                                        </p:tav>
                                      </p:tavLst>
                                    </p:anim>
                                    <p:anim calcmode="lin" valueType="num">
                                      <p:cBhvr>
                                        <p:cTn id="92" dur="400" fill="hold"/>
                                        <p:tgtEl>
                                          <p:spTgt spid="22"/>
                                        </p:tgtEl>
                                        <p:attrNameLst>
                                          <p:attrName>ppt_h</p:attrName>
                                        </p:attrNameLst>
                                      </p:cBhvr>
                                      <p:tavLst>
                                        <p:tav tm="0">
                                          <p:val>
                                            <p:fltVal val="0"/>
                                          </p:val>
                                        </p:tav>
                                        <p:tav tm="100000">
                                          <p:val>
                                            <p:strVal val="#ppt_h"/>
                                          </p:val>
                                        </p:tav>
                                      </p:tavLst>
                                    </p:anim>
                                    <p:animEffect transition="in" filter="fade">
                                      <p:cBhvr>
                                        <p:cTn id="93" dur="400"/>
                                        <p:tgtEl>
                                          <p:spTgt spid="22"/>
                                        </p:tgtEl>
                                      </p:cBhvr>
                                    </p:animEffect>
                                  </p:childTnLst>
                                </p:cTn>
                              </p:par>
                              <p:par>
                                <p:cTn id="94" presetID="2" presetClass="entr" presetSubtype="4" fill="hold" nodeType="withEffect">
                                  <p:stCondLst>
                                    <p:cond delay="3600"/>
                                  </p:stCondLst>
                                  <p:childTnLst>
                                    <p:set>
                                      <p:cBhvr>
                                        <p:cTn id="95" dur="1" fill="hold">
                                          <p:stCondLst>
                                            <p:cond delay="0"/>
                                          </p:stCondLst>
                                        </p:cTn>
                                        <p:tgtEl>
                                          <p:spTgt spid="23"/>
                                        </p:tgtEl>
                                        <p:attrNameLst>
                                          <p:attrName>style.visibility</p:attrName>
                                        </p:attrNameLst>
                                      </p:cBhvr>
                                      <p:to>
                                        <p:strVal val="visible"/>
                                      </p:to>
                                    </p:set>
                                    <p:anim calcmode="lin" valueType="num">
                                      <p:cBhvr additive="base">
                                        <p:cTn id="96" dur="500" fill="hold"/>
                                        <p:tgtEl>
                                          <p:spTgt spid="23"/>
                                        </p:tgtEl>
                                        <p:attrNameLst>
                                          <p:attrName>ppt_x</p:attrName>
                                        </p:attrNameLst>
                                      </p:cBhvr>
                                      <p:tavLst>
                                        <p:tav tm="0">
                                          <p:val>
                                            <p:strVal val="#ppt_x"/>
                                          </p:val>
                                        </p:tav>
                                        <p:tav tm="100000">
                                          <p:val>
                                            <p:strVal val="#ppt_x"/>
                                          </p:val>
                                        </p:tav>
                                      </p:tavLst>
                                    </p:anim>
                                    <p:anim calcmode="lin" valueType="num">
                                      <p:cBhvr additive="base">
                                        <p:cTn id="97" dur="500" fill="hold"/>
                                        <p:tgtEl>
                                          <p:spTgt spid="23"/>
                                        </p:tgtEl>
                                        <p:attrNameLst>
                                          <p:attrName>ppt_y</p:attrName>
                                        </p:attrNameLst>
                                      </p:cBhvr>
                                      <p:tavLst>
                                        <p:tav tm="0">
                                          <p:val>
                                            <p:strVal val="1+#ppt_h/2"/>
                                          </p:val>
                                        </p:tav>
                                        <p:tav tm="100000">
                                          <p:val>
                                            <p:strVal val="#ppt_y"/>
                                          </p:val>
                                        </p:tav>
                                      </p:tavLst>
                                    </p:anim>
                                  </p:childTnLst>
                                </p:cTn>
                              </p:par>
                              <p:par>
                                <p:cTn id="98" presetID="10" presetClass="entr" presetSubtype="0" fill="hold" nodeType="withEffect">
                                  <p:stCondLst>
                                    <p:cond delay="370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400"/>
                                        <p:tgtEl>
                                          <p:spTgt spid="24"/>
                                        </p:tgtEl>
                                      </p:cBhvr>
                                    </p:animEffect>
                                  </p:childTnLst>
                                </p:cTn>
                              </p:par>
                              <p:par>
                                <p:cTn id="101" presetID="10" presetClass="entr" presetSubtype="0" fill="hold" nodeType="withEffect">
                                  <p:stCondLst>
                                    <p:cond delay="3800"/>
                                  </p:stCondLst>
                                  <p:childTnLst>
                                    <p:set>
                                      <p:cBhvr>
                                        <p:cTn id="102" dur="1" fill="hold">
                                          <p:stCondLst>
                                            <p:cond delay="0"/>
                                          </p:stCondLst>
                                        </p:cTn>
                                        <p:tgtEl>
                                          <p:spTgt spid="25"/>
                                        </p:tgtEl>
                                        <p:attrNameLst>
                                          <p:attrName>style.visibility</p:attrName>
                                        </p:attrNameLst>
                                      </p:cBhvr>
                                      <p:to>
                                        <p:strVal val="visible"/>
                                      </p:to>
                                    </p:set>
                                    <p:animEffect transition="in" filter="fade">
                                      <p:cBhvr>
                                        <p:cTn id="103" dur="300"/>
                                        <p:tgtEl>
                                          <p:spTgt spid="25"/>
                                        </p:tgtEl>
                                      </p:cBhvr>
                                    </p:animEffect>
                                  </p:childTnLst>
                                </p:cTn>
                              </p:par>
                              <p:par>
                                <p:cTn id="104" presetID="26" presetClass="emph" presetSubtype="0" repeatCount="indefinite" fill="hold" nodeType="withEffect">
                                  <p:stCondLst>
                                    <p:cond delay="4000"/>
                                  </p:stCondLst>
                                  <p:childTnLst>
                                    <p:animScale>
                                      <p:cBhvr>
                                        <p:cTn id="105" dur="700" autoRev="1" fill="hold"/>
                                        <p:tgtEl>
                                          <p:spTgt spid="21"/>
                                        </p:tgtEl>
                                      </p:cBhvr>
                                      <p:by x="112000" y="112000"/>
                                    </p:animScale>
                                  </p:childTnLst>
                                </p:cTn>
                              </p:par>
                              <p:par>
                                <p:cTn id="106" presetID="0" presetClass="path" presetSubtype="0" repeatCount="indefinite" fill="hold" nodeType="withEffect">
                                  <p:stCondLst>
                                    <p:cond delay="4200"/>
                                  </p:stCondLst>
                                  <p:childTnLst>
                                    <p:animMotion origin="layout" path="M 0 0 L 0.74400 0.00000 E" pathEditMode="relative" rAng="0" ptsTypes="AA">
                                      <p:cBhvr>
                                        <p:cTn id="107" dur="3600" fill="hold"/>
                                        <p:tgtEl>
                                          <p:spTgt spid="25"/>
                                        </p:tgtEl>
                                        <p:attrNameLst>
                                          <p:attrName>ppt_x</p:attrName>
                                          <p:attrName>ppt_y</p:attrName>
                                        </p:attrNameLst>
                                      </p:cBhvr>
                                      <p:rCtr x="0.37200" y="0.000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glow"/>
          <p:cNvSpPr/>
          <p:nvPr/>
        </p:nvSpPr>
        <p:spPr>
          <a:xfrm>
            <a:off x="7498080" y="822960"/>
            <a:ext cx="4937760" cy="4937760"/>
          </a:xfrm>
          <a:prstGeom prst="ellipse">
            <a:avLst/>
          </a:prstGeom>
          <a:solidFill>
            <a:schemeClr val="accent1">
              <a:alpha val="10000"/>
            </a:schemeClr>
          </a:solidFill>
          <a:ln w="12700">
            <a:solidFill>
              <a:schemeClr val="accent1">
                <a:alpha val="0"/>
              </a:schemeClr>
            </a:solidFill>
            <a:prstDash val="solid"/>
          </a:ln>
        </p:spPr>
      </p:sp>
      <p:sp>
        <p:nvSpPr>
          <p:cNvPr id="4" name="ring"/>
          <p:cNvSpPr/>
          <p:nvPr/>
        </p:nvSpPr>
        <p:spPr>
          <a:xfrm>
            <a:off x="7726680" y="1051560"/>
            <a:ext cx="4480560" cy="4480560"/>
          </a:xfrm>
          <a:prstGeom prst="ellipse">
            <a:avLst/>
          </a:prstGeom>
          <a:solidFill>
            <a:schemeClr val="tx1">
              <a:alpha val="0"/>
            </a:schemeClr>
          </a:solidFill>
          <a:ln w="15875">
            <a:solidFill>
              <a:schemeClr val="accent2">
                <a:alpha val="65000"/>
              </a:schemeClr>
            </a:solidFill>
            <a:prstDash val="dash"/>
          </a:ln>
        </p:spPr>
      </p:sp>
      <p:sp>
        <p:nvSpPr>
          <p:cNvPr id="5" name="orb"/>
          <p:cNvSpPr/>
          <p:nvPr/>
        </p:nvSpPr>
        <p:spPr>
          <a:xfrm>
            <a:off x="9848088" y="932688"/>
            <a:ext cx="237744" cy="237744"/>
          </a:xfrm>
          <a:prstGeom prst="ellipse">
            <a:avLst/>
          </a:prstGeom>
          <a:solidFill>
            <a:schemeClr val="accent2"/>
          </a:solidFill>
          <a:ln w="12700">
            <a:solidFill>
              <a:schemeClr val="accent2"/>
            </a:solidFill>
            <a:prstDash val="solid"/>
          </a:ln>
        </p:spPr>
      </p:sp>
      <p:sp>
        <p:nvSpPr>
          <p:cNvPr id="6" name="text_17_1"/>
          <p:cNvSpPr txBox="1"/>
          <p:nvPr/>
        </p:nvSpPr>
        <p:spPr>
          <a:xfrm>
            <a:off x="7726680" y="2651760"/>
            <a:ext cx="4480560" cy="1097280"/>
          </a:xfrm>
          <a:prstGeom prst="rect">
            <a:avLst/>
          </a:prstGeom>
          <a:noFill/>
          <a:ln/>
        </p:spPr>
        <p:txBody>
          <a:bodyPr wrap="square" lIns="0" tIns="0" rIns="0" bIns="0" rtlCol="0" anchor="ctr"/>
          <a:lstStyle/>
          <a:p>
            <a:pPr algn="ctr" indent="0" marL="0">
              <a:buNone/>
            </a:pPr>
            <a:r>
              <a:rPr lang="en-US" sz="4400" b="1" dirty="0">
                <a:solidFill>
                  <a:schemeClr val="bg1"/>
                </a:solidFill>
                <a:latin typeface="Cambria" pitchFamily="34" charset="0"/>
                <a:ea typeface="Cambria" pitchFamily="34" charset="-122"/>
                <a:cs typeface="Cambria" pitchFamily="34" charset="-120"/>
              </a:rPr>
              <a:t>Questions?</a:t>
            </a:r>
            <a:endParaRPr lang="en-US" sz="4400" dirty="0"/>
          </a:p>
        </p:txBody>
      </p:sp>
      <p:sp>
        <p:nvSpPr>
          <p:cNvPr id="7" name="text_17_2"/>
          <p:cNvSpPr txBox="1"/>
          <p:nvPr/>
        </p:nvSpPr>
        <p:spPr>
          <a:xfrm>
            <a:off x="7726680" y="3749040"/>
            <a:ext cx="4480560" cy="365760"/>
          </a:xfrm>
          <a:prstGeom prst="rect">
            <a:avLst/>
          </a:prstGeom>
          <a:noFill/>
          <a:ln/>
        </p:spPr>
        <p:txBody>
          <a:bodyPr wrap="square" lIns="0" tIns="0" rIns="0" bIns="0" rtlCol="0" anchor="ctr"/>
          <a:lstStyle/>
          <a:p>
            <a:pPr algn="ctr" indent="0" marL="0">
              <a:buNone/>
            </a:pPr>
            <a:r>
              <a:rPr lang="en-US" sz="1400" dirty="0">
                <a:solidFill>
                  <a:schemeClr val="accent1"/>
                </a:solidFill>
              </a:rPr>
              <a:t>github.com/MTahaFarrukh/arm-insight-kbs</a:t>
            </a:r>
            <a:endParaRPr lang="en-US" sz="1400" dirty="0"/>
          </a:p>
        </p:txBody>
      </p:sp>
      <p:sp>
        <p:nvSpPr>
          <p:cNvPr id="8" name="text_17_3"/>
          <p:cNvSpPr txBox="1"/>
          <p:nvPr/>
        </p:nvSpPr>
        <p:spPr>
          <a:xfrm>
            <a:off x="640080" y="685800"/>
            <a:ext cx="6400800"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Conclusion</a:t>
            </a:r>
            <a:endParaRPr lang="en-US" sz="1400" dirty="0"/>
          </a:p>
        </p:txBody>
      </p:sp>
      <p:sp>
        <p:nvSpPr>
          <p:cNvPr id="9" name="text_17_4"/>
          <p:cNvSpPr txBox="1"/>
          <p:nvPr/>
        </p:nvSpPr>
        <p:spPr>
          <a:xfrm>
            <a:off x="640080" y="1097280"/>
            <a:ext cx="6492240" cy="1463040"/>
          </a:xfrm>
          <a:prstGeom prst="rect">
            <a:avLst/>
          </a:prstGeom>
          <a:noFill/>
          <a:ln/>
        </p:spPr>
        <p:txBody>
          <a:bodyPr wrap="square" lIns="0" tIns="0" rIns="0" bIns="0" rtlCol="0" anchor="t"/>
          <a:lstStyle/>
          <a:p>
            <a:pPr indent="0" marL="0">
              <a:buNone/>
            </a:pPr>
            <a:r>
              <a:rPr lang="en-US" sz="3800" b="1" dirty="0">
                <a:solidFill>
                  <a:schemeClr val="bg1"/>
                </a:solidFill>
                <a:latin typeface="Cambria" pitchFamily="34" charset="0"/>
                <a:ea typeface="Cambria" pitchFamily="34" charset="-122"/>
                <a:cs typeface="Cambria" pitchFamily="34" charset="-120"/>
              </a:rPr>
              <a:t>Transparent diagnosis beats a black box</a:t>
            </a:r>
            <a:endParaRPr lang="en-US" sz="3800" dirty="0"/>
          </a:p>
        </p:txBody>
      </p:sp>
      <p:sp>
        <p:nvSpPr>
          <p:cNvPr id="10" name="shape_17_5"/>
          <p:cNvSpPr/>
          <p:nvPr/>
        </p:nvSpPr>
        <p:spPr>
          <a:xfrm>
            <a:off x="640080" y="2926080"/>
            <a:ext cx="6400800" cy="868680"/>
          </a:xfrm>
          <a:prstGeom prst="roundRect">
            <a:avLst>
              <a:gd name="adj" fmla="val 12632"/>
            </a:avLst>
          </a:prstGeom>
          <a:solidFill>
            <a:schemeClr val="bg1">
              <a:alpha val="9000"/>
            </a:schemeClr>
          </a:solidFill>
          <a:ln w="12700">
            <a:solidFill>
              <a:srgbClr val="FFFFFF">
                <a:alpha val="0"/>
              </a:srgbClr>
            </a:solidFill>
            <a:prstDash val="solid"/>
          </a:ln>
        </p:spPr>
      </p:sp>
      <p:sp>
        <p:nvSpPr>
          <p:cNvPr id="11" name="text_17_6"/>
          <p:cNvSpPr txBox="1"/>
          <p:nvPr/>
        </p:nvSpPr>
        <p:spPr>
          <a:xfrm>
            <a:off x="868680" y="2926080"/>
            <a:ext cx="1188720" cy="86868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CLO 1</a:t>
            </a:r>
            <a:endParaRPr lang="en-US" sz="2000" dirty="0"/>
          </a:p>
        </p:txBody>
      </p:sp>
      <p:sp>
        <p:nvSpPr>
          <p:cNvPr id="12" name="text_17_7"/>
          <p:cNvSpPr txBox="1"/>
          <p:nvPr/>
        </p:nvSpPr>
        <p:spPr>
          <a:xfrm>
            <a:off x="2103120" y="2926080"/>
            <a:ext cx="4754880" cy="868680"/>
          </a:xfrm>
          <a:prstGeom prst="rect">
            <a:avLst/>
          </a:prstGeom>
          <a:noFill/>
          <a:ln/>
        </p:spPr>
        <p:txBody>
          <a:bodyPr wrap="square" lIns="0" tIns="0" rIns="0" bIns="0" rtlCol="0" anchor="ctr"/>
          <a:lstStyle/>
          <a:p>
            <a:pPr indent="0" marL="0">
              <a:buNone/>
            </a:pPr>
            <a:r>
              <a:rPr lang="en-US" sz="1600" dirty="0">
                <a:solidFill>
                  <a:schemeClr val="bg1"/>
                </a:solidFill>
              </a:rPr>
              <a:t>Frames + rules represent equipment knowledge</a:t>
            </a:r>
            <a:endParaRPr lang="en-US" sz="1600" dirty="0"/>
          </a:p>
        </p:txBody>
      </p:sp>
      <p:sp>
        <p:nvSpPr>
          <p:cNvPr id="13" name="shape_17_8"/>
          <p:cNvSpPr/>
          <p:nvPr/>
        </p:nvSpPr>
        <p:spPr>
          <a:xfrm>
            <a:off x="640080" y="3977640"/>
            <a:ext cx="6400800" cy="868680"/>
          </a:xfrm>
          <a:prstGeom prst="roundRect">
            <a:avLst>
              <a:gd name="adj" fmla="val 12632"/>
            </a:avLst>
          </a:prstGeom>
          <a:solidFill>
            <a:schemeClr val="bg1">
              <a:alpha val="9000"/>
            </a:schemeClr>
          </a:solidFill>
          <a:ln w="12700">
            <a:solidFill>
              <a:srgbClr val="FFFFFF">
                <a:alpha val="0"/>
              </a:srgbClr>
            </a:solidFill>
            <a:prstDash val="solid"/>
          </a:ln>
        </p:spPr>
      </p:sp>
      <p:sp>
        <p:nvSpPr>
          <p:cNvPr id="14" name="text_17_9"/>
          <p:cNvSpPr txBox="1"/>
          <p:nvPr/>
        </p:nvSpPr>
        <p:spPr>
          <a:xfrm>
            <a:off x="868680" y="3977640"/>
            <a:ext cx="1188720" cy="86868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CLO 2</a:t>
            </a:r>
            <a:endParaRPr lang="en-US" sz="2000" dirty="0"/>
          </a:p>
        </p:txBody>
      </p:sp>
      <p:sp>
        <p:nvSpPr>
          <p:cNvPr id="15" name="text_17_10"/>
          <p:cNvSpPr txBox="1"/>
          <p:nvPr/>
        </p:nvSpPr>
        <p:spPr>
          <a:xfrm>
            <a:off x="2103120" y="3977640"/>
            <a:ext cx="4754880" cy="868680"/>
          </a:xfrm>
          <a:prstGeom prst="rect">
            <a:avLst/>
          </a:prstGeom>
          <a:noFill/>
          <a:ln/>
        </p:spPr>
        <p:txBody>
          <a:bodyPr wrap="square" lIns="0" tIns="0" rIns="0" bIns="0" rtlCol="0" anchor="ctr"/>
          <a:lstStyle/>
          <a:p>
            <a:pPr indent="0" marL="0">
              <a:buNone/>
            </a:pPr>
            <a:r>
              <a:rPr lang="en-US" sz="1600" dirty="0">
                <a:solidFill>
                  <a:schemeClr val="bg1"/>
                </a:solidFill>
              </a:rPr>
              <a:t>Incomplete, conflicting needs analysed and resolved</a:t>
            </a:r>
            <a:endParaRPr lang="en-US" sz="1600" dirty="0"/>
          </a:p>
        </p:txBody>
      </p:sp>
      <p:sp>
        <p:nvSpPr>
          <p:cNvPr id="16" name="shape_17_11"/>
          <p:cNvSpPr/>
          <p:nvPr/>
        </p:nvSpPr>
        <p:spPr>
          <a:xfrm>
            <a:off x="640080" y="5029200"/>
            <a:ext cx="6400800" cy="868680"/>
          </a:xfrm>
          <a:prstGeom prst="roundRect">
            <a:avLst>
              <a:gd name="adj" fmla="val 12632"/>
            </a:avLst>
          </a:prstGeom>
          <a:solidFill>
            <a:schemeClr val="bg1">
              <a:alpha val="9000"/>
            </a:schemeClr>
          </a:solidFill>
          <a:ln w="12700">
            <a:solidFill>
              <a:srgbClr val="FFFFFF">
                <a:alpha val="0"/>
              </a:srgbClr>
            </a:solidFill>
            <a:prstDash val="solid"/>
          </a:ln>
        </p:spPr>
      </p:sp>
      <p:sp>
        <p:nvSpPr>
          <p:cNvPr id="17" name="text_17_12"/>
          <p:cNvSpPr txBox="1"/>
          <p:nvPr/>
        </p:nvSpPr>
        <p:spPr>
          <a:xfrm>
            <a:off x="868680" y="5029200"/>
            <a:ext cx="1188720" cy="86868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CLO 3</a:t>
            </a:r>
            <a:endParaRPr lang="en-US" sz="2000" dirty="0"/>
          </a:p>
        </p:txBody>
      </p:sp>
      <p:sp>
        <p:nvSpPr>
          <p:cNvPr id="18" name="text_17_13"/>
          <p:cNvSpPr txBox="1"/>
          <p:nvPr/>
        </p:nvSpPr>
        <p:spPr>
          <a:xfrm>
            <a:off x="2103120" y="5029200"/>
            <a:ext cx="4754880" cy="868680"/>
          </a:xfrm>
          <a:prstGeom prst="rect">
            <a:avLst/>
          </a:prstGeom>
          <a:noFill/>
          <a:ln/>
        </p:spPr>
        <p:txBody>
          <a:bodyPr wrap="square" lIns="0" tIns="0" rIns="0" bIns="0" rtlCol="0" anchor="ctr"/>
          <a:lstStyle/>
          <a:p>
            <a:pPr indent="0" marL="0">
              <a:buNone/>
            </a:pPr>
            <a:r>
              <a:rPr lang="en-US" sz="1600" dirty="0">
                <a:solidFill>
                  <a:schemeClr val="bg1"/>
                </a:solidFill>
              </a:rPr>
              <a:t>Forward chaining justified on explainability and safety</a:t>
            </a:r>
            <a:endParaRPr lang="en-US" sz="1600" dirty="0"/>
          </a:p>
        </p:txBody>
      </p:sp>
      <p:sp>
        <p:nvSpPr>
          <p:cNvPr id="19" name="text_17_14"/>
          <p:cNvSpPr txBox="1"/>
          <p:nvPr/>
        </p:nvSpPr>
        <p:spPr>
          <a:xfrm>
            <a:off x="640080" y="6172200"/>
            <a:ext cx="10058400" cy="365760"/>
          </a:xfrm>
          <a:prstGeom prst="rect">
            <a:avLst/>
          </a:prstGeom>
          <a:noFill/>
          <a:ln/>
        </p:spPr>
        <p:txBody>
          <a:bodyPr wrap="square" lIns="0" tIns="0" rIns="0" bIns="0" rtlCol="0" anchor="ctr"/>
          <a:lstStyle/>
          <a:p>
            <a:pPr indent="0" marL="0">
              <a:buNone/>
            </a:pPr>
            <a:r>
              <a:rPr lang="en-US" sz="1300" i="1" dirty="0">
                <a:solidFill>
                  <a:srgbClr val="A9BCCF"/>
                </a:solidFill>
              </a:rPr>
              <a:t>Real deployment needs model-specific knowledge acquisition and independent validation.</a:t>
            </a:r>
            <a:endParaRPr lang="en-US" sz="1300" dirty="0"/>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10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10" presetClass="entr" presetSubtype="0" fill="hold" nodeType="withEffect">
                                  <p:stCondLst>
                                    <p:cond delay="2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800"/>
                                        <p:tgtEl>
                                          <p:spTgt spid="3"/>
                                        </p:tgtEl>
                                      </p:cBhvr>
                                    </p:animEffect>
                                  </p:childTnLst>
                                </p:cTn>
                              </p:par>
                              <p:par>
                                <p:cTn id="11" presetID="10" presetClass="entr" presetSubtype="0" fill="hold" nodeType="withEffect">
                                  <p:stCondLst>
                                    <p:cond delay="3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800"/>
                                        <p:tgtEl>
                                          <p:spTgt spid="4"/>
                                        </p:tgtEl>
                                      </p:cBhvr>
                                    </p:animEffect>
                                  </p:childTnLst>
                                </p:cTn>
                              </p:par>
                              <p:par>
                                <p:cTn id="14" presetID="22" presetClass="entr" presetSubtype="8" fill="hold" nodeType="withEffect">
                                  <p:stCondLst>
                                    <p:cond delay="30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700"/>
                                        <p:tgtEl>
                                          <p:spTgt spid="9"/>
                                        </p:tgtEl>
                                      </p:cBhvr>
                                    </p:animEffect>
                                  </p:childTnLst>
                                </p:cTn>
                              </p:par>
                              <p:par>
                                <p:cTn id="17" presetID="10" presetClass="entr" presetSubtype="0" fill="hold" nodeType="withEffect">
                                  <p:stCondLst>
                                    <p:cond delay="80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300"/>
                                        <p:tgtEl>
                                          <p:spTgt spid="5"/>
                                        </p:tgtEl>
                                      </p:cBhvr>
                                    </p:animEffect>
                                  </p:childTnLst>
                                </p:cTn>
                              </p:par>
                              <p:par>
                                <p:cTn id="20" presetID="53" presetClass="entr" presetSubtype="16" fill="hold" nodeType="withEffect">
                                  <p:stCondLst>
                                    <p:cond delay="900"/>
                                  </p:stCondLst>
                                  <p:childTnLst>
                                    <p:set>
                                      <p:cBhvr>
                                        <p:cTn id="21" dur="1" fill="hold">
                                          <p:stCondLst>
                                            <p:cond delay="0"/>
                                          </p:stCondLst>
                                        </p:cTn>
                                        <p:tgtEl>
                                          <p:spTgt spid="6"/>
                                        </p:tgtEl>
                                        <p:attrNameLst>
                                          <p:attrName>style.visibility</p:attrName>
                                        </p:attrNameLst>
                                      </p:cBhvr>
                                      <p:to>
                                        <p:strVal val="visible"/>
                                      </p:to>
                                    </p:set>
                                    <p:anim calcmode="lin" valueType="num">
                                      <p:cBhvr>
                                        <p:cTn id="22" dur="700" fill="hold"/>
                                        <p:tgtEl>
                                          <p:spTgt spid="6"/>
                                        </p:tgtEl>
                                        <p:attrNameLst>
                                          <p:attrName>ppt_w</p:attrName>
                                        </p:attrNameLst>
                                      </p:cBhvr>
                                      <p:tavLst>
                                        <p:tav tm="0">
                                          <p:val>
                                            <p:fltVal val="0"/>
                                          </p:val>
                                        </p:tav>
                                        <p:tav tm="100000">
                                          <p:val>
                                            <p:strVal val="#ppt_w"/>
                                          </p:val>
                                        </p:tav>
                                      </p:tavLst>
                                    </p:anim>
                                    <p:anim calcmode="lin" valueType="num">
                                      <p:cBhvr>
                                        <p:cTn id="23" dur="700" fill="hold"/>
                                        <p:tgtEl>
                                          <p:spTgt spid="6"/>
                                        </p:tgtEl>
                                        <p:attrNameLst>
                                          <p:attrName>ppt_h</p:attrName>
                                        </p:attrNameLst>
                                      </p:cBhvr>
                                      <p:tavLst>
                                        <p:tav tm="0">
                                          <p:val>
                                            <p:fltVal val="0"/>
                                          </p:val>
                                        </p:tav>
                                        <p:tav tm="100000">
                                          <p:val>
                                            <p:strVal val="#ppt_h"/>
                                          </p:val>
                                        </p:tav>
                                      </p:tavLst>
                                    </p:anim>
                                    <p:animEffect transition="in" filter="fade">
                                      <p:cBhvr>
                                        <p:cTn id="24" dur="700"/>
                                        <p:tgtEl>
                                          <p:spTgt spid="6"/>
                                        </p:tgtEl>
                                      </p:cBhvr>
                                    </p:animEffect>
                                  </p:childTnLst>
                                </p:cTn>
                              </p:par>
                              <p:par>
                                <p:cTn id="25" presetID="2" presetClass="entr" presetSubtype="4" fill="hold" nodeType="withEffect">
                                  <p:stCondLst>
                                    <p:cond delay="90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par>
                                <p:cTn id="29" presetID="26" presetClass="emph" presetSubtype="0" repeatCount="indefinite" fill="hold" nodeType="withEffect">
                                  <p:stCondLst>
                                    <p:cond delay="1000"/>
                                  </p:stCondLst>
                                  <p:childTnLst>
                                    <p:animScale>
                                      <p:cBhvr>
                                        <p:cTn id="30" dur="1300" autoRev="1" fill="hold"/>
                                        <p:tgtEl>
                                          <p:spTgt spid="3"/>
                                        </p:tgtEl>
                                      </p:cBhvr>
                                      <p:by x="106000" y="106000"/>
                                    </p:animScale>
                                  </p:childTnLst>
                                </p:cTn>
                              </p:par>
                              <p:par>
                                <p:cTn id="31" presetID="8" presetClass="emph" presetSubtype="0" repeatCount="indefinite" fill="hold" nodeType="withEffect">
                                  <p:stCondLst>
                                    <p:cond delay="1000"/>
                                  </p:stCondLst>
                                  <p:childTnLst>
                                    <p:animRot by="21600000">
                                      <p:cBhvr>
                                        <p:cTn id="32" dur="30000" fill="hold"/>
                                        <p:tgtEl>
                                          <p:spTgt spid="4"/>
                                        </p:tgtEl>
                                        <p:attrNameLst>
                                          <p:attrName>r</p:attrName>
                                        </p:attrNameLst>
                                      </p:cBhvr>
                                    </p:animRot>
                                  </p:childTnLst>
                                </p:cTn>
                              </p:par>
                              <p:par>
                                <p:cTn id="33" presetID="10" presetClass="entr" presetSubtype="0" fill="hold" nodeType="withEffect">
                                  <p:stCondLst>
                                    <p:cond delay="100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400"/>
                                        <p:tgtEl>
                                          <p:spTgt spid="11"/>
                                        </p:tgtEl>
                                      </p:cBhvr>
                                    </p:animEffect>
                                  </p:childTnLst>
                                </p:cTn>
                              </p:par>
                              <p:par>
                                <p:cTn id="36" presetID="10" presetClass="entr" presetSubtype="0" fill="hold" nodeType="withEffect">
                                  <p:stCondLst>
                                    <p:cond delay="105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400"/>
                                        <p:tgtEl>
                                          <p:spTgt spid="12"/>
                                        </p:tgtEl>
                                      </p:cBhvr>
                                    </p:animEffect>
                                  </p:childTnLst>
                                </p:cTn>
                              </p:par>
                              <p:par>
                                <p:cTn id="39" presetID="0" presetClass="path" presetSubtype="0" repeatCount="indefinite" fill="hold" nodeType="withEffect">
                                  <p:stCondLst>
                                    <p:cond delay="1200"/>
                                  </p:stCondLst>
                                  <p:childTnLst>
                                    <p:animMotion origin="layout" path="M 0 0 C 0.10149 0.00000 0.18375 0.14625 0.18375 0.32667 C 0.18375 0.50708 0.10149 0.65333 0.00000 0.65333 C -0.10149 0.65333 -0.18375 0.50708 -0.18375 0.32667 C -0.18375 0.14625 -0.10149 0.00000 0.00000 0.00000 E" pathEditMode="relative" rAng="0">
                                      <p:cBhvr>
                                        <p:cTn id="40" dur="8000" fill="hold"/>
                                        <p:tgtEl>
                                          <p:spTgt spid="5"/>
                                        </p:tgtEl>
                                        <p:attrNameLst>
                                          <p:attrName>ppt_x</p:attrName>
                                          <p:attrName>ppt_y</p:attrName>
                                        </p:attrNameLst>
                                      </p:cBhvr>
                                    </p:animMotion>
                                  </p:childTnLst>
                                </p:cTn>
                              </p:par>
                              <p:par>
                                <p:cTn id="41" presetID="2" presetClass="entr" presetSubtype="4" fill="hold" nodeType="withEffect">
                                  <p:stCondLst>
                                    <p:cond delay="130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ppt_x</p:attrName>
                                        </p:attrNameLst>
                                      </p:cBhvr>
                                      <p:tavLst>
                                        <p:tav tm="0">
                                          <p:val>
                                            <p:strVal val="#ppt_x"/>
                                          </p:val>
                                        </p:tav>
                                        <p:tav tm="100000">
                                          <p:val>
                                            <p:strVal val="#ppt_x"/>
                                          </p:val>
                                        </p:tav>
                                      </p:tavLst>
                                    </p:anim>
                                    <p:anim calcmode="lin" valueType="num">
                                      <p:cBhvr additive="base">
                                        <p:cTn id="44" dur="500" fill="hold"/>
                                        <p:tgtEl>
                                          <p:spTgt spid="13"/>
                                        </p:tgtEl>
                                        <p:attrNameLst>
                                          <p:attrName>ppt_y</p:attrName>
                                        </p:attrNameLst>
                                      </p:cBhvr>
                                      <p:tavLst>
                                        <p:tav tm="0">
                                          <p:val>
                                            <p:strVal val="1+#ppt_h/2"/>
                                          </p:val>
                                        </p:tav>
                                        <p:tav tm="100000">
                                          <p:val>
                                            <p:strVal val="#ppt_y"/>
                                          </p:val>
                                        </p:tav>
                                      </p:tavLst>
                                    </p:anim>
                                  </p:childTnLst>
                                </p:cTn>
                              </p:par>
                              <p:par>
                                <p:cTn id="45" presetID="10" presetClass="entr" presetSubtype="0" fill="hold" nodeType="withEffect">
                                  <p:stCondLst>
                                    <p:cond delay="140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400"/>
                                        <p:tgtEl>
                                          <p:spTgt spid="14"/>
                                        </p:tgtEl>
                                      </p:cBhvr>
                                    </p:animEffect>
                                  </p:childTnLst>
                                </p:cTn>
                              </p:par>
                              <p:par>
                                <p:cTn id="48" presetID="10" presetClass="entr" presetSubtype="0" fill="hold" nodeType="withEffect">
                                  <p:stCondLst>
                                    <p:cond delay="145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400"/>
                                        <p:tgtEl>
                                          <p:spTgt spid="15"/>
                                        </p:tgtEl>
                                      </p:cBhvr>
                                    </p:animEffect>
                                  </p:childTnLst>
                                </p:cTn>
                              </p:par>
                              <p:par>
                                <p:cTn id="51" presetID="10" presetClass="entr" presetSubtype="0" fill="hold" nodeType="withEffect">
                                  <p:stCondLst>
                                    <p:cond delay="1500"/>
                                  </p:stCondLst>
                                  <p:childTnLst>
                                    <p:set>
                                      <p:cBhvr>
                                        <p:cTn id="52" dur="1" fill="hold">
                                          <p:stCondLst>
                                            <p:cond delay="0"/>
                                          </p:stCondLst>
                                        </p:cTn>
                                        <p:tgtEl>
                                          <p:spTgt spid="7"/>
                                        </p:tgtEl>
                                        <p:attrNameLst>
                                          <p:attrName>style.visibility</p:attrName>
                                        </p:attrNameLst>
                                      </p:cBhvr>
                                      <p:to>
                                        <p:strVal val="visible"/>
                                      </p:to>
                                    </p:set>
                                    <p:animEffect transition="in" filter="fade">
                                      <p:cBhvr>
                                        <p:cTn id="53" dur="500"/>
                                        <p:tgtEl>
                                          <p:spTgt spid="7"/>
                                        </p:tgtEl>
                                      </p:cBhvr>
                                    </p:animEffect>
                                  </p:childTnLst>
                                </p:cTn>
                              </p:par>
                              <p:par>
                                <p:cTn id="54" presetID="2" presetClass="entr" presetSubtype="4" fill="hold" nodeType="withEffect">
                                  <p:stCondLst>
                                    <p:cond delay="1700"/>
                                  </p:stCondLst>
                                  <p:childTnLst>
                                    <p:set>
                                      <p:cBhvr>
                                        <p:cTn id="55" dur="1" fill="hold">
                                          <p:stCondLst>
                                            <p:cond delay="0"/>
                                          </p:stCondLst>
                                        </p:cTn>
                                        <p:tgtEl>
                                          <p:spTgt spid="16"/>
                                        </p:tgtEl>
                                        <p:attrNameLst>
                                          <p:attrName>style.visibility</p:attrName>
                                        </p:attrNameLst>
                                      </p:cBhvr>
                                      <p:to>
                                        <p:strVal val="visible"/>
                                      </p:to>
                                    </p:set>
                                    <p:anim calcmode="lin" valueType="num">
                                      <p:cBhvr additive="base">
                                        <p:cTn id="56" dur="500" fill="hold"/>
                                        <p:tgtEl>
                                          <p:spTgt spid="16"/>
                                        </p:tgtEl>
                                        <p:attrNameLst>
                                          <p:attrName>ppt_x</p:attrName>
                                        </p:attrNameLst>
                                      </p:cBhvr>
                                      <p:tavLst>
                                        <p:tav tm="0">
                                          <p:val>
                                            <p:strVal val="#ppt_x"/>
                                          </p:val>
                                        </p:tav>
                                        <p:tav tm="100000">
                                          <p:val>
                                            <p:strVal val="#ppt_x"/>
                                          </p:val>
                                        </p:tav>
                                      </p:tavLst>
                                    </p:anim>
                                    <p:anim calcmode="lin" valueType="num">
                                      <p:cBhvr additive="base">
                                        <p:cTn id="57" dur="500" fill="hold"/>
                                        <p:tgtEl>
                                          <p:spTgt spid="16"/>
                                        </p:tgtEl>
                                        <p:attrNameLst>
                                          <p:attrName>ppt_y</p:attrName>
                                        </p:attrNameLst>
                                      </p:cBhvr>
                                      <p:tavLst>
                                        <p:tav tm="0">
                                          <p:val>
                                            <p:strVal val="1+#ppt_h/2"/>
                                          </p:val>
                                        </p:tav>
                                        <p:tav tm="100000">
                                          <p:val>
                                            <p:strVal val="#ppt_y"/>
                                          </p:val>
                                        </p:tav>
                                      </p:tavLst>
                                    </p:anim>
                                  </p:childTnLst>
                                </p:cTn>
                              </p:par>
                              <p:par>
                                <p:cTn id="58" presetID="10" presetClass="entr" presetSubtype="0" fill="hold" nodeType="withEffect">
                                  <p:stCondLst>
                                    <p:cond delay="1800"/>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400"/>
                                        <p:tgtEl>
                                          <p:spTgt spid="17"/>
                                        </p:tgtEl>
                                      </p:cBhvr>
                                    </p:animEffect>
                                  </p:childTnLst>
                                </p:cTn>
                              </p:par>
                              <p:par>
                                <p:cTn id="61" presetID="10" presetClass="entr" presetSubtype="0" fill="hold" nodeType="withEffect">
                                  <p:stCondLst>
                                    <p:cond delay="1850"/>
                                  </p:stCondLst>
                                  <p:childTnLst>
                                    <p:set>
                                      <p:cBhvr>
                                        <p:cTn id="62" dur="1" fill="hold">
                                          <p:stCondLst>
                                            <p:cond delay="0"/>
                                          </p:stCondLst>
                                        </p:cTn>
                                        <p:tgtEl>
                                          <p:spTgt spid="18"/>
                                        </p:tgtEl>
                                        <p:attrNameLst>
                                          <p:attrName>style.visibility</p:attrName>
                                        </p:attrNameLst>
                                      </p:cBhvr>
                                      <p:to>
                                        <p:strVal val="visible"/>
                                      </p:to>
                                    </p:set>
                                    <p:animEffect transition="in" filter="fade">
                                      <p:cBhvr>
                                        <p:cTn id="63" dur="400"/>
                                        <p:tgtEl>
                                          <p:spTgt spid="18"/>
                                        </p:tgtEl>
                                      </p:cBhvr>
                                    </p:animEffect>
                                  </p:childTnLst>
                                </p:cTn>
                              </p:par>
                              <p:par>
                                <p:cTn id="64" presetID="10" presetClass="entr" presetSubtype="0" fill="hold" nodeType="withEffect">
                                  <p:stCondLst>
                                    <p:cond delay="2400"/>
                                  </p:stCondLst>
                                  <p:childTnLst>
                                    <p:set>
                                      <p:cBhvr>
                                        <p:cTn id="65" dur="1" fill="hold">
                                          <p:stCondLst>
                                            <p:cond delay="0"/>
                                          </p:stCondLst>
                                        </p:cTn>
                                        <p:tgtEl>
                                          <p:spTgt spid="19"/>
                                        </p:tgtEl>
                                        <p:attrNameLst>
                                          <p:attrName>style.visibility</p:attrName>
                                        </p:attrNameLst>
                                      </p:cBhvr>
                                      <p:to>
                                        <p:strVal val="visible"/>
                                      </p:to>
                                    </p:set>
                                    <p:animEffect transition="in" filter="fade">
                                      <p:cBhvr>
                                        <p:cTn id="6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References</a:t>
            </a:r>
            <a:endParaRPr lang="en-US" sz="3200" dirty="0"/>
          </a:p>
        </p:txBody>
      </p:sp>
      <p:sp>
        <p:nvSpPr>
          <p:cNvPr id="4" name="text_18_1"/>
          <p:cNvSpPr txBox="1"/>
          <p:nvPr/>
        </p:nvSpPr>
        <p:spPr>
          <a:xfrm>
            <a:off x="548640" y="1325880"/>
            <a:ext cx="640080" cy="548640"/>
          </a:xfrm>
          <a:prstGeom prst="rect">
            <a:avLst/>
          </a:prstGeom>
          <a:noFill/>
          <a:ln/>
        </p:spPr>
        <p:txBody>
          <a:bodyPr wrap="square" lIns="0" tIns="0" rIns="0" bIns="0" rtlCol="0" anchor="t"/>
          <a:lstStyle/>
          <a:p>
            <a:pPr indent="0" marL="0">
              <a:buNone/>
            </a:pPr>
            <a:r>
              <a:rPr lang="en-US" sz="1400" b="1" dirty="0">
                <a:solidFill>
                  <a:schemeClr val="accent1"/>
                </a:solidFill>
              </a:rPr>
              <a:t>[1]</a:t>
            </a:r>
            <a:endParaRPr lang="en-US" sz="1400" dirty="0"/>
          </a:p>
        </p:txBody>
      </p:sp>
      <p:sp>
        <p:nvSpPr>
          <p:cNvPr id="5" name="text_18_2"/>
          <p:cNvSpPr txBox="1"/>
          <p:nvPr/>
        </p:nvSpPr>
        <p:spPr>
          <a:xfrm>
            <a:off x="1188720" y="1325880"/>
            <a:ext cx="10424160" cy="548640"/>
          </a:xfrm>
          <a:prstGeom prst="rect">
            <a:avLst/>
          </a:prstGeom>
          <a:noFill/>
          <a:ln/>
        </p:spPr>
        <p:txBody>
          <a:bodyPr wrap="square" lIns="0" tIns="0" rIns="0" bIns="0" rtlCol="0" anchor="t"/>
          <a:lstStyle/>
          <a:p>
            <a:pPr indent="0" marL="0">
              <a:buNone/>
            </a:pPr>
            <a:r>
              <a:rPr lang="en-US" sz="1400" dirty="0">
                <a:solidFill>
                  <a:schemeClr val="tx1"/>
                </a:solidFill>
              </a:rPr>
              <a:t>Universal Robots, “Understanding Protective Stops.” universal-robots.com/articles/ur/robot-care-maintenance/understanding-protective-stops/</a:t>
            </a:r>
            <a:endParaRPr lang="en-US" sz="1400" dirty="0"/>
          </a:p>
        </p:txBody>
      </p:sp>
      <p:sp>
        <p:nvSpPr>
          <p:cNvPr id="6" name="text_18_3"/>
          <p:cNvSpPr txBox="1"/>
          <p:nvPr/>
        </p:nvSpPr>
        <p:spPr>
          <a:xfrm>
            <a:off x="548640" y="1938528"/>
            <a:ext cx="640080" cy="548640"/>
          </a:xfrm>
          <a:prstGeom prst="rect">
            <a:avLst/>
          </a:prstGeom>
          <a:noFill/>
          <a:ln/>
        </p:spPr>
        <p:txBody>
          <a:bodyPr wrap="square" lIns="0" tIns="0" rIns="0" bIns="0" rtlCol="0" anchor="t"/>
          <a:lstStyle/>
          <a:p>
            <a:pPr indent="0" marL="0">
              <a:buNone/>
            </a:pPr>
            <a:r>
              <a:rPr lang="en-US" sz="1400" b="1" dirty="0">
                <a:solidFill>
                  <a:schemeClr val="accent1"/>
                </a:solidFill>
              </a:rPr>
              <a:t>[2]</a:t>
            </a:r>
            <a:endParaRPr lang="en-US" sz="1400" dirty="0"/>
          </a:p>
        </p:txBody>
      </p:sp>
      <p:sp>
        <p:nvSpPr>
          <p:cNvPr id="7" name="text_18_4"/>
          <p:cNvSpPr txBox="1"/>
          <p:nvPr/>
        </p:nvSpPr>
        <p:spPr>
          <a:xfrm>
            <a:off x="1188720" y="1938528"/>
            <a:ext cx="10424160" cy="548640"/>
          </a:xfrm>
          <a:prstGeom prst="rect">
            <a:avLst/>
          </a:prstGeom>
          <a:noFill/>
          <a:ln/>
        </p:spPr>
        <p:txBody>
          <a:bodyPr wrap="square" lIns="0" tIns="0" rIns="0" bIns="0" rtlCol="0" anchor="t"/>
          <a:lstStyle/>
          <a:p>
            <a:pPr indent="0" marL="0">
              <a:buNone/>
            </a:pPr>
            <a:r>
              <a:rPr lang="en-US" sz="1400" dirty="0">
                <a:solidFill>
                  <a:schemeClr val="tx1"/>
                </a:solidFill>
              </a:rPr>
              <a:t>Universal Robots, “C162 Error Code.” universal-robots.com/manuals/EN/HTML/SW5_19/Content/prod-err-codes/topics/CODE_162.html</a:t>
            </a:r>
            <a:endParaRPr lang="en-US" sz="1400" dirty="0"/>
          </a:p>
        </p:txBody>
      </p:sp>
      <p:sp>
        <p:nvSpPr>
          <p:cNvPr id="8" name="text_18_5"/>
          <p:cNvSpPr txBox="1"/>
          <p:nvPr/>
        </p:nvSpPr>
        <p:spPr>
          <a:xfrm>
            <a:off x="548640" y="2551176"/>
            <a:ext cx="640080" cy="548640"/>
          </a:xfrm>
          <a:prstGeom prst="rect">
            <a:avLst/>
          </a:prstGeom>
          <a:noFill/>
          <a:ln/>
        </p:spPr>
        <p:txBody>
          <a:bodyPr wrap="square" lIns="0" tIns="0" rIns="0" bIns="0" rtlCol="0" anchor="t"/>
          <a:lstStyle/>
          <a:p>
            <a:pPr indent="0" marL="0">
              <a:buNone/>
            </a:pPr>
            <a:r>
              <a:rPr lang="en-US" sz="1400" b="1" dirty="0">
                <a:solidFill>
                  <a:schemeClr val="accent1"/>
                </a:solidFill>
              </a:rPr>
              <a:t>[3]</a:t>
            </a:r>
            <a:endParaRPr lang="en-US" sz="1400" dirty="0"/>
          </a:p>
        </p:txBody>
      </p:sp>
      <p:sp>
        <p:nvSpPr>
          <p:cNvPr id="9" name="text_18_6"/>
          <p:cNvSpPr txBox="1"/>
          <p:nvPr/>
        </p:nvSpPr>
        <p:spPr>
          <a:xfrm>
            <a:off x="1188720" y="2551176"/>
            <a:ext cx="10424160" cy="548640"/>
          </a:xfrm>
          <a:prstGeom prst="rect">
            <a:avLst/>
          </a:prstGeom>
          <a:noFill/>
          <a:ln/>
        </p:spPr>
        <p:txBody>
          <a:bodyPr wrap="square" lIns="0" tIns="0" rIns="0" bIns="0" rtlCol="0" anchor="t"/>
          <a:lstStyle/>
          <a:p>
            <a:pPr indent="0" marL="0">
              <a:buNone/>
            </a:pPr>
            <a:r>
              <a:rPr lang="en-US" sz="1400" dirty="0">
                <a:solidFill>
                  <a:schemeClr val="tx1"/>
                </a:solidFill>
              </a:rPr>
              <a:t>Universal Robots, “e-Series Service Handbook — Protective Stop.” universal-robots.com/manuals/EN/PDF/SW5_24/service-manual_e-series/</a:t>
            </a:r>
            <a:endParaRPr lang="en-US" sz="1400" dirty="0"/>
          </a:p>
        </p:txBody>
      </p:sp>
      <p:sp>
        <p:nvSpPr>
          <p:cNvPr id="10" name="text_18_7"/>
          <p:cNvSpPr txBox="1"/>
          <p:nvPr/>
        </p:nvSpPr>
        <p:spPr>
          <a:xfrm>
            <a:off x="548640" y="3163824"/>
            <a:ext cx="640080" cy="548640"/>
          </a:xfrm>
          <a:prstGeom prst="rect">
            <a:avLst/>
          </a:prstGeom>
          <a:noFill/>
          <a:ln/>
        </p:spPr>
        <p:txBody>
          <a:bodyPr wrap="square" lIns="0" tIns="0" rIns="0" bIns="0" rtlCol="0" anchor="t"/>
          <a:lstStyle/>
          <a:p>
            <a:pPr indent="0" marL="0">
              <a:buNone/>
            </a:pPr>
            <a:r>
              <a:rPr lang="en-US" sz="1400" b="1" dirty="0">
                <a:solidFill>
                  <a:schemeClr val="accent1"/>
                </a:solidFill>
              </a:rPr>
              <a:t>[4]</a:t>
            </a:r>
            <a:endParaRPr lang="en-US" sz="1400" dirty="0"/>
          </a:p>
        </p:txBody>
      </p:sp>
      <p:sp>
        <p:nvSpPr>
          <p:cNvPr id="11" name="text_18_8"/>
          <p:cNvSpPr txBox="1"/>
          <p:nvPr/>
        </p:nvSpPr>
        <p:spPr>
          <a:xfrm>
            <a:off x="1188720" y="3163824"/>
            <a:ext cx="10424160" cy="548640"/>
          </a:xfrm>
          <a:prstGeom prst="rect">
            <a:avLst/>
          </a:prstGeom>
          <a:noFill/>
          <a:ln/>
        </p:spPr>
        <p:txBody>
          <a:bodyPr wrap="square" lIns="0" tIns="0" rIns="0" bIns="0" rtlCol="0" anchor="t"/>
          <a:lstStyle/>
          <a:p>
            <a:pPr indent="0" marL="0">
              <a:buNone/>
            </a:pPr>
            <a:r>
              <a:rPr lang="en-US" sz="1400" dirty="0">
                <a:solidFill>
                  <a:schemeClr val="tx1"/>
                </a:solidFill>
              </a:rPr>
              <a:t>NED University of Engineering and Technology, Knowledge-Based Systems (CT-359) CCP brief and report template, 2026.</a:t>
            </a:r>
            <a:endParaRPr lang="en-US" sz="1400" dirty="0"/>
          </a:p>
        </p:txBody>
      </p:sp>
      <p:sp>
        <p:nvSpPr>
          <p:cNvPr id="12" name="text_18_9"/>
          <p:cNvSpPr txBox="1"/>
          <p:nvPr/>
        </p:nvSpPr>
        <p:spPr>
          <a:xfrm>
            <a:off x="548640" y="3776472"/>
            <a:ext cx="640080" cy="548640"/>
          </a:xfrm>
          <a:prstGeom prst="rect">
            <a:avLst/>
          </a:prstGeom>
          <a:noFill/>
          <a:ln/>
        </p:spPr>
        <p:txBody>
          <a:bodyPr wrap="square" lIns="0" tIns="0" rIns="0" bIns="0" rtlCol="0" anchor="t"/>
          <a:lstStyle/>
          <a:p>
            <a:pPr indent="0" marL="0">
              <a:buNone/>
            </a:pPr>
            <a:r>
              <a:rPr lang="en-US" sz="1400" b="1" dirty="0">
                <a:solidFill>
                  <a:schemeClr val="accent1"/>
                </a:solidFill>
              </a:rPr>
              <a:t>[5]</a:t>
            </a:r>
            <a:endParaRPr lang="en-US" sz="1400" dirty="0"/>
          </a:p>
        </p:txBody>
      </p:sp>
      <p:sp>
        <p:nvSpPr>
          <p:cNvPr id="13" name="text_18_10"/>
          <p:cNvSpPr txBox="1"/>
          <p:nvPr/>
        </p:nvSpPr>
        <p:spPr>
          <a:xfrm>
            <a:off x="1188720" y="3776472"/>
            <a:ext cx="10424160" cy="548640"/>
          </a:xfrm>
          <a:prstGeom prst="rect">
            <a:avLst/>
          </a:prstGeom>
          <a:noFill/>
          <a:ln/>
        </p:spPr>
        <p:txBody>
          <a:bodyPr wrap="square" lIns="0" tIns="0" rIns="0" bIns="0" rtlCol="0" anchor="t"/>
          <a:lstStyle/>
          <a:p>
            <a:pPr indent="0" marL="0">
              <a:buNone/>
            </a:pPr>
            <a:r>
              <a:rPr lang="en-US" sz="1400" dirty="0">
                <a:solidFill>
                  <a:schemeClr val="tx1"/>
                </a:solidFill>
              </a:rPr>
              <a:t>ARM / INSIGHT project package: knowledge base, sample cases, inference engine and tests, 2026. github.com/MTahaFarrukh/arm-insight-kbs</a:t>
            </a:r>
            <a:endParaRPr lang="en-US" sz="1400" dirty="0"/>
          </a:p>
        </p:txBody>
      </p:sp>
      <p:sp>
        <p:nvSpPr>
          <p:cNvPr id="14" name="text_18_11"/>
          <p:cNvSpPr txBox="1"/>
          <p:nvPr/>
        </p:nvSpPr>
        <p:spPr>
          <a:xfrm>
            <a:off x="548640" y="4389120"/>
            <a:ext cx="640080" cy="548640"/>
          </a:xfrm>
          <a:prstGeom prst="rect">
            <a:avLst/>
          </a:prstGeom>
          <a:noFill/>
          <a:ln/>
        </p:spPr>
        <p:txBody>
          <a:bodyPr wrap="square" lIns="0" tIns="0" rIns="0" bIns="0" rtlCol="0" anchor="t"/>
          <a:lstStyle/>
          <a:p>
            <a:pPr indent="0" marL="0">
              <a:buNone/>
            </a:pPr>
            <a:r>
              <a:rPr lang="en-US" sz="1400" b="1" dirty="0">
                <a:solidFill>
                  <a:schemeClr val="accent1"/>
                </a:solidFill>
              </a:rPr>
              <a:t>[6]</a:t>
            </a:r>
            <a:endParaRPr lang="en-US" sz="1400" dirty="0"/>
          </a:p>
        </p:txBody>
      </p:sp>
      <p:sp>
        <p:nvSpPr>
          <p:cNvPr id="15" name="text_18_12"/>
          <p:cNvSpPr txBox="1"/>
          <p:nvPr/>
        </p:nvSpPr>
        <p:spPr>
          <a:xfrm>
            <a:off x="1188720" y="4389120"/>
            <a:ext cx="10424160" cy="548640"/>
          </a:xfrm>
          <a:prstGeom prst="rect">
            <a:avLst/>
          </a:prstGeom>
          <a:noFill/>
          <a:ln/>
        </p:spPr>
        <p:txBody>
          <a:bodyPr wrap="square" lIns="0" tIns="0" rIns="0" bIns="0" rtlCol="0" anchor="t"/>
          <a:lstStyle/>
          <a:p>
            <a:pPr indent="0" marL="0">
              <a:buNone/>
            </a:pPr>
            <a:r>
              <a:rPr lang="en-US" sz="1400" dirty="0">
                <a:solidFill>
                  <a:schemeClr val="tx1"/>
                </a:solidFill>
              </a:rPr>
              <a:t>Supabase documentation — client libraries and Row Level Security (educational use), 2026.</a:t>
            </a:r>
            <a:endParaRPr lang="en-US" sz="1400" dirty="0"/>
          </a:p>
        </p:txBody>
      </p:sp>
      <p:sp>
        <p:nvSpPr>
          <p:cNvPr id="16" name="text_18_13"/>
          <p:cNvSpPr txBox="1"/>
          <p:nvPr/>
        </p:nvSpPr>
        <p:spPr>
          <a:xfrm>
            <a:off x="548640" y="5001768"/>
            <a:ext cx="640080" cy="548640"/>
          </a:xfrm>
          <a:prstGeom prst="rect">
            <a:avLst/>
          </a:prstGeom>
          <a:noFill/>
          <a:ln/>
        </p:spPr>
        <p:txBody>
          <a:bodyPr wrap="square" lIns="0" tIns="0" rIns="0" bIns="0" rtlCol="0" anchor="t"/>
          <a:lstStyle/>
          <a:p>
            <a:pPr indent="0" marL="0">
              <a:buNone/>
            </a:pPr>
            <a:r>
              <a:rPr lang="en-US" sz="1400" b="1" dirty="0">
                <a:solidFill>
                  <a:schemeClr val="accent1"/>
                </a:solidFill>
              </a:rPr>
              <a:t>[7]</a:t>
            </a:r>
            <a:endParaRPr lang="en-US" sz="1400" dirty="0"/>
          </a:p>
        </p:txBody>
      </p:sp>
      <p:sp>
        <p:nvSpPr>
          <p:cNvPr id="17" name="text_18_14"/>
          <p:cNvSpPr txBox="1"/>
          <p:nvPr/>
        </p:nvSpPr>
        <p:spPr>
          <a:xfrm>
            <a:off x="1188720" y="5001768"/>
            <a:ext cx="10424160" cy="548640"/>
          </a:xfrm>
          <a:prstGeom prst="rect">
            <a:avLst/>
          </a:prstGeom>
          <a:noFill/>
          <a:ln/>
        </p:spPr>
        <p:txBody>
          <a:bodyPr wrap="square" lIns="0" tIns="0" rIns="0" bIns="0" rtlCol="0" anchor="t"/>
          <a:lstStyle/>
          <a:p>
            <a:pPr indent="0" marL="0">
              <a:buNone/>
            </a:pPr>
            <a:r>
              <a:rPr lang="en-US" sz="1400" dirty="0">
                <a:solidFill>
                  <a:schemeClr val="tx1"/>
                </a:solidFill>
              </a:rPr>
              <a:t>Vercel documentation — static site deployment, 2026.</a:t>
            </a:r>
            <a:endParaRPr lang="en-US" sz="1400" dirty="0"/>
          </a:p>
        </p:txBody>
      </p:sp>
      <p:sp>
        <p:nvSpPr>
          <p:cNvPr id="18" name="text_18_15"/>
          <p:cNvSpPr txBox="1"/>
          <p:nvPr/>
        </p:nvSpPr>
        <p:spPr>
          <a:xfrm>
            <a:off x="548640" y="5614416"/>
            <a:ext cx="640080" cy="548640"/>
          </a:xfrm>
          <a:prstGeom prst="rect">
            <a:avLst/>
          </a:prstGeom>
          <a:noFill/>
          <a:ln/>
        </p:spPr>
        <p:txBody>
          <a:bodyPr wrap="square" lIns="0" tIns="0" rIns="0" bIns="0" rtlCol="0" anchor="t"/>
          <a:lstStyle/>
          <a:p>
            <a:pPr indent="0" marL="0">
              <a:buNone/>
            </a:pPr>
            <a:r>
              <a:rPr lang="en-US" sz="1400" b="1" dirty="0">
                <a:solidFill>
                  <a:schemeClr val="accent1"/>
                </a:solidFill>
              </a:rPr>
              <a:t>[8]</a:t>
            </a:r>
            <a:endParaRPr lang="en-US" sz="1400" dirty="0"/>
          </a:p>
        </p:txBody>
      </p:sp>
      <p:sp>
        <p:nvSpPr>
          <p:cNvPr id="19" name="text_18_16"/>
          <p:cNvSpPr txBox="1"/>
          <p:nvPr/>
        </p:nvSpPr>
        <p:spPr>
          <a:xfrm>
            <a:off x="1188720" y="5614416"/>
            <a:ext cx="10424160" cy="548640"/>
          </a:xfrm>
          <a:prstGeom prst="rect">
            <a:avLst/>
          </a:prstGeom>
          <a:noFill/>
          <a:ln/>
        </p:spPr>
        <p:txBody>
          <a:bodyPr wrap="square" lIns="0" tIns="0" rIns="0" bIns="0" rtlCol="0" anchor="t"/>
          <a:lstStyle/>
          <a:p>
            <a:pPr indent="0" marL="0">
              <a:buNone/>
            </a:pPr>
            <a:r>
              <a:rPr lang="en-US" sz="1400" dirty="0">
                <a:solidFill>
                  <a:schemeClr val="tx1"/>
                </a:solidFill>
              </a:rPr>
              <a:t>L. Lopes and L. Camarinha-Matos, “Robot Execution Failures” [Dataset], UCI Machine Learning Repository. doi.org/10.24432/C5M89N (CC BY 4.0).</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50"/>
                                        <p:tgtEl>
                                          <p:spTgt spid="4"/>
                                        </p:tgtEl>
                                      </p:cBhvr>
                                    </p:animEffect>
                                  </p:childTnLst>
                                </p:cTn>
                              </p:par>
                              <p:par>
                                <p:cTn id="8" presetID="10" presetClass="entr" presetSubtype="0" fill="hold"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50"/>
                                        <p:tgtEl>
                                          <p:spTgt spid="5"/>
                                        </p:tgtEl>
                                      </p:cBhvr>
                                    </p:animEffect>
                                  </p:childTnLst>
                                </p:cTn>
                              </p:par>
                              <p:par>
                                <p:cTn id="11" presetID="10" presetClass="entr" presetSubtype="0" fill="hold" nodeType="withEffect">
                                  <p:stCondLst>
                                    <p:cond delay="35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50"/>
                                        <p:tgtEl>
                                          <p:spTgt spid="6"/>
                                        </p:tgtEl>
                                      </p:cBhvr>
                                    </p:animEffect>
                                  </p:childTnLst>
                                </p:cTn>
                              </p:par>
                              <p:par>
                                <p:cTn id="14" presetID="10" presetClass="entr" presetSubtype="0" fill="hold" nodeType="withEffect">
                                  <p:stCondLst>
                                    <p:cond delay="40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50"/>
                                        <p:tgtEl>
                                          <p:spTgt spid="7"/>
                                        </p:tgtEl>
                                      </p:cBhvr>
                                    </p:animEffect>
                                  </p:childTnLst>
                                </p:cTn>
                              </p:par>
                              <p:par>
                                <p:cTn id="17" presetID="10" presetClass="entr" presetSubtype="0" fill="hold" nodeType="withEffect">
                                  <p:stCondLst>
                                    <p:cond delay="50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350"/>
                                        <p:tgtEl>
                                          <p:spTgt spid="8"/>
                                        </p:tgtEl>
                                      </p:cBhvr>
                                    </p:animEffect>
                                  </p:childTnLst>
                                </p:cTn>
                              </p:par>
                              <p:par>
                                <p:cTn id="20" presetID="10" presetClass="entr" presetSubtype="0" fill="hold" nodeType="withEffect">
                                  <p:stCondLst>
                                    <p:cond delay="55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350"/>
                                        <p:tgtEl>
                                          <p:spTgt spid="9"/>
                                        </p:tgtEl>
                                      </p:cBhvr>
                                    </p:animEffect>
                                  </p:childTnLst>
                                </p:cTn>
                              </p:par>
                              <p:par>
                                <p:cTn id="23" presetID="10" presetClass="entr" presetSubtype="0" fill="hold" nodeType="withEffect">
                                  <p:stCondLst>
                                    <p:cond delay="65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350"/>
                                        <p:tgtEl>
                                          <p:spTgt spid="10"/>
                                        </p:tgtEl>
                                      </p:cBhvr>
                                    </p:animEffect>
                                  </p:childTnLst>
                                </p:cTn>
                              </p:par>
                              <p:par>
                                <p:cTn id="26" presetID="10" presetClass="entr" presetSubtype="0" fill="hold" nodeType="withEffect">
                                  <p:stCondLst>
                                    <p:cond delay="70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350"/>
                                        <p:tgtEl>
                                          <p:spTgt spid="11"/>
                                        </p:tgtEl>
                                      </p:cBhvr>
                                    </p:animEffect>
                                  </p:childTnLst>
                                </p:cTn>
                              </p:par>
                              <p:par>
                                <p:cTn id="29" presetID="10" presetClass="entr" presetSubtype="0" fill="hold" nodeType="withEffect">
                                  <p:stCondLst>
                                    <p:cond delay="80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350"/>
                                        <p:tgtEl>
                                          <p:spTgt spid="12"/>
                                        </p:tgtEl>
                                      </p:cBhvr>
                                    </p:animEffect>
                                  </p:childTnLst>
                                </p:cTn>
                              </p:par>
                              <p:par>
                                <p:cTn id="32" presetID="10" presetClass="entr" presetSubtype="0" fill="hold" nodeType="withEffect">
                                  <p:stCondLst>
                                    <p:cond delay="85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350"/>
                                        <p:tgtEl>
                                          <p:spTgt spid="13"/>
                                        </p:tgtEl>
                                      </p:cBhvr>
                                    </p:animEffect>
                                  </p:childTnLst>
                                </p:cTn>
                              </p:par>
                              <p:par>
                                <p:cTn id="35" presetID="10" presetClass="entr" presetSubtype="0" fill="hold" nodeType="withEffect">
                                  <p:stCondLst>
                                    <p:cond delay="95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350"/>
                                        <p:tgtEl>
                                          <p:spTgt spid="14"/>
                                        </p:tgtEl>
                                      </p:cBhvr>
                                    </p:animEffect>
                                  </p:childTnLst>
                                </p:cTn>
                              </p:par>
                              <p:par>
                                <p:cTn id="38" presetID="10" presetClass="entr" presetSubtype="0" fill="hold" nodeType="withEffect">
                                  <p:stCondLst>
                                    <p:cond delay="100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350"/>
                                        <p:tgtEl>
                                          <p:spTgt spid="15"/>
                                        </p:tgtEl>
                                      </p:cBhvr>
                                    </p:animEffect>
                                  </p:childTnLst>
                                </p:cTn>
                              </p:par>
                              <p:par>
                                <p:cTn id="41" presetID="10" presetClass="entr" presetSubtype="0" fill="hold" nodeType="withEffect">
                                  <p:stCondLst>
                                    <p:cond delay="110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350"/>
                                        <p:tgtEl>
                                          <p:spTgt spid="16"/>
                                        </p:tgtEl>
                                      </p:cBhvr>
                                    </p:animEffect>
                                  </p:childTnLst>
                                </p:cTn>
                              </p:par>
                              <p:par>
                                <p:cTn id="44" presetID="10" presetClass="entr" presetSubtype="0" fill="hold" nodeType="withEffect">
                                  <p:stCondLst>
                                    <p:cond delay="115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350"/>
                                        <p:tgtEl>
                                          <p:spTgt spid="17"/>
                                        </p:tgtEl>
                                      </p:cBhvr>
                                    </p:animEffect>
                                  </p:childTnLst>
                                </p:cTn>
                              </p:par>
                              <p:par>
                                <p:cTn id="47" presetID="10" presetClass="entr" presetSubtype="0" fill="hold" nodeType="withEffect">
                                  <p:stCondLst>
                                    <p:cond delay="125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350"/>
                                        <p:tgtEl>
                                          <p:spTgt spid="18"/>
                                        </p:tgtEl>
                                      </p:cBhvr>
                                    </p:animEffect>
                                  </p:childTnLst>
                                </p:cTn>
                              </p:par>
                              <p:par>
                                <p:cTn id="50" presetID="10" presetClass="entr" presetSubtype="0" fill="hold" nodeType="withEffect">
                                  <p:stCondLst>
                                    <p:cond delay="130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3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ARM Insight">
  <a:themeElements>
    <a:clrScheme name="ARM Insight">
      <a:dk1>
        <a:srgbClr val="0B1F33"/>
      </a:dk1>
      <a:lt1>
        <a:srgbClr val="FFFFFF"/>
      </a:lt1>
      <a:dk2>
        <a:srgbClr val="14324F"/>
      </a:dk2>
      <a:lt2>
        <a:srgbClr val="EAF0F6"/>
      </a:lt2>
      <a:accent1>
        <a:srgbClr val="12A398"/>
      </a:accent1>
      <a:accent2>
        <a:srgbClr val="F2B84B"/>
      </a:accent2>
      <a:accent3>
        <a:srgbClr val="E5534B"/>
      </a:accent3>
      <a:accent4>
        <a:srgbClr val="2EA66A"/>
      </a:accent4>
      <a:accent5>
        <a:srgbClr val="3B82C4"/>
      </a:accent5>
      <a:accent6>
        <a:srgbClr val="8B7BD8"/>
      </a:accent6>
      <a:hlink>
        <a:srgbClr val="12A398"/>
      </a:hlink>
      <a:folHlink>
        <a:srgbClr val="8B7BD8"/>
      </a:folHlink>
    </a:clrScheme>
    <a:fontScheme name="ARM Ins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NED University of Engineering and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ARM / INSIGHT — Robotic Arm Fault Diagnosis (KBS CT-359 CCP)</dc:title>
  <dc:subject>PptxGenJS Presentation</dc:subject>
  <dc:creator>Saad Ali, Muhammad Taha Farrukh, Uzair Ahmed, UsaidUllah Qureshi</dc:creator>
  <cp:lastModifiedBy>Saad Ali, Muhammad Taha Farrukh, Uzair Ahmed, UsaidUllah Qureshi</cp:lastModifiedBy>
  <cp:revision>1</cp:revision>
  <dcterms:created xsi:type="dcterms:W3CDTF">2026-10-30T10:30:49Z</dcterms:created>
  <dcterms:modified xsi:type="dcterms:W3CDTF">2026-10-30T10:30:49Z</dcterms:modified>
</cp:coreProperties>
</file>